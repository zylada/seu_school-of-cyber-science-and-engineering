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865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924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0" y="1341439"/>
            <a:ext cx="4986867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80717" y="1341439"/>
            <a:ext cx="4986867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802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644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8588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60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7926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9783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3072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39251" y="115889"/>
            <a:ext cx="2616200" cy="61229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115889"/>
            <a:ext cx="7645400" cy="61229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0925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6367" y="115888"/>
            <a:ext cx="9599084" cy="609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0" y="1341439"/>
            <a:ext cx="4986867" cy="4897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580717" y="1341439"/>
            <a:ext cx="4986867" cy="23717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580717" y="3865563"/>
            <a:ext cx="4986867" cy="2373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56389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6367" y="115888"/>
            <a:ext cx="9599084" cy="609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0" y="1341439"/>
            <a:ext cx="4986867" cy="4897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80717" y="1341439"/>
            <a:ext cx="4986867" cy="4897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80234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6367" y="115888"/>
            <a:ext cx="9599084" cy="609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1390651" y="1341439"/>
            <a:ext cx="10176933" cy="4897437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102809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标题 280577"/>
          <p:cNvSpPr>
            <a:spLocks noGrp="1" noRot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lvl="0">
              <a:defRPr kern="1200"/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280579" name="副标题 280578"/>
          <p:cNvSpPr>
            <a:spLocks noGrp="1" noRot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280579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srgbClr val="051B61"/>
              </a:solidFill>
              <a:ea typeface="黑体" panose="02010609060101010101" pitchFamily="49" charset="-122"/>
            </a:endParaRPr>
          </a:p>
        </p:txBody>
      </p:sp>
      <p:sp>
        <p:nvSpPr>
          <p:cNvPr id="5" name="页脚占位符 280580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srgbClr val="051B61"/>
              </a:solidFill>
              <a:ea typeface="黑体" panose="02010609060101010101" pitchFamily="49" charset="-122"/>
            </a:endParaRPr>
          </a:p>
        </p:txBody>
      </p:sp>
      <p:sp>
        <p:nvSpPr>
          <p:cNvPr id="6" name="灯片编号占位符 280581"/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381A66-1EDD-408B-8764-D13643035076}" type="slidenum">
              <a:rPr lang="zh-CN" altLang="en-US" sz="2800" smtClean="0">
                <a:solidFill>
                  <a:srgbClr val="051B61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2800">
              <a:solidFill>
                <a:srgbClr val="051B61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8626123"/>
      </p:ext>
    </p:extLst>
  </p:cSld>
  <p:clrMapOvr>
    <a:masterClrMapping/>
  </p:clrMapOvr>
  <p:transition spd="med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248401"/>
            <a:ext cx="12192000" cy="619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51B6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" y="692151"/>
            <a:ext cx="12204700" cy="288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51B6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0"/>
            <a:ext cx="12192000" cy="781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51B6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1029" name="Rectangle 6"/>
          <p:cNvSpPr>
            <a:spLocks noChangeArrowheads="1"/>
          </p:cNvSpPr>
          <p:nvPr>
            <p:ph type="title" idx="4294967295"/>
          </p:nvPr>
        </p:nvSpPr>
        <p:spPr bwMode="auto">
          <a:xfrm>
            <a:off x="609600" y="115888"/>
            <a:ext cx="1124585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30" name="Rectangle 9"/>
          <p:cNvSpPr>
            <a:spLocks noChangeArrowheads="1"/>
          </p:cNvSpPr>
          <p:nvPr>
            <p:ph type="body" idx="4294967295"/>
          </p:nvPr>
        </p:nvSpPr>
        <p:spPr bwMode="auto">
          <a:xfrm>
            <a:off x="609600" y="1066801"/>
            <a:ext cx="1127760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516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黑体" pitchFamily="2" charset="-122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黑体" pitchFamily="2" charset="-122"/>
          <a:ea typeface="黑体" pitchFamily="2" charset="-122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黑体" pitchFamily="2" charset="-122"/>
          <a:ea typeface="黑体" pitchFamily="2" charset="-122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黑体" pitchFamily="2" charset="-122"/>
          <a:ea typeface="黑体" pitchFamily="2" charset="-122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黑体" pitchFamily="2" charset="-122"/>
          <a:ea typeface="黑体" pitchFamily="2" charset="-122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p"/>
        <a:defRPr sz="2800">
          <a:solidFill>
            <a:schemeClr val="tx1"/>
          </a:solidFill>
          <a:latin typeface="黑体" pitchFamily="2" charset="-122"/>
          <a:ea typeface="黑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黑体" pitchFamily="2" charset="-122"/>
          <a:ea typeface="黑体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ü"/>
        <a:defRPr sz="2400">
          <a:solidFill>
            <a:schemeClr val="tx1"/>
          </a:solidFill>
          <a:latin typeface="黑体" pitchFamily="2" charset="-122"/>
          <a:ea typeface="黑体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黑体" pitchFamily="2" charset="-122"/>
          <a:ea typeface="黑体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黑体" pitchFamily="2" charset="-122"/>
          <a:ea typeface="黑体" pitchFamily="2" charset="-122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占位符 2"/>
          <p:cNvSpPr>
            <a:spLocks noChangeArrowheads="1"/>
          </p:cNvSpPr>
          <p:nvPr>
            <p:ph type="body" idx="1"/>
          </p:nvPr>
        </p:nvSpPr>
        <p:spPr>
          <a:xfrm>
            <a:off x="1981200" y="1066800"/>
            <a:ext cx="8458200" cy="3428972"/>
          </a:xfrm>
        </p:spPr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关于分组</a:t>
            </a:r>
          </a:p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第四周的综合实验汇报和网线制作都按照分组进行。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本周日之前完成分组，每组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</a:t>
            </a:r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人。</a:t>
            </a:r>
            <a:endParaRPr lang="en-US" altLang="zh-CN" sz="3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分组结果上传到群里的腾讯文档。</a:t>
            </a:r>
            <a:endParaRPr lang="en-US" altLang="zh-CN" sz="3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577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1957388" y="914467"/>
            <a:ext cx="8458200" cy="517207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综合实验：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个实验报告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+PPT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讲解（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学时）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分组进行，推选一人上台做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介绍，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10-15</a:t>
            </a: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分钟</a:t>
            </a:r>
          </a:p>
          <a:p>
            <a:pPr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评分标准：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功能是否正常（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30%</a:t>
            </a: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性能、安全等设计（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30%</a:t>
            </a: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用户界面友好程度（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文档齐全程度（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en-US" sz="16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不能有雷同，如果有，两组均记为</a:t>
            </a:r>
            <a:r>
              <a:rPr lang="en-US" altLang="zh-CN" sz="16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分。</a:t>
            </a:r>
            <a:endParaRPr lang="zh-CN" altLang="zh-CN" sz="16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实验内容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：设计校园网络拓扑，使用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packet tracer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要求涵盖教学区，宿舍区，图书馆，科研楼等单位，综合运用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NAT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OSPF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等多种协议，如有创新可加分（例如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IoT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等）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实验内容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架设流媒体服务器，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至少支持点播和直播，需自己开发客户端界面，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自选场景，比如体育、宠物、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游戏、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动漫等。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高级要求：服务器的高级配置，学生自己选择，教师不做要求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实验内容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架设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服务器，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例如邮件服务器，文件共享服务器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，需自己开发客户端界面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r>
              <a:rPr lang="zh-CN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高级要求：服务器的高级配置，学生自己选择，教师不做要求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"/>
              <a:tabLst>
                <a:tab pos="228600" algn="l"/>
              </a:tabLst>
            </a:pP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</a:tabLst>
            </a:pP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4294967295"/>
          </p:nvPr>
        </p:nvSpPr>
        <p:spPr bwMode="auto">
          <a:xfrm>
            <a:off x="152400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051B61"/>
                </a:solidFill>
                <a:cs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2426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36tgp_com_diagram">
  <a:themeElements>
    <a:clrScheme name="136tgp_com_diagram 7">
      <a:dk1>
        <a:srgbClr val="051B61"/>
      </a:dk1>
      <a:lt1>
        <a:srgbClr val="FFFFFF"/>
      </a:lt1>
      <a:dk2>
        <a:srgbClr val="1861A4"/>
      </a:dk2>
      <a:lt2>
        <a:srgbClr val="DDDDDD"/>
      </a:lt2>
      <a:accent1>
        <a:srgbClr val="4B99D3"/>
      </a:accent1>
      <a:accent2>
        <a:srgbClr val="93C4F1"/>
      </a:accent2>
      <a:accent3>
        <a:srgbClr val="FFFFFF"/>
      </a:accent3>
      <a:accent4>
        <a:srgbClr val="031552"/>
      </a:accent4>
      <a:accent5>
        <a:srgbClr val="B1CAE6"/>
      </a:accent5>
      <a:accent6>
        <a:srgbClr val="85B1DA"/>
      </a:accent6>
      <a:hlink>
        <a:srgbClr val="000099"/>
      </a:hlink>
      <a:folHlink>
        <a:srgbClr val="000099"/>
      </a:folHlink>
    </a:clrScheme>
    <a:fontScheme name="136tgp_com_diagram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49" charset="-122"/>
          </a:defRPr>
        </a:defPPr>
      </a:lstStyle>
    </a:lnDef>
  </a:objectDefaults>
  <a:extraClrSchemeLst>
    <a:extraClrScheme>
      <a:clrScheme name="136tgp_com_diagram 1">
        <a:dk1>
          <a:srgbClr val="051B61"/>
        </a:dk1>
        <a:lt1>
          <a:srgbClr val="FFFFFF"/>
        </a:lt1>
        <a:dk2>
          <a:srgbClr val="1861A4"/>
        </a:dk2>
        <a:lt2>
          <a:srgbClr val="DDDDDD"/>
        </a:lt2>
        <a:accent1>
          <a:srgbClr val="4B99D3"/>
        </a:accent1>
        <a:accent2>
          <a:srgbClr val="93C4F1"/>
        </a:accent2>
        <a:accent3>
          <a:srgbClr val="FFFFFF"/>
        </a:accent3>
        <a:accent4>
          <a:srgbClr val="031552"/>
        </a:accent4>
        <a:accent5>
          <a:srgbClr val="B1CAE6"/>
        </a:accent5>
        <a:accent6>
          <a:srgbClr val="85B1DA"/>
        </a:accent6>
        <a:hlink>
          <a:srgbClr val="9999FF"/>
        </a:hlink>
        <a:folHlink>
          <a:srgbClr val="2A9F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2">
        <a:dk1>
          <a:srgbClr val="286882"/>
        </a:dk1>
        <a:lt1>
          <a:srgbClr val="FFFFFF"/>
        </a:lt1>
        <a:dk2>
          <a:srgbClr val="000066"/>
        </a:dk2>
        <a:lt2>
          <a:srgbClr val="DDDDDD"/>
        </a:lt2>
        <a:accent1>
          <a:srgbClr val="2FAFB9"/>
        </a:accent1>
        <a:accent2>
          <a:srgbClr val="58CEA1"/>
        </a:accent2>
        <a:accent3>
          <a:srgbClr val="FFFFFF"/>
        </a:accent3>
        <a:accent4>
          <a:srgbClr val="21586E"/>
        </a:accent4>
        <a:accent5>
          <a:srgbClr val="ADD4D9"/>
        </a:accent5>
        <a:accent6>
          <a:srgbClr val="4FBA91"/>
        </a:accent6>
        <a:hlink>
          <a:srgbClr val="556CD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3">
        <a:dk1>
          <a:srgbClr val="5084E2"/>
        </a:dk1>
        <a:lt1>
          <a:srgbClr val="FFFFFF"/>
        </a:lt1>
        <a:dk2>
          <a:srgbClr val="000066"/>
        </a:dk2>
        <a:lt2>
          <a:srgbClr val="B2B2B2"/>
        </a:lt2>
        <a:accent1>
          <a:srgbClr val="1E62C6"/>
        </a:accent1>
        <a:accent2>
          <a:srgbClr val="D3BD6B"/>
        </a:accent2>
        <a:accent3>
          <a:srgbClr val="FFFFFF"/>
        </a:accent3>
        <a:accent4>
          <a:srgbClr val="4370C1"/>
        </a:accent4>
        <a:accent5>
          <a:srgbClr val="ABB7DF"/>
        </a:accent5>
        <a:accent6>
          <a:srgbClr val="BFAB60"/>
        </a:accent6>
        <a:hlink>
          <a:srgbClr val="3197BB"/>
        </a:hlink>
        <a:folHlink>
          <a:srgbClr val="6D94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1">
        <a:dk1>
          <a:srgbClr val="051B61"/>
        </a:dk1>
        <a:lt1>
          <a:srgbClr val="FFFFFF"/>
        </a:lt1>
        <a:dk2>
          <a:srgbClr val="1861A4"/>
        </a:dk2>
        <a:lt2>
          <a:srgbClr val="DDDDDD"/>
        </a:lt2>
        <a:accent1>
          <a:srgbClr val="4B99D3"/>
        </a:accent1>
        <a:accent2>
          <a:srgbClr val="93C4F1"/>
        </a:accent2>
        <a:accent3>
          <a:srgbClr val="FFFFFF"/>
        </a:accent3>
        <a:accent4>
          <a:srgbClr val="031552"/>
        </a:accent4>
        <a:accent5>
          <a:srgbClr val="B1CAE6"/>
        </a:accent5>
        <a:accent6>
          <a:srgbClr val="85B1DA"/>
        </a:accent6>
        <a:hlink>
          <a:srgbClr val="9999FF"/>
        </a:hlink>
        <a:folHlink>
          <a:srgbClr val="2A9F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2">
        <a:dk1>
          <a:srgbClr val="286882"/>
        </a:dk1>
        <a:lt1>
          <a:srgbClr val="FFFFFF"/>
        </a:lt1>
        <a:dk2>
          <a:srgbClr val="000066"/>
        </a:dk2>
        <a:lt2>
          <a:srgbClr val="DDDDDD"/>
        </a:lt2>
        <a:accent1>
          <a:srgbClr val="2FAFB9"/>
        </a:accent1>
        <a:accent2>
          <a:srgbClr val="58CEA1"/>
        </a:accent2>
        <a:accent3>
          <a:srgbClr val="FFFFFF"/>
        </a:accent3>
        <a:accent4>
          <a:srgbClr val="21586E"/>
        </a:accent4>
        <a:accent5>
          <a:srgbClr val="ADD4D9"/>
        </a:accent5>
        <a:accent6>
          <a:srgbClr val="4FBA91"/>
        </a:accent6>
        <a:hlink>
          <a:srgbClr val="556CD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3">
        <a:dk1>
          <a:srgbClr val="5084E2"/>
        </a:dk1>
        <a:lt1>
          <a:srgbClr val="FFFFFF"/>
        </a:lt1>
        <a:dk2>
          <a:srgbClr val="000066"/>
        </a:dk2>
        <a:lt2>
          <a:srgbClr val="B2B2B2"/>
        </a:lt2>
        <a:accent1>
          <a:srgbClr val="1E62C6"/>
        </a:accent1>
        <a:accent2>
          <a:srgbClr val="D3BD6B"/>
        </a:accent2>
        <a:accent3>
          <a:srgbClr val="FFFFFF"/>
        </a:accent3>
        <a:accent4>
          <a:srgbClr val="4370C1"/>
        </a:accent4>
        <a:accent5>
          <a:srgbClr val="ABB7DF"/>
        </a:accent5>
        <a:accent6>
          <a:srgbClr val="BFAB60"/>
        </a:accent6>
        <a:hlink>
          <a:srgbClr val="3197BB"/>
        </a:hlink>
        <a:folHlink>
          <a:srgbClr val="6D94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4">
        <a:dk1>
          <a:srgbClr val="051B61"/>
        </a:dk1>
        <a:lt1>
          <a:srgbClr val="FFFFFF"/>
        </a:lt1>
        <a:dk2>
          <a:srgbClr val="1861A4"/>
        </a:dk2>
        <a:lt2>
          <a:srgbClr val="DDDDDD"/>
        </a:lt2>
        <a:accent1>
          <a:srgbClr val="4B99D3"/>
        </a:accent1>
        <a:accent2>
          <a:srgbClr val="93C4F1"/>
        </a:accent2>
        <a:accent3>
          <a:srgbClr val="FFFFFF"/>
        </a:accent3>
        <a:accent4>
          <a:srgbClr val="031552"/>
        </a:accent4>
        <a:accent5>
          <a:srgbClr val="B1CAE6"/>
        </a:accent5>
        <a:accent6>
          <a:srgbClr val="85B1DA"/>
        </a:accent6>
        <a:hlink>
          <a:srgbClr val="000099"/>
        </a:hlink>
        <a:folHlink>
          <a:srgbClr val="2A9F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5">
        <a:dk1>
          <a:srgbClr val="051B61"/>
        </a:dk1>
        <a:lt1>
          <a:srgbClr val="FFFFFF"/>
        </a:lt1>
        <a:dk2>
          <a:srgbClr val="1861A4"/>
        </a:dk2>
        <a:lt2>
          <a:srgbClr val="DDDDDD"/>
        </a:lt2>
        <a:accent1>
          <a:srgbClr val="4B99D3"/>
        </a:accent1>
        <a:accent2>
          <a:srgbClr val="93C4F1"/>
        </a:accent2>
        <a:accent3>
          <a:srgbClr val="FFFFFF"/>
        </a:accent3>
        <a:accent4>
          <a:srgbClr val="031552"/>
        </a:accent4>
        <a:accent5>
          <a:srgbClr val="B1CAE6"/>
        </a:accent5>
        <a:accent6>
          <a:srgbClr val="85B1DA"/>
        </a:accent6>
        <a:hlink>
          <a:srgbClr val="000099"/>
        </a:hlink>
        <a:folHlink>
          <a:srgbClr val="33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6">
        <a:dk1>
          <a:srgbClr val="051B61"/>
        </a:dk1>
        <a:lt1>
          <a:srgbClr val="FFFFFF"/>
        </a:lt1>
        <a:dk2>
          <a:srgbClr val="1861A4"/>
        </a:dk2>
        <a:lt2>
          <a:srgbClr val="DDDDDD"/>
        </a:lt2>
        <a:accent1>
          <a:srgbClr val="4B99D3"/>
        </a:accent1>
        <a:accent2>
          <a:srgbClr val="93C4F1"/>
        </a:accent2>
        <a:accent3>
          <a:srgbClr val="FFFFFF"/>
        </a:accent3>
        <a:accent4>
          <a:srgbClr val="031552"/>
        </a:accent4>
        <a:accent5>
          <a:srgbClr val="B1CAE6"/>
        </a:accent5>
        <a:accent6>
          <a:srgbClr val="85B1DA"/>
        </a:accent6>
        <a:hlink>
          <a:srgbClr val="000099"/>
        </a:hlink>
        <a:folHlink>
          <a:srgbClr val="00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6tgp_com_diagram 7">
        <a:dk1>
          <a:srgbClr val="051B61"/>
        </a:dk1>
        <a:lt1>
          <a:srgbClr val="FFFFFF"/>
        </a:lt1>
        <a:dk2>
          <a:srgbClr val="1861A4"/>
        </a:dk2>
        <a:lt2>
          <a:srgbClr val="DDDDDD"/>
        </a:lt2>
        <a:accent1>
          <a:srgbClr val="4B99D3"/>
        </a:accent1>
        <a:accent2>
          <a:srgbClr val="93C4F1"/>
        </a:accent2>
        <a:accent3>
          <a:srgbClr val="FFFFFF"/>
        </a:accent3>
        <a:accent4>
          <a:srgbClr val="031552"/>
        </a:accent4>
        <a:accent5>
          <a:srgbClr val="B1CAE6"/>
        </a:accent5>
        <a:accent6>
          <a:srgbClr val="85B1DA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Malgun Gothic</vt:lpstr>
      <vt:lpstr>等线</vt:lpstr>
      <vt:lpstr>黑体</vt:lpstr>
      <vt:lpstr>宋体</vt:lpstr>
      <vt:lpstr>Arial</vt:lpstr>
      <vt:lpstr>Calibri</vt:lpstr>
      <vt:lpstr>Times New Roman</vt:lpstr>
      <vt:lpstr>Verdana</vt:lpstr>
      <vt:lpstr>Wingdings</vt:lpstr>
      <vt:lpstr>136tgp_com_diagram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zyqin</dc:creator>
  <cp:lastModifiedBy>zyqin</cp:lastModifiedBy>
  <cp:revision>1</cp:revision>
  <dcterms:created xsi:type="dcterms:W3CDTF">2024-08-27T07:34:15Z</dcterms:created>
  <dcterms:modified xsi:type="dcterms:W3CDTF">2024-08-27T07:34:49Z</dcterms:modified>
</cp:coreProperties>
</file>