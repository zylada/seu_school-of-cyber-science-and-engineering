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7" r:id="rId2"/>
  </p:sldMasterIdLst>
  <p:notesMasterIdLst>
    <p:notesMasterId r:id="rId14"/>
  </p:notesMasterIdLst>
  <p:handoutMasterIdLst>
    <p:handoutMasterId r:id="rId15"/>
  </p:handoutMasterIdLst>
  <p:sldIdLst>
    <p:sldId id="542" r:id="rId3"/>
    <p:sldId id="387" r:id="rId4"/>
    <p:sldId id="431" r:id="rId5"/>
    <p:sldId id="389" r:id="rId6"/>
    <p:sldId id="510" r:id="rId7"/>
    <p:sldId id="395" r:id="rId8"/>
    <p:sldId id="509" r:id="rId9"/>
    <p:sldId id="544" r:id="rId10"/>
    <p:sldId id="543" r:id="rId11"/>
    <p:sldId id="397" r:id="rId12"/>
    <p:sldId id="516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7" orient="horz" pos="3952" userDrawn="1">
          <p15:clr>
            <a:srgbClr val="A4A3A4"/>
          </p15:clr>
        </p15:guide>
        <p15:guide id="8" orient="horz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>
    <p:extLst>
      <p:ext uri="{19B8F6BF-5375-455C-9EA6-DF929625EA0E}">
        <p15:presenceInfo xmlns:p15="http://schemas.microsoft.com/office/powerpoint/2012/main" userId="7525c676c6ae86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7D2B"/>
    <a:srgbClr val="EAB908"/>
    <a:srgbClr val="817222"/>
    <a:srgbClr val="515223"/>
    <a:srgbClr val="FECD54"/>
    <a:srgbClr val="9A8B3D"/>
    <a:srgbClr val="141213"/>
    <a:srgbClr val="D3D1D2"/>
    <a:srgbClr val="565656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59" autoAdjust="0"/>
    <p:restoredTop sz="93724" autoAdjust="0"/>
  </p:normalViewPr>
  <p:slideViewPr>
    <p:cSldViewPr snapToGrid="0" showGuides="1">
      <p:cViewPr varScale="1">
        <p:scale>
          <a:sx n="66" d="100"/>
          <a:sy n="66" d="100"/>
        </p:scale>
        <p:origin x="336" y="76"/>
      </p:cViewPr>
      <p:guideLst>
        <p:guide orient="horz" pos="2273"/>
        <p:guide pos="3840"/>
        <p:guide pos="1050"/>
        <p:guide pos="6630"/>
        <p:guide orient="horz" pos="648"/>
        <p:guide orient="horz" pos="731"/>
        <p:guide orient="horz" pos="3952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 showGuides="1">
      <p:cViewPr varScale="1">
        <p:scale>
          <a:sx n="84" d="100"/>
          <a:sy n="84" d="100"/>
        </p:scale>
        <p:origin x="3960" y="192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C176BC-2537-496C-92BE-280C92B96E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32F750-D334-4736-B10E-0035158269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9A2961-3AD5-4B21-AA67-750090397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9F27F7-0D80-46EC-B423-14DAAD04B5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40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6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886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213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67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16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31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5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5127626" y="543216"/>
            <a:ext cx="1936749" cy="11741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目 录</a:t>
            </a: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000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01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454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02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546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03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101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04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424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05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3338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06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016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609314" y="1962606"/>
            <a:ext cx="1617246" cy="2932788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730724" y="2258512"/>
            <a:ext cx="1374427" cy="234097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9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919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2829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32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93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4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6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326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81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82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1" r:id="rId9"/>
    <p:sldLayoutId id="2147483669" r:id="rId10"/>
    <p:sldLayoutId id="2147483671" r:id="rId11"/>
    <p:sldLayoutId id="2147483674" r:id="rId12"/>
    <p:sldLayoutId id="2147483654" r:id="rId13"/>
    <p:sldLayoutId id="2147483675" r:id="rId14"/>
    <p:sldLayoutId id="2147483672" r:id="rId15"/>
    <p:sldLayoutId id="2147483673" r:id="rId16"/>
    <p:sldLayoutId id="2147483659" r:id="rId17"/>
    <p:sldLayoutId id="2147483657" r:id="rId18"/>
    <p:sldLayoutId id="214748367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02093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F2CECC-24C4-B94A-A2D9-B0CD9253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  <a:pPr/>
              <a:t>1</a:t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620B8EC-D543-A548-9B51-4DD4A92E1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cs typeface="+mn-ea"/>
                <a:sym typeface="+mn-lt"/>
              </a:rPr>
              <a:t>2.1	PUF</a:t>
            </a:r>
            <a:r>
              <a:rPr kumimoji="1" lang="zh-CN" altLang="en-US" dirty="0">
                <a:cs typeface="+mn-ea"/>
                <a:sym typeface="+mn-lt"/>
              </a:rPr>
              <a:t>的灵感来源</a:t>
            </a:r>
            <a:endParaRPr kumimoji="1" lang="zh-CN" altLang="en-US" dirty="0"/>
          </a:p>
        </p:txBody>
      </p:sp>
      <p:sp>
        <p:nvSpPr>
          <p:cNvPr id="5" name="Google Shape;365;p35">
            <a:extLst>
              <a:ext uri="{FF2B5EF4-FFF2-40B4-BE49-F238E27FC236}">
                <a16:creationId xmlns:a16="http://schemas.microsoft.com/office/drawing/2014/main" id="{1DD8E5F2-1E84-5B48-8174-DFF99C68F209}"/>
              </a:ext>
            </a:extLst>
          </p:cNvPr>
          <p:cNvSpPr txBox="1">
            <a:spLocks/>
          </p:cNvSpPr>
          <p:nvPr/>
        </p:nvSpPr>
        <p:spPr>
          <a:xfrm>
            <a:off x="949705" y="1240578"/>
            <a:ext cx="3978000" cy="722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zh-CN" altLang="en-US" sz="2800" dirty="0">
                <a:solidFill>
                  <a:schemeClr val="accent5"/>
                </a:solidFill>
              </a:rPr>
              <a:t>从缺陷到芯片“指纹”</a:t>
            </a:r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6" name="Google Shape;366;p35">
            <a:extLst>
              <a:ext uri="{FF2B5EF4-FFF2-40B4-BE49-F238E27FC236}">
                <a16:creationId xmlns:a16="http://schemas.microsoft.com/office/drawing/2014/main" id="{86F9103D-821D-5248-803B-0B183C64D578}"/>
              </a:ext>
            </a:extLst>
          </p:cNvPr>
          <p:cNvSpPr txBox="1">
            <a:spLocks/>
          </p:cNvSpPr>
          <p:nvPr/>
        </p:nvSpPr>
        <p:spPr>
          <a:xfrm>
            <a:off x="506943" y="1932927"/>
            <a:ext cx="6065810" cy="2974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zh-CN" sz="2200" dirty="0">
                <a:latin typeface="Helvetica" pitchFamily="2" charset="0"/>
              </a:rPr>
              <a:t>芯片制造是一个极其精密的纳米级工艺，但任何制造过程都不可能完美</a:t>
            </a:r>
          </a:p>
          <a:p>
            <a:pPr lvl="0"/>
            <a:r>
              <a:rPr lang="zh-CN" altLang="zh-CN" sz="2200" dirty="0">
                <a:latin typeface="Helvetica" pitchFamily="2" charset="0"/>
              </a:rPr>
              <a:t>每条产线上，每一片晶圆、每一颗芯片之间都会出现纳米量级的随机物理偏差：</a:t>
            </a:r>
          </a:p>
          <a:p>
            <a:pPr marL="457200" lvl="1" indent="-292100">
              <a:lnSpc>
                <a:spcPct val="120000"/>
              </a:lnSpc>
              <a:spcBef>
                <a:spcPts val="0"/>
              </a:spcBef>
              <a:buSzPts val="1000"/>
              <a:buFont typeface="Montserrat"/>
              <a:buChar char="■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晶体管阈值电压的微小离散</a:t>
            </a:r>
          </a:p>
          <a:p>
            <a:pPr marL="457200" lvl="1" indent="-292100">
              <a:lnSpc>
                <a:spcPct val="120000"/>
              </a:lnSpc>
              <a:spcBef>
                <a:spcPts val="0"/>
              </a:spcBef>
              <a:buSzPts val="1000"/>
              <a:buFont typeface="Montserrat"/>
              <a:buChar char="■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金属连线宽度的细微波动</a:t>
            </a:r>
          </a:p>
          <a:p>
            <a:pPr marL="457200" indent="-292100">
              <a:lnSpc>
                <a:spcPct val="120000"/>
              </a:lnSpc>
              <a:spcBef>
                <a:spcPts val="0"/>
              </a:spcBef>
              <a:buSzPts val="1000"/>
              <a:buFont typeface="Montserrat"/>
              <a:buChar char="■"/>
            </a:pP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氧化物厚度的不均匀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sym typeface="Montserra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2D81B-D823-A5BA-5D66-09F47E26C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37" y="3827357"/>
            <a:ext cx="5837588" cy="17606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51D7DD7-2A5C-2143-800C-D41234ED576D}"/>
              </a:ext>
            </a:extLst>
          </p:cNvPr>
          <p:cNvSpPr txBox="1"/>
          <p:nvPr/>
        </p:nvSpPr>
        <p:spPr>
          <a:xfrm>
            <a:off x="6572753" y="5675417"/>
            <a:ext cx="39969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0" i="0" dirty="0">
                <a:solidFill>
                  <a:srgbClr val="191919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图1 线边缘粗糙度造成局部关键尺寸变异</a:t>
            </a:r>
            <a:endParaRPr lang="zh-CN" altLang="en-US" sz="16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630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37D10C8-966B-4F51-B2C6-5B63C922C47D}"/>
              </a:ext>
            </a:extLst>
          </p:cNvPr>
          <p:cNvSpPr/>
          <p:nvPr/>
        </p:nvSpPr>
        <p:spPr>
          <a:xfrm>
            <a:off x="934391" y="1390817"/>
            <a:ext cx="3403096" cy="4464000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 w="6350">
            <a:solidFill>
              <a:schemeClr val="accent1"/>
            </a:solidFill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6B0197C-6FB0-4815-88E8-C7CEEC8BD007}"/>
              </a:ext>
            </a:extLst>
          </p:cNvPr>
          <p:cNvSpPr/>
          <p:nvPr/>
        </p:nvSpPr>
        <p:spPr>
          <a:xfrm>
            <a:off x="948165" y="1402365"/>
            <a:ext cx="3384000" cy="1082852"/>
          </a:xfrm>
          <a:prstGeom prst="roundRect">
            <a:avLst>
              <a:gd name="adj" fmla="val 5869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DEC9526-D2D2-4122-93FA-9E8F7EEBFC56}"/>
              </a:ext>
            </a:extLst>
          </p:cNvPr>
          <p:cNvSpPr/>
          <p:nvPr/>
        </p:nvSpPr>
        <p:spPr>
          <a:xfrm>
            <a:off x="7855640" y="1390817"/>
            <a:ext cx="3403096" cy="4464000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 w="6350">
            <a:solidFill>
              <a:srgbClr val="EAB908"/>
            </a:solidFill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A3AC8B-DC8E-4C4A-8EFE-D8007D79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2.2	</a:t>
            </a:r>
            <a:r>
              <a:rPr lang="zh-CN" altLang="en-US" dirty="0">
                <a:sym typeface="+mn-lt"/>
              </a:rPr>
              <a:t>区分两种随机性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4C83408-0A87-4660-A9D0-AB9F1DBC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2</a:t>
            </a:fld>
            <a:endParaRPr lang="zh-CN" altLang="en-US" dirty="0">
              <a:sym typeface="+mn-lt"/>
            </a:endParaRPr>
          </a:p>
        </p:txBody>
      </p:sp>
      <p:sp>
        <p:nvSpPr>
          <p:cNvPr id="17" name="íŝļiḓè">
            <a:extLst>
              <a:ext uri="{FF2B5EF4-FFF2-40B4-BE49-F238E27FC236}">
                <a16:creationId xmlns:a16="http://schemas.microsoft.com/office/drawing/2014/main" id="{358A7C57-0954-433B-B9A0-B4AAF90D9F2D}"/>
              </a:ext>
            </a:extLst>
          </p:cNvPr>
          <p:cNvSpPr/>
          <p:nvPr/>
        </p:nvSpPr>
        <p:spPr bwMode="auto">
          <a:xfrm>
            <a:off x="1091255" y="2532796"/>
            <a:ext cx="3052182" cy="336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来源</a:t>
            </a:r>
            <a:r>
              <a:rPr lang="zh-CN" altLang="en-US" dirty="0"/>
              <a:t>：制造过程中的纳米级物理偏差（线宽、阈值电压、掺杂浓度、氧化层厚度等）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特性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chemeClr val="accent5"/>
                </a:solidFill>
              </a:rPr>
              <a:t>“冻结”的随机性</a:t>
            </a:r>
            <a:r>
              <a:rPr lang="zh-CN" altLang="en-US" dirty="0">
                <a:solidFill>
                  <a:schemeClr val="accent5"/>
                </a:solidFill>
              </a:rPr>
              <a:t> </a:t>
            </a:r>
            <a:r>
              <a:rPr lang="en-US" altLang="zh-CN" dirty="0"/>
              <a:t>—— </a:t>
            </a:r>
            <a:r>
              <a:rPr lang="zh-CN" altLang="en-US" dirty="0"/>
              <a:t>芯片出厂时即锁定，终身不变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对</a:t>
            </a:r>
            <a:r>
              <a:rPr lang="en-US" altLang="zh-CN" b="1" dirty="0"/>
              <a:t>PUF</a:t>
            </a:r>
            <a:r>
              <a:rPr lang="zh-CN" altLang="en-US" b="1" dirty="0"/>
              <a:t>的意义</a:t>
            </a:r>
            <a:r>
              <a:rPr lang="zh-CN" altLang="en-US" dirty="0"/>
              <a:t>：提供</a:t>
            </a:r>
            <a:r>
              <a:rPr lang="zh-CN" altLang="en-US" b="1" dirty="0">
                <a:solidFill>
                  <a:schemeClr val="accent5"/>
                </a:solidFill>
              </a:rPr>
              <a:t>唯一性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chemeClr val="accent5"/>
                </a:solidFill>
              </a:rPr>
              <a:t>不可克隆性</a:t>
            </a:r>
            <a:r>
              <a:rPr lang="zh-CN" altLang="en-US" dirty="0"/>
              <a:t>，是设备指纹的“熵源”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0" name="íŝļiḓè">
            <a:extLst>
              <a:ext uri="{FF2B5EF4-FFF2-40B4-BE49-F238E27FC236}">
                <a16:creationId xmlns:a16="http://schemas.microsoft.com/office/drawing/2014/main" id="{BD2F44C2-318C-48B9-A64D-48487CB13CA4}"/>
              </a:ext>
            </a:extLst>
          </p:cNvPr>
          <p:cNvSpPr/>
          <p:nvPr/>
        </p:nvSpPr>
        <p:spPr bwMode="auto">
          <a:xfrm>
            <a:off x="7993409" y="2573343"/>
            <a:ext cx="3107335" cy="336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来源</a:t>
            </a:r>
            <a:r>
              <a:rPr lang="zh-CN" altLang="en-US" dirty="0"/>
              <a:t>：工作环境动态波动（温度变化、电源电压抖动、热振动、电磁干扰）</a:t>
            </a:r>
            <a:endParaRPr lang="en-US" altLang="zh-CN" dirty="0"/>
          </a:p>
          <a:p>
            <a:pPr marL="171450" lvl="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特性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chemeClr val="accent5"/>
                </a:solidFill>
              </a:rPr>
              <a:t>“闪烁”的随机性</a:t>
            </a:r>
            <a:r>
              <a:rPr lang="zh-CN" altLang="en-US" dirty="0">
                <a:solidFill>
                  <a:schemeClr val="accent5"/>
                </a:solidFill>
              </a:rPr>
              <a:t> </a:t>
            </a:r>
            <a:r>
              <a:rPr lang="en-US" altLang="zh-CN" dirty="0"/>
              <a:t>—— </a:t>
            </a:r>
            <a:r>
              <a:rPr lang="zh-CN" altLang="en-US" dirty="0"/>
              <a:t>随时间、环境实时变化，不可预测但短暂</a:t>
            </a:r>
            <a:endParaRPr lang="en-US" altLang="zh-CN" dirty="0"/>
          </a:p>
          <a:p>
            <a:pPr marL="171450" lvl="0" indent="-17145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对</a:t>
            </a:r>
            <a:r>
              <a:rPr lang="en-US" altLang="zh-CN" b="1" dirty="0"/>
              <a:t>PUF</a:t>
            </a:r>
            <a:r>
              <a:rPr lang="zh-CN" altLang="en-US" b="1" dirty="0"/>
              <a:t>的意义</a:t>
            </a:r>
            <a:r>
              <a:rPr lang="zh-CN" altLang="en-US" dirty="0"/>
              <a:t>：是</a:t>
            </a:r>
            <a:r>
              <a:rPr lang="zh-CN" altLang="en-US" b="1" dirty="0">
                <a:solidFill>
                  <a:schemeClr val="accent5"/>
                </a:solidFill>
              </a:rPr>
              <a:t>不可靠性</a:t>
            </a:r>
            <a:r>
              <a:rPr lang="zh-CN" altLang="en-US" dirty="0"/>
              <a:t>的主要来源，导致比特翻转（误码）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7D1CE57-BEF4-4BF6-ACF1-4FBFADED507A}"/>
              </a:ext>
            </a:extLst>
          </p:cNvPr>
          <p:cNvGrpSpPr/>
          <p:nvPr/>
        </p:nvGrpSpPr>
        <p:grpSpPr>
          <a:xfrm>
            <a:off x="4669476" y="2199494"/>
            <a:ext cx="2853048" cy="4036205"/>
            <a:chOff x="4487552" y="1686948"/>
            <a:chExt cx="3215348" cy="454875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E66A1A6-F66E-43C9-90BE-14A28F6F4E91}"/>
                </a:ext>
              </a:extLst>
            </p:cNvPr>
            <p:cNvSpPr/>
            <p:nvPr/>
          </p:nvSpPr>
          <p:spPr>
            <a:xfrm>
              <a:off x="5874259" y="1686948"/>
              <a:ext cx="474596" cy="4548751"/>
            </a:xfrm>
            <a:prstGeom prst="roundRect">
              <a:avLst>
                <a:gd name="adj" fmla="val 13803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0CC93E8-C8D3-47C4-B110-FEE38CB60761}"/>
                </a:ext>
              </a:extLst>
            </p:cNvPr>
            <p:cNvGrpSpPr/>
            <p:nvPr/>
          </p:nvGrpSpPr>
          <p:grpSpPr>
            <a:xfrm>
              <a:off x="4896548" y="3568835"/>
              <a:ext cx="2806352" cy="1085850"/>
              <a:chOff x="4898564" y="2195007"/>
              <a:chExt cx="2806352" cy="1085850"/>
            </a:xfrm>
          </p:grpSpPr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6AC36C9C-A25C-4B0F-9143-A5427711FCC2}"/>
                  </a:ext>
                </a:extLst>
              </p:cNvPr>
              <p:cNvSpPr/>
              <p:nvPr/>
            </p:nvSpPr>
            <p:spPr>
              <a:xfrm>
                <a:off x="4898564" y="2195007"/>
                <a:ext cx="2806352" cy="1085850"/>
              </a:xfrm>
              <a:custGeom>
                <a:avLst/>
                <a:gdLst>
                  <a:gd name="connsiteX0" fmla="*/ 32391 w 2772062"/>
                  <a:gd name="connsiteY0" fmla="*/ 0 h 1085850"/>
                  <a:gd name="connsiteX1" fmla="*/ 1074420 w 2772062"/>
                  <a:gd name="connsiteY1" fmla="*/ 0 h 1085850"/>
                  <a:gd name="connsiteX2" fmla="*/ 1167759 w 2772062"/>
                  <a:gd name="connsiteY2" fmla="*/ 0 h 1085850"/>
                  <a:gd name="connsiteX3" fmla="*/ 2320576 w 2772062"/>
                  <a:gd name="connsiteY3" fmla="*/ 0 h 1085850"/>
                  <a:gd name="connsiteX4" fmla="*/ 2772062 w 2772062"/>
                  <a:gd name="connsiteY4" fmla="*/ 542925 h 1085850"/>
                  <a:gd name="connsiteX5" fmla="*/ 2320576 w 2772062"/>
                  <a:gd name="connsiteY5" fmla="*/ 1085850 h 1085850"/>
                  <a:gd name="connsiteX6" fmla="*/ 1167759 w 2772062"/>
                  <a:gd name="connsiteY6" fmla="*/ 1085850 h 1085850"/>
                  <a:gd name="connsiteX7" fmla="*/ 1074420 w 2772062"/>
                  <a:gd name="connsiteY7" fmla="*/ 1085850 h 1085850"/>
                  <a:gd name="connsiteX8" fmla="*/ 32391 w 2772062"/>
                  <a:gd name="connsiteY8" fmla="*/ 1085850 h 1085850"/>
                  <a:gd name="connsiteX9" fmla="*/ 0 w 2772062"/>
                  <a:gd name="connsiteY9" fmla="*/ 1053459 h 1085850"/>
                  <a:gd name="connsiteX10" fmla="*/ 0 w 2772062"/>
                  <a:gd name="connsiteY10" fmla="*/ 32391 h 1085850"/>
                  <a:gd name="connsiteX11" fmla="*/ 32391 w 2772062"/>
                  <a:gd name="connsiteY11" fmla="*/ 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72062" h="1085850">
                    <a:moveTo>
                      <a:pt x="32391" y="0"/>
                    </a:moveTo>
                    <a:lnTo>
                      <a:pt x="1074420" y="0"/>
                    </a:lnTo>
                    <a:lnTo>
                      <a:pt x="1167759" y="0"/>
                    </a:lnTo>
                    <a:lnTo>
                      <a:pt x="2320576" y="0"/>
                    </a:lnTo>
                    <a:lnTo>
                      <a:pt x="2772062" y="542925"/>
                    </a:lnTo>
                    <a:lnTo>
                      <a:pt x="2320576" y="1085850"/>
                    </a:lnTo>
                    <a:lnTo>
                      <a:pt x="1167759" y="1085850"/>
                    </a:lnTo>
                    <a:lnTo>
                      <a:pt x="1074420" y="1085850"/>
                    </a:lnTo>
                    <a:lnTo>
                      <a:pt x="32391" y="1085850"/>
                    </a:lnTo>
                    <a:cubicBezTo>
                      <a:pt x="14502" y="1085850"/>
                      <a:pt x="0" y="1071348"/>
                      <a:pt x="0" y="1053459"/>
                    </a:cubicBezTo>
                    <a:lnTo>
                      <a:pt x="0" y="32391"/>
                    </a:lnTo>
                    <a:cubicBezTo>
                      <a:pt x="0" y="14502"/>
                      <a:pt x="14502" y="0"/>
                      <a:pt x="32391" y="0"/>
                    </a:cubicBezTo>
                    <a:close/>
                  </a:path>
                </a:pathLst>
              </a:custGeom>
              <a:solidFill>
                <a:srgbClr val="EAB9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capital-letter_235479">
                <a:extLst>
                  <a:ext uri="{FF2B5EF4-FFF2-40B4-BE49-F238E27FC236}">
                    <a16:creationId xmlns:a16="http://schemas.microsoft.com/office/drawing/2014/main" id="{3E0E6854-2780-4072-82BC-696550031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78287" y="2539932"/>
                <a:ext cx="393465" cy="396000"/>
              </a:xfrm>
              <a:custGeom>
                <a:avLst/>
                <a:gdLst>
                  <a:gd name="connsiteX0" fmla="*/ 423 w 602840"/>
                  <a:gd name="connsiteY0" fmla="*/ 520420 h 606722"/>
                  <a:gd name="connsiteX1" fmla="*/ 602840 w 602840"/>
                  <a:gd name="connsiteY1" fmla="*/ 520420 h 606722"/>
                  <a:gd name="connsiteX2" fmla="*/ 602840 w 602840"/>
                  <a:gd name="connsiteY2" fmla="*/ 606722 h 606722"/>
                  <a:gd name="connsiteX3" fmla="*/ 423 w 602840"/>
                  <a:gd name="connsiteY3" fmla="*/ 606722 h 606722"/>
                  <a:gd name="connsiteX4" fmla="*/ 423 w 602840"/>
                  <a:gd name="connsiteY4" fmla="*/ 347817 h 606722"/>
                  <a:gd name="connsiteX5" fmla="*/ 602840 w 602840"/>
                  <a:gd name="connsiteY5" fmla="*/ 347817 h 606722"/>
                  <a:gd name="connsiteX6" fmla="*/ 602840 w 602840"/>
                  <a:gd name="connsiteY6" fmla="*/ 434119 h 606722"/>
                  <a:gd name="connsiteX7" fmla="*/ 423 w 602840"/>
                  <a:gd name="connsiteY7" fmla="*/ 434119 h 606722"/>
                  <a:gd name="connsiteX8" fmla="*/ 301667 w 602840"/>
                  <a:gd name="connsiteY8" fmla="*/ 172603 h 606722"/>
                  <a:gd name="connsiteX9" fmla="*/ 602840 w 602840"/>
                  <a:gd name="connsiteY9" fmla="*/ 172603 h 606722"/>
                  <a:gd name="connsiteX10" fmla="*/ 602840 w 602840"/>
                  <a:gd name="connsiteY10" fmla="*/ 258905 h 606722"/>
                  <a:gd name="connsiteX11" fmla="*/ 301667 w 602840"/>
                  <a:gd name="connsiteY11" fmla="*/ 258905 h 606722"/>
                  <a:gd name="connsiteX12" fmla="*/ 114918 w 602840"/>
                  <a:gd name="connsiteY12" fmla="*/ 70599 h 606722"/>
                  <a:gd name="connsiteX13" fmla="*/ 88125 w 602840"/>
                  <a:gd name="connsiteY13" fmla="*/ 164804 h 606722"/>
                  <a:gd name="connsiteX14" fmla="*/ 142869 w 602840"/>
                  <a:gd name="connsiteY14" fmla="*/ 164804 h 606722"/>
                  <a:gd name="connsiteX15" fmla="*/ 115987 w 602840"/>
                  <a:gd name="connsiteY15" fmla="*/ 70599 h 606722"/>
                  <a:gd name="connsiteX16" fmla="*/ 83318 w 602840"/>
                  <a:gd name="connsiteY16" fmla="*/ 2611 h 606722"/>
                  <a:gd name="connsiteX17" fmla="*/ 147676 w 602840"/>
                  <a:gd name="connsiteY17" fmla="*/ 2611 h 606722"/>
                  <a:gd name="connsiteX18" fmla="*/ 231172 w 602840"/>
                  <a:gd name="connsiteY18" fmla="*/ 261586 h 606722"/>
                  <a:gd name="connsiteX19" fmla="*/ 170909 w 602840"/>
                  <a:gd name="connsiteY19" fmla="*/ 261586 h 606722"/>
                  <a:gd name="connsiteX20" fmla="*/ 156221 w 602840"/>
                  <a:gd name="connsiteY20" fmla="*/ 209240 h 606722"/>
                  <a:gd name="connsiteX21" fmla="*/ 74773 w 602840"/>
                  <a:gd name="connsiteY21" fmla="*/ 209240 h 606722"/>
                  <a:gd name="connsiteX22" fmla="*/ 60263 w 602840"/>
                  <a:gd name="connsiteY22" fmla="*/ 261586 h 606722"/>
                  <a:gd name="connsiteX23" fmla="*/ 0 w 602840"/>
                  <a:gd name="connsiteY23" fmla="*/ 261586 h 606722"/>
                  <a:gd name="connsiteX24" fmla="*/ 301667 w 602840"/>
                  <a:gd name="connsiteY24" fmla="*/ 0 h 606722"/>
                  <a:gd name="connsiteX25" fmla="*/ 602840 w 602840"/>
                  <a:gd name="connsiteY25" fmla="*/ 0 h 606722"/>
                  <a:gd name="connsiteX26" fmla="*/ 602840 w 602840"/>
                  <a:gd name="connsiteY26" fmla="*/ 86302 h 606722"/>
                  <a:gd name="connsiteX27" fmla="*/ 301667 w 602840"/>
                  <a:gd name="connsiteY27" fmla="*/ 86302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2840" h="606722">
                    <a:moveTo>
                      <a:pt x="423" y="520420"/>
                    </a:moveTo>
                    <a:lnTo>
                      <a:pt x="602840" y="520420"/>
                    </a:lnTo>
                    <a:lnTo>
                      <a:pt x="602840" y="606722"/>
                    </a:lnTo>
                    <a:lnTo>
                      <a:pt x="423" y="606722"/>
                    </a:lnTo>
                    <a:close/>
                    <a:moveTo>
                      <a:pt x="423" y="347817"/>
                    </a:moveTo>
                    <a:lnTo>
                      <a:pt x="602840" y="347817"/>
                    </a:lnTo>
                    <a:lnTo>
                      <a:pt x="602840" y="434119"/>
                    </a:lnTo>
                    <a:lnTo>
                      <a:pt x="423" y="434119"/>
                    </a:lnTo>
                    <a:close/>
                    <a:moveTo>
                      <a:pt x="301667" y="172603"/>
                    </a:moveTo>
                    <a:lnTo>
                      <a:pt x="602840" y="172603"/>
                    </a:lnTo>
                    <a:lnTo>
                      <a:pt x="602840" y="258905"/>
                    </a:lnTo>
                    <a:lnTo>
                      <a:pt x="301667" y="258905"/>
                    </a:lnTo>
                    <a:close/>
                    <a:moveTo>
                      <a:pt x="114918" y="70599"/>
                    </a:moveTo>
                    <a:lnTo>
                      <a:pt x="88125" y="164804"/>
                    </a:lnTo>
                    <a:lnTo>
                      <a:pt x="142869" y="164804"/>
                    </a:lnTo>
                    <a:lnTo>
                      <a:pt x="115987" y="70599"/>
                    </a:lnTo>
                    <a:close/>
                    <a:moveTo>
                      <a:pt x="83318" y="2611"/>
                    </a:moveTo>
                    <a:lnTo>
                      <a:pt x="147676" y="2611"/>
                    </a:lnTo>
                    <a:lnTo>
                      <a:pt x="231172" y="261586"/>
                    </a:lnTo>
                    <a:lnTo>
                      <a:pt x="170909" y="261586"/>
                    </a:lnTo>
                    <a:lnTo>
                      <a:pt x="156221" y="209240"/>
                    </a:lnTo>
                    <a:lnTo>
                      <a:pt x="74773" y="209240"/>
                    </a:lnTo>
                    <a:lnTo>
                      <a:pt x="60263" y="261586"/>
                    </a:lnTo>
                    <a:lnTo>
                      <a:pt x="0" y="261586"/>
                    </a:lnTo>
                    <a:close/>
                    <a:moveTo>
                      <a:pt x="301667" y="0"/>
                    </a:moveTo>
                    <a:lnTo>
                      <a:pt x="602840" y="0"/>
                    </a:lnTo>
                    <a:lnTo>
                      <a:pt x="602840" y="86302"/>
                    </a:lnTo>
                    <a:lnTo>
                      <a:pt x="301667" y="863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FCF3557-283E-45CE-9E28-B851A661FF92}"/>
                </a:ext>
              </a:extLst>
            </p:cNvPr>
            <p:cNvGrpSpPr/>
            <p:nvPr/>
          </p:nvGrpSpPr>
          <p:grpSpPr>
            <a:xfrm>
              <a:off x="4487552" y="2108271"/>
              <a:ext cx="2806352" cy="1085850"/>
              <a:chOff x="4487084" y="3657735"/>
              <a:chExt cx="2806352" cy="1085850"/>
            </a:xfrm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28D20D02-1827-4D32-B904-E15287785085}"/>
                  </a:ext>
                </a:extLst>
              </p:cNvPr>
              <p:cNvSpPr/>
              <p:nvPr/>
            </p:nvSpPr>
            <p:spPr>
              <a:xfrm flipH="1">
                <a:off x="4487084" y="3657735"/>
                <a:ext cx="2806352" cy="1085850"/>
              </a:xfrm>
              <a:custGeom>
                <a:avLst/>
                <a:gdLst>
                  <a:gd name="connsiteX0" fmla="*/ 32391 w 2772062"/>
                  <a:gd name="connsiteY0" fmla="*/ 0 h 1085850"/>
                  <a:gd name="connsiteX1" fmla="*/ 1074420 w 2772062"/>
                  <a:gd name="connsiteY1" fmla="*/ 0 h 1085850"/>
                  <a:gd name="connsiteX2" fmla="*/ 1167759 w 2772062"/>
                  <a:gd name="connsiteY2" fmla="*/ 0 h 1085850"/>
                  <a:gd name="connsiteX3" fmla="*/ 2320576 w 2772062"/>
                  <a:gd name="connsiteY3" fmla="*/ 0 h 1085850"/>
                  <a:gd name="connsiteX4" fmla="*/ 2772062 w 2772062"/>
                  <a:gd name="connsiteY4" fmla="*/ 542925 h 1085850"/>
                  <a:gd name="connsiteX5" fmla="*/ 2320576 w 2772062"/>
                  <a:gd name="connsiteY5" fmla="*/ 1085850 h 1085850"/>
                  <a:gd name="connsiteX6" fmla="*/ 1167759 w 2772062"/>
                  <a:gd name="connsiteY6" fmla="*/ 1085850 h 1085850"/>
                  <a:gd name="connsiteX7" fmla="*/ 1074420 w 2772062"/>
                  <a:gd name="connsiteY7" fmla="*/ 1085850 h 1085850"/>
                  <a:gd name="connsiteX8" fmla="*/ 32391 w 2772062"/>
                  <a:gd name="connsiteY8" fmla="*/ 1085850 h 1085850"/>
                  <a:gd name="connsiteX9" fmla="*/ 0 w 2772062"/>
                  <a:gd name="connsiteY9" fmla="*/ 1053459 h 1085850"/>
                  <a:gd name="connsiteX10" fmla="*/ 0 w 2772062"/>
                  <a:gd name="connsiteY10" fmla="*/ 32391 h 1085850"/>
                  <a:gd name="connsiteX11" fmla="*/ 32391 w 2772062"/>
                  <a:gd name="connsiteY11" fmla="*/ 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72062" h="1085850">
                    <a:moveTo>
                      <a:pt x="32391" y="0"/>
                    </a:moveTo>
                    <a:lnTo>
                      <a:pt x="1074420" y="0"/>
                    </a:lnTo>
                    <a:lnTo>
                      <a:pt x="1167759" y="0"/>
                    </a:lnTo>
                    <a:lnTo>
                      <a:pt x="2320576" y="0"/>
                    </a:lnTo>
                    <a:lnTo>
                      <a:pt x="2772062" y="542925"/>
                    </a:lnTo>
                    <a:lnTo>
                      <a:pt x="2320576" y="1085850"/>
                    </a:lnTo>
                    <a:lnTo>
                      <a:pt x="1167759" y="1085850"/>
                    </a:lnTo>
                    <a:lnTo>
                      <a:pt x="1074420" y="1085850"/>
                    </a:lnTo>
                    <a:lnTo>
                      <a:pt x="32391" y="1085850"/>
                    </a:lnTo>
                    <a:cubicBezTo>
                      <a:pt x="14502" y="1085850"/>
                      <a:pt x="0" y="1071348"/>
                      <a:pt x="0" y="1053459"/>
                    </a:cubicBezTo>
                    <a:lnTo>
                      <a:pt x="0" y="32391"/>
                    </a:lnTo>
                    <a:cubicBezTo>
                      <a:pt x="0" y="14502"/>
                      <a:pt x="14502" y="0"/>
                      <a:pt x="323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left-indent_114297">
                <a:extLst>
                  <a:ext uri="{FF2B5EF4-FFF2-40B4-BE49-F238E27FC236}">
                    <a16:creationId xmlns:a16="http://schemas.microsoft.com/office/drawing/2014/main" id="{0EB5E354-8AAA-45E7-B18A-3A9A734B9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48291" y="4002660"/>
                <a:ext cx="394792" cy="396000"/>
              </a:xfrm>
              <a:custGeom>
                <a:avLst/>
                <a:gdLst>
                  <a:gd name="connsiteX0" fmla="*/ 0 w 599594"/>
                  <a:gd name="connsiteY0" fmla="*/ 515480 h 601429"/>
                  <a:gd name="connsiteX1" fmla="*/ 599594 w 599594"/>
                  <a:gd name="connsiteY1" fmla="*/ 515480 h 601429"/>
                  <a:gd name="connsiteX2" fmla="*/ 599594 w 599594"/>
                  <a:gd name="connsiteY2" fmla="*/ 601429 h 601429"/>
                  <a:gd name="connsiteX3" fmla="*/ 0 w 599594"/>
                  <a:gd name="connsiteY3" fmla="*/ 601429 h 601429"/>
                  <a:gd name="connsiteX4" fmla="*/ 2540 w 599594"/>
                  <a:gd name="connsiteY4" fmla="*/ 346194 h 601429"/>
                  <a:gd name="connsiteX5" fmla="*/ 344218 w 599594"/>
                  <a:gd name="connsiteY5" fmla="*/ 346194 h 601429"/>
                  <a:gd name="connsiteX6" fmla="*/ 344218 w 599594"/>
                  <a:gd name="connsiteY6" fmla="*/ 432143 h 601429"/>
                  <a:gd name="connsiteX7" fmla="*/ 2540 w 599594"/>
                  <a:gd name="connsiteY7" fmla="*/ 432143 h 601429"/>
                  <a:gd name="connsiteX8" fmla="*/ 513549 w 599594"/>
                  <a:gd name="connsiteY8" fmla="*/ 216142 h 601429"/>
                  <a:gd name="connsiteX9" fmla="*/ 513549 w 599594"/>
                  <a:gd name="connsiteY9" fmla="*/ 257732 h 601429"/>
                  <a:gd name="connsiteX10" fmla="*/ 599594 w 599594"/>
                  <a:gd name="connsiteY10" fmla="*/ 257732 h 601429"/>
                  <a:gd name="connsiteX11" fmla="*/ 599594 w 599594"/>
                  <a:gd name="connsiteY11" fmla="*/ 343645 h 601429"/>
                  <a:gd name="connsiteX12" fmla="*/ 513549 w 599594"/>
                  <a:gd name="connsiteY12" fmla="*/ 343645 h 601429"/>
                  <a:gd name="connsiteX13" fmla="*/ 513549 w 599594"/>
                  <a:gd name="connsiteY13" fmla="*/ 387969 h 601429"/>
                  <a:gd name="connsiteX14" fmla="*/ 385851 w 599594"/>
                  <a:gd name="connsiteY14" fmla="*/ 302055 h 601429"/>
                  <a:gd name="connsiteX15" fmla="*/ 2540 w 599594"/>
                  <a:gd name="connsiteY15" fmla="*/ 171827 h 601429"/>
                  <a:gd name="connsiteX16" fmla="*/ 344218 w 599594"/>
                  <a:gd name="connsiteY16" fmla="*/ 171827 h 601429"/>
                  <a:gd name="connsiteX17" fmla="*/ 344218 w 599594"/>
                  <a:gd name="connsiteY17" fmla="*/ 257776 h 601429"/>
                  <a:gd name="connsiteX18" fmla="*/ 2540 w 599594"/>
                  <a:gd name="connsiteY18" fmla="*/ 257776 h 601429"/>
                  <a:gd name="connsiteX19" fmla="*/ 0 w 599594"/>
                  <a:gd name="connsiteY19" fmla="*/ 0 h 601429"/>
                  <a:gd name="connsiteX20" fmla="*/ 599594 w 599594"/>
                  <a:gd name="connsiteY20" fmla="*/ 0 h 601429"/>
                  <a:gd name="connsiteX21" fmla="*/ 599594 w 599594"/>
                  <a:gd name="connsiteY21" fmla="*/ 85949 h 601429"/>
                  <a:gd name="connsiteX22" fmla="*/ 0 w 599594"/>
                  <a:gd name="connsiteY22" fmla="*/ 85949 h 60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99594" h="601429">
                    <a:moveTo>
                      <a:pt x="0" y="515480"/>
                    </a:moveTo>
                    <a:lnTo>
                      <a:pt x="599594" y="515480"/>
                    </a:lnTo>
                    <a:lnTo>
                      <a:pt x="599594" y="601429"/>
                    </a:lnTo>
                    <a:lnTo>
                      <a:pt x="0" y="601429"/>
                    </a:lnTo>
                    <a:close/>
                    <a:moveTo>
                      <a:pt x="2540" y="346194"/>
                    </a:moveTo>
                    <a:lnTo>
                      <a:pt x="344218" y="346194"/>
                    </a:lnTo>
                    <a:lnTo>
                      <a:pt x="344218" y="432143"/>
                    </a:lnTo>
                    <a:lnTo>
                      <a:pt x="2540" y="432143"/>
                    </a:lnTo>
                    <a:close/>
                    <a:moveTo>
                      <a:pt x="513549" y="216142"/>
                    </a:moveTo>
                    <a:lnTo>
                      <a:pt x="513549" y="257732"/>
                    </a:lnTo>
                    <a:lnTo>
                      <a:pt x="599594" y="257732"/>
                    </a:lnTo>
                    <a:lnTo>
                      <a:pt x="599594" y="343645"/>
                    </a:lnTo>
                    <a:lnTo>
                      <a:pt x="513549" y="343645"/>
                    </a:lnTo>
                    <a:lnTo>
                      <a:pt x="513549" y="387969"/>
                    </a:lnTo>
                    <a:lnTo>
                      <a:pt x="385851" y="302055"/>
                    </a:lnTo>
                    <a:close/>
                    <a:moveTo>
                      <a:pt x="2540" y="171827"/>
                    </a:moveTo>
                    <a:lnTo>
                      <a:pt x="344218" y="171827"/>
                    </a:lnTo>
                    <a:lnTo>
                      <a:pt x="344218" y="257776"/>
                    </a:lnTo>
                    <a:lnTo>
                      <a:pt x="2540" y="257776"/>
                    </a:lnTo>
                    <a:close/>
                    <a:moveTo>
                      <a:pt x="0" y="0"/>
                    </a:moveTo>
                    <a:lnTo>
                      <a:pt x="599594" y="0"/>
                    </a:lnTo>
                    <a:lnTo>
                      <a:pt x="599594" y="85949"/>
                    </a:lnTo>
                    <a:lnTo>
                      <a:pt x="0" y="8594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6" name="íś1ïḍé">
            <a:extLst>
              <a:ext uri="{FF2B5EF4-FFF2-40B4-BE49-F238E27FC236}">
                <a16:creationId xmlns:a16="http://schemas.microsoft.com/office/drawing/2014/main" id="{49CA5E93-C2EB-4DD1-B138-D7CD77D206BA}"/>
              </a:ext>
            </a:extLst>
          </p:cNvPr>
          <p:cNvSpPr txBox="1"/>
          <p:nvPr/>
        </p:nvSpPr>
        <p:spPr bwMode="auto">
          <a:xfrm>
            <a:off x="732598" y="1439867"/>
            <a:ext cx="3800901" cy="93027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工艺诱导的可变性</a:t>
            </a:r>
            <a:endParaRPr lang="en-US" altLang="zh-CN" sz="24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marR="0" lvl="0" indent="0" algn="ctr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Process-induced variability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22C18F0-1132-416E-B323-E4D6A1EBAD39}"/>
              </a:ext>
            </a:extLst>
          </p:cNvPr>
          <p:cNvSpPr/>
          <p:nvPr/>
        </p:nvSpPr>
        <p:spPr>
          <a:xfrm>
            <a:off x="7874813" y="1402365"/>
            <a:ext cx="3384000" cy="1082852"/>
          </a:xfrm>
          <a:prstGeom prst="roundRect">
            <a:avLst>
              <a:gd name="adj" fmla="val 5869"/>
            </a:avLst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íś1ïḍé">
            <a:extLst>
              <a:ext uri="{FF2B5EF4-FFF2-40B4-BE49-F238E27FC236}">
                <a16:creationId xmlns:a16="http://schemas.microsoft.com/office/drawing/2014/main" id="{E9DFE068-2DDC-4CC0-9D70-D120CB1A3A12}"/>
              </a:ext>
            </a:extLst>
          </p:cNvPr>
          <p:cNvSpPr txBox="1"/>
          <p:nvPr/>
        </p:nvSpPr>
        <p:spPr bwMode="auto">
          <a:xfrm>
            <a:off x="8168966" y="1439867"/>
            <a:ext cx="2776444" cy="93027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EAB908"/>
                </a:solidFill>
                <a:cs typeface="+mn-ea"/>
                <a:sym typeface="+mn-lt"/>
              </a:rPr>
              <a:t>运行时噪音</a:t>
            </a:r>
            <a:endParaRPr lang="en-US" altLang="zh-CN" sz="2000" b="1" dirty="0">
              <a:solidFill>
                <a:srgbClr val="EAB908"/>
              </a:solidFill>
              <a:cs typeface="+mn-ea"/>
              <a:sym typeface="+mn-lt"/>
            </a:endParaRPr>
          </a:p>
          <a:p>
            <a:pPr marL="0" marR="0" lvl="0" indent="0" algn="ctr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B908"/>
                </a:solidFill>
                <a:effectLst/>
                <a:uLnTx/>
                <a:uFillTx/>
                <a:cs typeface="+mn-ea"/>
                <a:sym typeface="+mn-lt"/>
              </a:rPr>
              <a:t>Runtime Noise</a:t>
            </a:r>
          </a:p>
        </p:txBody>
      </p:sp>
    </p:spTree>
    <p:extLst>
      <p:ext uri="{BB962C8B-B14F-4D97-AF65-F5344CB8AC3E}">
        <p14:creationId xmlns:p14="http://schemas.microsoft.com/office/powerpoint/2010/main" val="367818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9CAE1BE-1D05-4819-A3ED-2BC1305EAD74}"/>
              </a:ext>
            </a:extLst>
          </p:cNvPr>
          <p:cNvSpPr/>
          <p:nvPr/>
        </p:nvSpPr>
        <p:spPr>
          <a:xfrm>
            <a:off x="1116231" y="1500646"/>
            <a:ext cx="9963540" cy="1480428"/>
          </a:xfrm>
          <a:prstGeom prst="roundRect">
            <a:avLst>
              <a:gd name="adj" fmla="val 623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7AFFC8-26FD-4B79-AF2A-984A78B4B38C}"/>
              </a:ext>
            </a:extLst>
          </p:cNvPr>
          <p:cNvSpPr/>
          <p:nvPr/>
        </p:nvSpPr>
        <p:spPr>
          <a:xfrm>
            <a:off x="947738" y="1211205"/>
            <a:ext cx="10296525" cy="1580192"/>
          </a:xfrm>
          <a:prstGeom prst="roundRect">
            <a:avLst>
              <a:gd name="adj" fmla="val 623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62E0ED-7A18-4BC3-A99C-70428BE0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2.3	PUF</a:t>
            </a:r>
            <a:r>
              <a:rPr lang="zh-CN" altLang="en-US" dirty="0">
                <a:sym typeface="+mn-lt"/>
              </a:rPr>
              <a:t>的工作原理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EBA2B9-BEDD-46AE-A57A-A7253CB9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3</a:t>
            </a:fld>
            <a:endParaRPr lang="zh-CN" altLang="en-US">
              <a:sym typeface="+mn-lt"/>
            </a:endParaRPr>
          </a:p>
        </p:txBody>
      </p:sp>
      <p:sp>
        <p:nvSpPr>
          <p:cNvPr id="33" name="íś1ïḍé">
            <a:extLst>
              <a:ext uri="{FF2B5EF4-FFF2-40B4-BE49-F238E27FC236}">
                <a16:creationId xmlns:a16="http://schemas.microsoft.com/office/drawing/2014/main" id="{3CFDCFF2-06AA-4175-A13E-DBC09E4FF1AC}"/>
              </a:ext>
            </a:extLst>
          </p:cNvPr>
          <p:cNvSpPr txBox="1"/>
          <p:nvPr/>
        </p:nvSpPr>
        <p:spPr bwMode="auto">
          <a:xfrm>
            <a:off x="999479" y="4098791"/>
            <a:ext cx="2152654" cy="51259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 fontScale="92500"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挑战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6" name="íś1ïḍé">
            <a:extLst>
              <a:ext uri="{FF2B5EF4-FFF2-40B4-BE49-F238E27FC236}">
                <a16:creationId xmlns:a16="http://schemas.microsoft.com/office/drawing/2014/main" id="{02ADA2D6-C421-46AE-8A9E-8F47D12094A8}"/>
              </a:ext>
            </a:extLst>
          </p:cNvPr>
          <p:cNvSpPr txBox="1"/>
          <p:nvPr/>
        </p:nvSpPr>
        <p:spPr bwMode="auto">
          <a:xfrm>
            <a:off x="3666806" y="4800876"/>
            <a:ext cx="2152654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 fontScale="77500" lnSpcReduction="2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PUF</a:t>
            </a:r>
          </a:p>
        </p:txBody>
      </p:sp>
      <p:sp>
        <p:nvSpPr>
          <p:cNvPr id="39" name="íś1ïḍé">
            <a:extLst>
              <a:ext uri="{FF2B5EF4-FFF2-40B4-BE49-F238E27FC236}">
                <a16:creationId xmlns:a16="http://schemas.microsoft.com/office/drawing/2014/main" id="{DF8FA462-03A4-476A-AB5B-149E834A0799}"/>
              </a:ext>
            </a:extLst>
          </p:cNvPr>
          <p:cNvSpPr txBox="1"/>
          <p:nvPr/>
        </p:nvSpPr>
        <p:spPr bwMode="auto">
          <a:xfrm>
            <a:off x="6362229" y="4093499"/>
            <a:ext cx="2152654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 fontScale="77500" lnSpcReduction="2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利用物理偏差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íś1ïḍé">
            <a:extLst>
              <a:ext uri="{FF2B5EF4-FFF2-40B4-BE49-F238E27FC236}">
                <a16:creationId xmlns:a16="http://schemas.microsoft.com/office/drawing/2014/main" id="{CA22FEBC-9B40-41D8-83B1-9852059CD2CF}"/>
              </a:ext>
            </a:extLst>
          </p:cNvPr>
          <p:cNvSpPr txBox="1"/>
          <p:nvPr/>
        </p:nvSpPr>
        <p:spPr bwMode="auto">
          <a:xfrm>
            <a:off x="9041490" y="4800877"/>
            <a:ext cx="2152654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 fontScale="77500" lnSpcReduction="2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响应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FFCA56E-7D34-4085-8F90-F99D40466A41}"/>
              </a:ext>
            </a:extLst>
          </p:cNvPr>
          <p:cNvGrpSpPr/>
          <p:nvPr/>
        </p:nvGrpSpPr>
        <p:grpSpPr>
          <a:xfrm>
            <a:off x="7028455" y="3198115"/>
            <a:ext cx="822599" cy="822598"/>
            <a:chOff x="7202905" y="3063495"/>
            <a:chExt cx="822599" cy="822598"/>
          </a:xfrm>
        </p:grpSpPr>
        <p:sp>
          <p:nvSpPr>
            <p:cNvPr id="17" name="ïṡḻídé">
              <a:extLst>
                <a:ext uri="{FF2B5EF4-FFF2-40B4-BE49-F238E27FC236}">
                  <a16:creationId xmlns:a16="http://schemas.microsoft.com/office/drawing/2014/main" id="{F0AC6C65-28DD-4EA9-974B-4EAFF30DE597}"/>
                </a:ext>
              </a:extLst>
            </p:cNvPr>
            <p:cNvSpPr/>
            <p:nvPr/>
          </p:nvSpPr>
          <p:spPr>
            <a:xfrm>
              <a:off x="7202905" y="3063495"/>
              <a:ext cx="822599" cy="822598"/>
            </a:xfrm>
            <a:prstGeom prst="ellipse">
              <a:avLst/>
            </a:prstGeom>
            <a:solidFill>
              <a:srgbClr val="EAB908"/>
            </a:solidFill>
            <a:ln w="57150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dirty="0">
                <a:cs typeface="+mn-ea"/>
                <a:sym typeface="+mn-lt"/>
              </a:endParaRPr>
            </a:p>
          </p:txBody>
        </p:sp>
        <p:sp>
          <p:nvSpPr>
            <p:cNvPr id="45" name="íṣ1îḋê">
              <a:extLst>
                <a:ext uri="{FF2B5EF4-FFF2-40B4-BE49-F238E27FC236}">
                  <a16:creationId xmlns:a16="http://schemas.microsoft.com/office/drawing/2014/main" id="{53758D6D-9A9C-4ECC-9B26-D138FB3C2891}"/>
                </a:ext>
              </a:extLst>
            </p:cNvPr>
            <p:cNvSpPr/>
            <p:nvPr/>
          </p:nvSpPr>
          <p:spPr>
            <a:xfrm>
              <a:off x="7396502" y="3260587"/>
              <a:ext cx="435404" cy="428414"/>
            </a:xfrm>
            <a:custGeom>
              <a:avLst/>
              <a:gdLst>
                <a:gd name="connsiteX0" fmla="*/ 396980 w 599394"/>
                <a:gd name="connsiteY0" fmla="*/ 411566 h 589770"/>
                <a:gd name="connsiteX1" fmla="*/ 485009 w 599394"/>
                <a:gd name="connsiteY1" fmla="*/ 411566 h 589770"/>
                <a:gd name="connsiteX2" fmla="*/ 485009 w 599394"/>
                <a:gd name="connsiteY2" fmla="*/ 499521 h 589770"/>
                <a:gd name="connsiteX3" fmla="*/ 396980 w 599394"/>
                <a:gd name="connsiteY3" fmla="*/ 499521 h 589770"/>
                <a:gd name="connsiteX4" fmla="*/ 255424 w 599394"/>
                <a:gd name="connsiteY4" fmla="*/ 411566 h 589770"/>
                <a:gd name="connsiteX5" fmla="*/ 343453 w 599394"/>
                <a:gd name="connsiteY5" fmla="*/ 411566 h 589770"/>
                <a:gd name="connsiteX6" fmla="*/ 343453 w 599394"/>
                <a:gd name="connsiteY6" fmla="*/ 499521 h 589770"/>
                <a:gd name="connsiteX7" fmla="*/ 255424 w 599394"/>
                <a:gd name="connsiteY7" fmla="*/ 499521 h 589770"/>
                <a:gd name="connsiteX8" fmla="*/ 114311 w 599394"/>
                <a:gd name="connsiteY8" fmla="*/ 411566 h 589770"/>
                <a:gd name="connsiteX9" fmla="*/ 202414 w 599394"/>
                <a:gd name="connsiteY9" fmla="*/ 411566 h 589770"/>
                <a:gd name="connsiteX10" fmla="*/ 202414 w 599394"/>
                <a:gd name="connsiteY10" fmla="*/ 499521 h 589770"/>
                <a:gd name="connsiteX11" fmla="*/ 114311 w 599394"/>
                <a:gd name="connsiteY11" fmla="*/ 499521 h 589770"/>
                <a:gd name="connsiteX12" fmla="*/ 396980 w 599394"/>
                <a:gd name="connsiteY12" fmla="*/ 289110 h 589770"/>
                <a:gd name="connsiteX13" fmla="*/ 485009 w 599394"/>
                <a:gd name="connsiteY13" fmla="*/ 289110 h 589770"/>
                <a:gd name="connsiteX14" fmla="*/ 485009 w 599394"/>
                <a:gd name="connsiteY14" fmla="*/ 377065 h 589770"/>
                <a:gd name="connsiteX15" fmla="*/ 396980 w 599394"/>
                <a:gd name="connsiteY15" fmla="*/ 377065 h 589770"/>
                <a:gd name="connsiteX16" fmla="*/ 255424 w 599394"/>
                <a:gd name="connsiteY16" fmla="*/ 289110 h 589770"/>
                <a:gd name="connsiteX17" fmla="*/ 343453 w 599394"/>
                <a:gd name="connsiteY17" fmla="*/ 289110 h 589770"/>
                <a:gd name="connsiteX18" fmla="*/ 343453 w 599394"/>
                <a:gd name="connsiteY18" fmla="*/ 377065 h 589770"/>
                <a:gd name="connsiteX19" fmla="*/ 255424 w 599394"/>
                <a:gd name="connsiteY19" fmla="*/ 377065 h 589770"/>
                <a:gd name="connsiteX20" fmla="*/ 114311 w 599394"/>
                <a:gd name="connsiteY20" fmla="*/ 289110 h 589770"/>
                <a:gd name="connsiteX21" fmla="*/ 202414 w 599394"/>
                <a:gd name="connsiteY21" fmla="*/ 289110 h 589770"/>
                <a:gd name="connsiteX22" fmla="*/ 202414 w 599394"/>
                <a:gd name="connsiteY22" fmla="*/ 377065 h 589770"/>
                <a:gd name="connsiteX23" fmla="*/ 114311 w 599394"/>
                <a:gd name="connsiteY23" fmla="*/ 377065 h 589770"/>
                <a:gd name="connsiteX24" fmla="*/ 73311 w 599394"/>
                <a:gd name="connsiteY24" fmla="*/ 262427 h 589770"/>
                <a:gd name="connsiteX25" fmla="*/ 64089 w 599394"/>
                <a:gd name="connsiteY25" fmla="*/ 271635 h 589770"/>
                <a:gd name="connsiteX26" fmla="*/ 64089 w 599394"/>
                <a:gd name="connsiteY26" fmla="*/ 517027 h 589770"/>
                <a:gd name="connsiteX27" fmla="*/ 73311 w 599394"/>
                <a:gd name="connsiteY27" fmla="*/ 526235 h 589770"/>
                <a:gd name="connsiteX28" fmla="*/ 526083 w 599394"/>
                <a:gd name="connsiteY28" fmla="*/ 526235 h 589770"/>
                <a:gd name="connsiteX29" fmla="*/ 535305 w 599394"/>
                <a:gd name="connsiteY29" fmla="*/ 517027 h 589770"/>
                <a:gd name="connsiteX30" fmla="*/ 535305 w 599394"/>
                <a:gd name="connsiteY30" fmla="*/ 271635 h 589770"/>
                <a:gd name="connsiteX31" fmla="*/ 526083 w 599394"/>
                <a:gd name="connsiteY31" fmla="*/ 262427 h 589770"/>
                <a:gd name="connsiteX32" fmla="*/ 437558 w 599394"/>
                <a:gd name="connsiteY32" fmla="*/ 35911 h 589770"/>
                <a:gd name="connsiteX33" fmla="*/ 428336 w 599394"/>
                <a:gd name="connsiteY33" fmla="*/ 45119 h 589770"/>
                <a:gd name="connsiteX34" fmla="*/ 428336 w 599394"/>
                <a:gd name="connsiteY34" fmla="*/ 169887 h 589770"/>
                <a:gd name="connsiteX35" fmla="*/ 437558 w 599394"/>
                <a:gd name="connsiteY35" fmla="*/ 179095 h 589770"/>
                <a:gd name="connsiteX36" fmla="*/ 473982 w 599394"/>
                <a:gd name="connsiteY36" fmla="*/ 179095 h 589770"/>
                <a:gd name="connsiteX37" fmla="*/ 483204 w 599394"/>
                <a:gd name="connsiteY37" fmla="*/ 169887 h 589770"/>
                <a:gd name="connsiteX38" fmla="*/ 483204 w 599394"/>
                <a:gd name="connsiteY38" fmla="*/ 45119 h 589770"/>
                <a:gd name="connsiteX39" fmla="*/ 473982 w 599394"/>
                <a:gd name="connsiteY39" fmla="*/ 35911 h 589770"/>
                <a:gd name="connsiteX40" fmla="*/ 125412 w 599394"/>
                <a:gd name="connsiteY40" fmla="*/ 35911 h 589770"/>
                <a:gd name="connsiteX41" fmla="*/ 116190 w 599394"/>
                <a:gd name="connsiteY41" fmla="*/ 45119 h 589770"/>
                <a:gd name="connsiteX42" fmla="*/ 116190 w 599394"/>
                <a:gd name="connsiteY42" fmla="*/ 169887 h 589770"/>
                <a:gd name="connsiteX43" fmla="*/ 125412 w 599394"/>
                <a:gd name="connsiteY43" fmla="*/ 179095 h 589770"/>
                <a:gd name="connsiteX44" fmla="*/ 161836 w 599394"/>
                <a:gd name="connsiteY44" fmla="*/ 179095 h 589770"/>
                <a:gd name="connsiteX45" fmla="*/ 171058 w 599394"/>
                <a:gd name="connsiteY45" fmla="*/ 169887 h 589770"/>
                <a:gd name="connsiteX46" fmla="*/ 171058 w 599394"/>
                <a:gd name="connsiteY46" fmla="*/ 45119 h 589770"/>
                <a:gd name="connsiteX47" fmla="*/ 161836 w 599394"/>
                <a:gd name="connsiteY47" fmla="*/ 35911 h 589770"/>
                <a:gd name="connsiteX48" fmla="*/ 92676 w 599394"/>
                <a:gd name="connsiteY48" fmla="*/ 0 h 589770"/>
                <a:gd name="connsiteX49" fmla="*/ 194573 w 599394"/>
                <a:gd name="connsiteY49" fmla="*/ 0 h 589770"/>
                <a:gd name="connsiteX50" fmla="*/ 207021 w 599394"/>
                <a:gd name="connsiteY50" fmla="*/ 12431 h 589770"/>
                <a:gd name="connsiteX51" fmla="*/ 207021 w 599394"/>
                <a:gd name="connsiteY51" fmla="*/ 84713 h 589770"/>
                <a:gd name="connsiteX52" fmla="*/ 392373 w 599394"/>
                <a:gd name="connsiteY52" fmla="*/ 84713 h 589770"/>
                <a:gd name="connsiteX53" fmla="*/ 392373 w 599394"/>
                <a:gd name="connsiteY53" fmla="*/ 12431 h 589770"/>
                <a:gd name="connsiteX54" fmla="*/ 404360 w 599394"/>
                <a:gd name="connsiteY54" fmla="*/ 0 h 589770"/>
                <a:gd name="connsiteX55" fmla="*/ 506718 w 599394"/>
                <a:gd name="connsiteY55" fmla="*/ 0 h 589770"/>
                <a:gd name="connsiteX56" fmla="*/ 519167 w 599394"/>
                <a:gd name="connsiteY56" fmla="*/ 12431 h 589770"/>
                <a:gd name="connsiteX57" fmla="*/ 519167 w 599394"/>
                <a:gd name="connsiteY57" fmla="*/ 84713 h 589770"/>
                <a:gd name="connsiteX58" fmla="*/ 586945 w 599394"/>
                <a:gd name="connsiteY58" fmla="*/ 84713 h 589770"/>
                <a:gd name="connsiteX59" fmla="*/ 599394 w 599394"/>
                <a:gd name="connsiteY59" fmla="*/ 97144 h 589770"/>
                <a:gd name="connsiteX60" fmla="*/ 599394 w 599394"/>
                <a:gd name="connsiteY60" fmla="*/ 577800 h 589770"/>
                <a:gd name="connsiteX61" fmla="*/ 586945 w 599394"/>
                <a:gd name="connsiteY61" fmla="*/ 589770 h 589770"/>
                <a:gd name="connsiteX62" fmla="*/ 12449 w 599394"/>
                <a:gd name="connsiteY62" fmla="*/ 589770 h 589770"/>
                <a:gd name="connsiteX63" fmla="*/ 0 w 599394"/>
                <a:gd name="connsiteY63" fmla="*/ 577800 h 589770"/>
                <a:gd name="connsiteX64" fmla="*/ 0 w 599394"/>
                <a:gd name="connsiteY64" fmla="*/ 97144 h 589770"/>
                <a:gd name="connsiteX65" fmla="*/ 12449 w 599394"/>
                <a:gd name="connsiteY65" fmla="*/ 84713 h 589770"/>
                <a:gd name="connsiteX66" fmla="*/ 80227 w 599394"/>
                <a:gd name="connsiteY66" fmla="*/ 84713 h 589770"/>
                <a:gd name="connsiteX67" fmla="*/ 80227 w 599394"/>
                <a:gd name="connsiteY67" fmla="*/ 12431 h 589770"/>
                <a:gd name="connsiteX68" fmla="*/ 92676 w 599394"/>
                <a:gd name="connsiteY68" fmla="*/ 0 h 58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99394" h="589770">
                  <a:moveTo>
                    <a:pt x="396980" y="411566"/>
                  </a:moveTo>
                  <a:lnTo>
                    <a:pt x="485009" y="411566"/>
                  </a:lnTo>
                  <a:lnTo>
                    <a:pt x="485009" y="499521"/>
                  </a:lnTo>
                  <a:lnTo>
                    <a:pt x="396980" y="499521"/>
                  </a:lnTo>
                  <a:close/>
                  <a:moveTo>
                    <a:pt x="255424" y="411566"/>
                  </a:moveTo>
                  <a:lnTo>
                    <a:pt x="343453" y="411566"/>
                  </a:lnTo>
                  <a:lnTo>
                    <a:pt x="343453" y="499521"/>
                  </a:lnTo>
                  <a:lnTo>
                    <a:pt x="255424" y="499521"/>
                  </a:lnTo>
                  <a:close/>
                  <a:moveTo>
                    <a:pt x="114311" y="411566"/>
                  </a:moveTo>
                  <a:lnTo>
                    <a:pt x="202414" y="411566"/>
                  </a:lnTo>
                  <a:lnTo>
                    <a:pt x="202414" y="499521"/>
                  </a:lnTo>
                  <a:lnTo>
                    <a:pt x="114311" y="499521"/>
                  </a:lnTo>
                  <a:close/>
                  <a:moveTo>
                    <a:pt x="396980" y="289110"/>
                  </a:moveTo>
                  <a:lnTo>
                    <a:pt x="485009" y="289110"/>
                  </a:lnTo>
                  <a:lnTo>
                    <a:pt x="485009" y="377065"/>
                  </a:lnTo>
                  <a:lnTo>
                    <a:pt x="396980" y="377065"/>
                  </a:lnTo>
                  <a:close/>
                  <a:moveTo>
                    <a:pt x="255424" y="289110"/>
                  </a:moveTo>
                  <a:lnTo>
                    <a:pt x="343453" y="289110"/>
                  </a:lnTo>
                  <a:lnTo>
                    <a:pt x="343453" y="377065"/>
                  </a:lnTo>
                  <a:lnTo>
                    <a:pt x="255424" y="377065"/>
                  </a:lnTo>
                  <a:close/>
                  <a:moveTo>
                    <a:pt x="114311" y="289110"/>
                  </a:moveTo>
                  <a:lnTo>
                    <a:pt x="202414" y="289110"/>
                  </a:lnTo>
                  <a:lnTo>
                    <a:pt x="202414" y="377065"/>
                  </a:lnTo>
                  <a:lnTo>
                    <a:pt x="114311" y="377065"/>
                  </a:lnTo>
                  <a:close/>
                  <a:moveTo>
                    <a:pt x="73311" y="262427"/>
                  </a:moveTo>
                  <a:cubicBezTo>
                    <a:pt x="68239" y="262427"/>
                    <a:pt x="64089" y="266570"/>
                    <a:pt x="64089" y="271635"/>
                  </a:cubicBezTo>
                  <a:lnTo>
                    <a:pt x="64089" y="517027"/>
                  </a:lnTo>
                  <a:cubicBezTo>
                    <a:pt x="64089" y="522091"/>
                    <a:pt x="68239" y="526235"/>
                    <a:pt x="73311" y="526235"/>
                  </a:cubicBezTo>
                  <a:lnTo>
                    <a:pt x="526083" y="526235"/>
                  </a:lnTo>
                  <a:cubicBezTo>
                    <a:pt x="531155" y="526235"/>
                    <a:pt x="535305" y="522091"/>
                    <a:pt x="535305" y="517027"/>
                  </a:cubicBezTo>
                  <a:lnTo>
                    <a:pt x="535305" y="271635"/>
                  </a:lnTo>
                  <a:cubicBezTo>
                    <a:pt x="535305" y="266570"/>
                    <a:pt x="531155" y="262427"/>
                    <a:pt x="526083" y="262427"/>
                  </a:cubicBezTo>
                  <a:close/>
                  <a:moveTo>
                    <a:pt x="437558" y="35911"/>
                  </a:moveTo>
                  <a:cubicBezTo>
                    <a:pt x="432486" y="35911"/>
                    <a:pt x="428336" y="40055"/>
                    <a:pt x="428336" y="45119"/>
                  </a:cubicBezTo>
                  <a:lnTo>
                    <a:pt x="428336" y="169887"/>
                  </a:lnTo>
                  <a:cubicBezTo>
                    <a:pt x="428336" y="174951"/>
                    <a:pt x="432486" y="179095"/>
                    <a:pt x="437558" y="179095"/>
                  </a:cubicBezTo>
                  <a:lnTo>
                    <a:pt x="473982" y="179095"/>
                  </a:lnTo>
                  <a:cubicBezTo>
                    <a:pt x="479054" y="179095"/>
                    <a:pt x="483204" y="174951"/>
                    <a:pt x="483204" y="169887"/>
                  </a:cubicBezTo>
                  <a:lnTo>
                    <a:pt x="483204" y="45119"/>
                  </a:lnTo>
                  <a:cubicBezTo>
                    <a:pt x="483204" y="40055"/>
                    <a:pt x="479054" y="35911"/>
                    <a:pt x="473982" y="35911"/>
                  </a:cubicBezTo>
                  <a:close/>
                  <a:moveTo>
                    <a:pt x="125412" y="35911"/>
                  </a:moveTo>
                  <a:cubicBezTo>
                    <a:pt x="120340" y="35911"/>
                    <a:pt x="116190" y="40055"/>
                    <a:pt x="116190" y="45119"/>
                  </a:cubicBezTo>
                  <a:lnTo>
                    <a:pt x="116190" y="169887"/>
                  </a:lnTo>
                  <a:cubicBezTo>
                    <a:pt x="116190" y="174951"/>
                    <a:pt x="120340" y="179095"/>
                    <a:pt x="125412" y="179095"/>
                  </a:cubicBezTo>
                  <a:lnTo>
                    <a:pt x="161836" y="179095"/>
                  </a:lnTo>
                  <a:cubicBezTo>
                    <a:pt x="166908" y="179095"/>
                    <a:pt x="171058" y="174951"/>
                    <a:pt x="171058" y="169887"/>
                  </a:cubicBezTo>
                  <a:lnTo>
                    <a:pt x="171058" y="45119"/>
                  </a:lnTo>
                  <a:cubicBezTo>
                    <a:pt x="171058" y="40055"/>
                    <a:pt x="166908" y="35911"/>
                    <a:pt x="161836" y="35911"/>
                  </a:cubicBezTo>
                  <a:close/>
                  <a:moveTo>
                    <a:pt x="92676" y="0"/>
                  </a:moveTo>
                  <a:lnTo>
                    <a:pt x="194573" y="0"/>
                  </a:lnTo>
                  <a:cubicBezTo>
                    <a:pt x="201489" y="0"/>
                    <a:pt x="207021" y="5525"/>
                    <a:pt x="207021" y="12431"/>
                  </a:cubicBezTo>
                  <a:lnTo>
                    <a:pt x="207021" y="84713"/>
                  </a:lnTo>
                  <a:lnTo>
                    <a:pt x="392373" y="84713"/>
                  </a:lnTo>
                  <a:lnTo>
                    <a:pt x="392373" y="12431"/>
                  </a:lnTo>
                  <a:cubicBezTo>
                    <a:pt x="392373" y="5525"/>
                    <a:pt x="397905" y="0"/>
                    <a:pt x="404360" y="0"/>
                  </a:cubicBezTo>
                  <a:lnTo>
                    <a:pt x="506718" y="0"/>
                  </a:lnTo>
                  <a:cubicBezTo>
                    <a:pt x="513635" y="0"/>
                    <a:pt x="519167" y="5525"/>
                    <a:pt x="519167" y="12431"/>
                  </a:cubicBezTo>
                  <a:lnTo>
                    <a:pt x="519167" y="84713"/>
                  </a:lnTo>
                  <a:lnTo>
                    <a:pt x="586945" y="84713"/>
                  </a:lnTo>
                  <a:cubicBezTo>
                    <a:pt x="593861" y="84713"/>
                    <a:pt x="599394" y="90238"/>
                    <a:pt x="599394" y="97144"/>
                  </a:cubicBezTo>
                  <a:lnTo>
                    <a:pt x="599394" y="577800"/>
                  </a:lnTo>
                  <a:cubicBezTo>
                    <a:pt x="599394" y="584245"/>
                    <a:pt x="593861" y="589770"/>
                    <a:pt x="586945" y="589770"/>
                  </a:cubicBezTo>
                  <a:lnTo>
                    <a:pt x="12449" y="589770"/>
                  </a:lnTo>
                  <a:cubicBezTo>
                    <a:pt x="5533" y="589770"/>
                    <a:pt x="0" y="584245"/>
                    <a:pt x="0" y="577800"/>
                  </a:cubicBezTo>
                  <a:lnTo>
                    <a:pt x="0" y="97144"/>
                  </a:lnTo>
                  <a:cubicBezTo>
                    <a:pt x="0" y="90238"/>
                    <a:pt x="5533" y="84713"/>
                    <a:pt x="12449" y="84713"/>
                  </a:cubicBezTo>
                  <a:lnTo>
                    <a:pt x="80227" y="84713"/>
                  </a:lnTo>
                  <a:lnTo>
                    <a:pt x="80227" y="12431"/>
                  </a:lnTo>
                  <a:cubicBezTo>
                    <a:pt x="80227" y="5525"/>
                    <a:pt x="85759" y="0"/>
                    <a:pt x="92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 defTabSz="97790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200" kern="1200">
                <a:cs typeface="+mn-ea"/>
                <a:sym typeface="+mn-lt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8F7B5D6-B147-47F7-AD63-BB7F2B429C01}"/>
              </a:ext>
            </a:extLst>
          </p:cNvPr>
          <p:cNvGrpSpPr/>
          <p:nvPr/>
        </p:nvGrpSpPr>
        <p:grpSpPr>
          <a:xfrm>
            <a:off x="4350391" y="3916032"/>
            <a:ext cx="822599" cy="822598"/>
            <a:chOff x="4184116" y="3781412"/>
            <a:chExt cx="822599" cy="822598"/>
          </a:xfrm>
        </p:grpSpPr>
        <p:sp>
          <p:nvSpPr>
            <p:cNvPr id="15" name="i$ḷïḋé">
              <a:extLst>
                <a:ext uri="{FF2B5EF4-FFF2-40B4-BE49-F238E27FC236}">
                  <a16:creationId xmlns:a16="http://schemas.microsoft.com/office/drawing/2014/main" id="{36FBF5F8-455B-4334-83AF-340EEAA6FEC0}"/>
                </a:ext>
              </a:extLst>
            </p:cNvPr>
            <p:cNvSpPr/>
            <p:nvPr/>
          </p:nvSpPr>
          <p:spPr>
            <a:xfrm>
              <a:off x="4184116" y="3781412"/>
              <a:ext cx="822599" cy="822598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dirty="0">
                <a:cs typeface="+mn-ea"/>
                <a:sym typeface="+mn-lt"/>
              </a:endParaRPr>
            </a:p>
          </p:txBody>
        </p:sp>
        <p:sp>
          <p:nvSpPr>
            <p:cNvPr id="44" name="i$liďê">
              <a:extLst>
                <a:ext uri="{FF2B5EF4-FFF2-40B4-BE49-F238E27FC236}">
                  <a16:creationId xmlns:a16="http://schemas.microsoft.com/office/drawing/2014/main" id="{EB17FA79-3543-4EE5-BD7E-A1BD0FE399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66184" y="3922711"/>
              <a:ext cx="458463" cy="540000"/>
            </a:xfrm>
            <a:custGeom>
              <a:avLst/>
              <a:gdLst>
                <a:gd name="T0" fmla="*/ 94 w 294"/>
                <a:gd name="T1" fmla="*/ 150 h 347"/>
                <a:gd name="T2" fmla="*/ 94 w 294"/>
                <a:gd name="T3" fmla="*/ 277 h 347"/>
                <a:gd name="T4" fmla="*/ 85 w 294"/>
                <a:gd name="T5" fmla="*/ 290 h 347"/>
                <a:gd name="T6" fmla="*/ 58 w 294"/>
                <a:gd name="T7" fmla="*/ 294 h 347"/>
                <a:gd name="T8" fmla="*/ 58 w 294"/>
                <a:gd name="T9" fmla="*/ 294 h 347"/>
                <a:gd name="T10" fmla="*/ 1 w 294"/>
                <a:gd name="T11" fmla="*/ 257 h 347"/>
                <a:gd name="T12" fmla="*/ 1 w 294"/>
                <a:gd name="T13" fmla="*/ 94 h 347"/>
                <a:gd name="T14" fmla="*/ 23 w 294"/>
                <a:gd name="T15" fmla="*/ 52 h 347"/>
                <a:gd name="T16" fmla="*/ 100 w 294"/>
                <a:gd name="T17" fmla="*/ 3 h 347"/>
                <a:gd name="T18" fmla="*/ 114 w 294"/>
                <a:gd name="T19" fmla="*/ 3 h 347"/>
                <a:gd name="T20" fmla="*/ 121 w 294"/>
                <a:gd name="T21" fmla="*/ 14 h 347"/>
                <a:gd name="T22" fmla="*/ 121 w 294"/>
                <a:gd name="T23" fmla="*/ 34 h 347"/>
                <a:gd name="T24" fmla="*/ 107 w 294"/>
                <a:gd name="T25" fmla="*/ 47 h 347"/>
                <a:gd name="T26" fmla="*/ 95 w 294"/>
                <a:gd name="T27" fmla="*/ 38 h 347"/>
                <a:gd name="T28" fmla="*/ 36 w 294"/>
                <a:gd name="T29" fmla="*/ 76 h 347"/>
                <a:gd name="T30" fmla="*/ 27 w 294"/>
                <a:gd name="T31" fmla="*/ 90 h 347"/>
                <a:gd name="T32" fmla="*/ 30 w 294"/>
                <a:gd name="T33" fmla="*/ 100 h 347"/>
                <a:gd name="T34" fmla="*/ 68 w 294"/>
                <a:gd name="T35" fmla="*/ 92 h 347"/>
                <a:gd name="T36" fmla="*/ 166 w 294"/>
                <a:gd name="T37" fmla="*/ 27 h 347"/>
                <a:gd name="T38" fmla="*/ 180 w 294"/>
                <a:gd name="T39" fmla="*/ 26 h 347"/>
                <a:gd name="T40" fmla="*/ 187 w 294"/>
                <a:gd name="T41" fmla="*/ 38 h 347"/>
                <a:gd name="T42" fmla="*/ 187 w 294"/>
                <a:gd name="T43" fmla="*/ 40 h 347"/>
                <a:gd name="T44" fmla="*/ 181 w 294"/>
                <a:gd name="T45" fmla="*/ 51 h 347"/>
                <a:gd name="T46" fmla="*/ 120 w 294"/>
                <a:gd name="T47" fmla="*/ 92 h 347"/>
                <a:gd name="T48" fmla="*/ 94 w 294"/>
                <a:gd name="T49" fmla="*/ 150 h 347"/>
                <a:gd name="T50" fmla="*/ 294 w 294"/>
                <a:gd name="T51" fmla="*/ 85 h 347"/>
                <a:gd name="T52" fmla="*/ 294 w 294"/>
                <a:gd name="T53" fmla="*/ 258 h 347"/>
                <a:gd name="T54" fmla="*/ 288 w 294"/>
                <a:gd name="T55" fmla="*/ 270 h 347"/>
                <a:gd name="T56" fmla="*/ 194 w 294"/>
                <a:gd name="T57" fmla="*/ 340 h 347"/>
                <a:gd name="T58" fmla="*/ 164 w 294"/>
                <a:gd name="T59" fmla="*/ 347 h 347"/>
                <a:gd name="T60" fmla="*/ 107 w 294"/>
                <a:gd name="T61" fmla="*/ 307 h 347"/>
                <a:gd name="T62" fmla="*/ 107 w 294"/>
                <a:gd name="T63" fmla="*/ 146 h 347"/>
                <a:gd name="T64" fmla="*/ 107 w 294"/>
                <a:gd name="T65" fmla="*/ 142 h 347"/>
                <a:gd name="T66" fmla="*/ 107 w 294"/>
                <a:gd name="T67" fmla="*/ 142 h 347"/>
                <a:gd name="T68" fmla="*/ 128 w 294"/>
                <a:gd name="T69" fmla="*/ 105 h 347"/>
                <a:gd name="T70" fmla="*/ 206 w 294"/>
                <a:gd name="T71" fmla="*/ 50 h 347"/>
                <a:gd name="T72" fmla="*/ 220 w 294"/>
                <a:gd name="T73" fmla="*/ 50 h 347"/>
                <a:gd name="T74" fmla="*/ 227 w 294"/>
                <a:gd name="T75" fmla="*/ 61 h 347"/>
                <a:gd name="T76" fmla="*/ 227 w 294"/>
                <a:gd name="T77" fmla="*/ 81 h 347"/>
                <a:gd name="T78" fmla="*/ 214 w 294"/>
                <a:gd name="T79" fmla="*/ 94 h 347"/>
                <a:gd name="T80" fmla="*/ 202 w 294"/>
                <a:gd name="T81" fmla="*/ 86 h 347"/>
                <a:gd name="T82" fmla="*/ 144 w 294"/>
                <a:gd name="T83" fmla="*/ 126 h 347"/>
                <a:gd name="T84" fmla="*/ 134 w 294"/>
                <a:gd name="T85" fmla="*/ 142 h 347"/>
                <a:gd name="T86" fmla="*/ 137 w 294"/>
                <a:gd name="T87" fmla="*/ 151 h 347"/>
                <a:gd name="T88" fmla="*/ 180 w 294"/>
                <a:gd name="T89" fmla="*/ 144 h 347"/>
                <a:gd name="T90" fmla="*/ 272 w 294"/>
                <a:gd name="T91" fmla="*/ 75 h 347"/>
                <a:gd name="T92" fmla="*/ 286 w 294"/>
                <a:gd name="T93" fmla="*/ 73 h 347"/>
                <a:gd name="T94" fmla="*/ 294 w 294"/>
                <a:gd name="T95" fmla="*/ 85 h 347"/>
                <a:gd name="T96" fmla="*/ 267 w 294"/>
                <a:gd name="T97" fmla="*/ 145 h 347"/>
                <a:gd name="T98" fmla="*/ 201 w 294"/>
                <a:gd name="T99" fmla="*/ 196 h 347"/>
                <a:gd name="T100" fmla="*/ 201 w 294"/>
                <a:gd name="T101" fmla="*/ 223 h 347"/>
                <a:gd name="T102" fmla="*/ 267 w 294"/>
                <a:gd name="T103" fmla="*/ 171 h 347"/>
                <a:gd name="T104" fmla="*/ 267 w 294"/>
                <a:gd name="T105" fmla="*/ 145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4" h="347">
                  <a:moveTo>
                    <a:pt x="94" y="150"/>
                  </a:moveTo>
                  <a:lnTo>
                    <a:pt x="94" y="277"/>
                  </a:lnTo>
                  <a:cubicBezTo>
                    <a:pt x="94" y="283"/>
                    <a:pt x="90" y="288"/>
                    <a:pt x="85" y="290"/>
                  </a:cubicBezTo>
                  <a:cubicBezTo>
                    <a:pt x="77" y="292"/>
                    <a:pt x="68" y="294"/>
                    <a:pt x="58" y="294"/>
                  </a:cubicBezTo>
                  <a:lnTo>
                    <a:pt x="58" y="294"/>
                  </a:lnTo>
                  <a:cubicBezTo>
                    <a:pt x="31" y="294"/>
                    <a:pt x="1" y="282"/>
                    <a:pt x="1" y="257"/>
                  </a:cubicBezTo>
                  <a:lnTo>
                    <a:pt x="1" y="94"/>
                  </a:lnTo>
                  <a:cubicBezTo>
                    <a:pt x="0" y="83"/>
                    <a:pt x="4" y="63"/>
                    <a:pt x="23" y="52"/>
                  </a:cubicBezTo>
                  <a:cubicBezTo>
                    <a:pt x="31" y="47"/>
                    <a:pt x="77" y="18"/>
                    <a:pt x="100" y="3"/>
                  </a:cubicBezTo>
                  <a:cubicBezTo>
                    <a:pt x="104" y="0"/>
                    <a:pt x="109" y="0"/>
                    <a:pt x="114" y="3"/>
                  </a:cubicBezTo>
                  <a:cubicBezTo>
                    <a:pt x="118" y="5"/>
                    <a:pt x="121" y="9"/>
                    <a:pt x="121" y="14"/>
                  </a:cubicBezTo>
                  <a:lnTo>
                    <a:pt x="121" y="34"/>
                  </a:lnTo>
                  <a:cubicBezTo>
                    <a:pt x="121" y="41"/>
                    <a:pt x="115" y="47"/>
                    <a:pt x="107" y="47"/>
                  </a:cubicBezTo>
                  <a:cubicBezTo>
                    <a:pt x="101" y="47"/>
                    <a:pt x="97" y="43"/>
                    <a:pt x="95" y="38"/>
                  </a:cubicBezTo>
                  <a:cubicBezTo>
                    <a:pt x="74" y="52"/>
                    <a:pt x="43" y="71"/>
                    <a:pt x="36" y="76"/>
                  </a:cubicBezTo>
                  <a:cubicBezTo>
                    <a:pt x="29" y="79"/>
                    <a:pt x="27" y="87"/>
                    <a:pt x="27" y="90"/>
                  </a:cubicBezTo>
                  <a:cubicBezTo>
                    <a:pt x="27" y="95"/>
                    <a:pt x="28" y="98"/>
                    <a:pt x="30" y="100"/>
                  </a:cubicBezTo>
                  <a:cubicBezTo>
                    <a:pt x="35" y="105"/>
                    <a:pt x="50" y="102"/>
                    <a:pt x="68" y="92"/>
                  </a:cubicBezTo>
                  <a:cubicBezTo>
                    <a:pt x="84" y="82"/>
                    <a:pt x="166" y="28"/>
                    <a:pt x="166" y="27"/>
                  </a:cubicBezTo>
                  <a:cubicBezTo>
                    <a:pt x="171" y="24"/>
                    <a:pt x="176" y="24"/>
                    <a:pt x="180" y="26"/>
                  </a:cubicBezTo>
                  <a:cubicBezTo>
                    <a:pt x="184" y="29"/>
                    <a:pt x="187" y="33"/>
                    <a:pt x="187" y="38"/>
                  </a:cubicBezTo>
                  <a:lnTo>
                    <a:pt x="187" y="40"/>
                  </a:lnTo>
                  <a:cubicBezTo>
                    <a:pt x="187" y="44"/>
                    <a:pt x="185" y="48"/>
                    <a:pt x="181" y="51"/>
                  </a:cubicBezTo>
                  <a:cubicBezTo>
                    <a:pt x="181" y="51"/>
                    <a:pt x="125" y="89"/>
                    <a:pt x="120" y="92"/>
                  </a:cubicBezTo>
                  <a:cubicBezTo>
                    <a:pt x="100" y="104"/>
                    <a:pt x="94" y="119"/>
                    <a:pt x="94" y="150"/>
                  </a:cubicBezTo>
                  <a:close/>
                  <a:moveTo>
                    <a:pt x="294" y="85"/>
                  </a:moveTo>
                  <a:lnTo>
                    <a:pt x="294" y="258"/>
                  </a:lnTo>
                  <a:cubicBezTo>
                    <a:pt x="294" y="263"/>
                    <a:pt x="291" y="267"/>
                    <a:pt x="288" y="270"/>
                  </a:cubicBezTo>
                  <a:cubicBezTo>
                    <a:pt x="288" y="270"/>
                    <a:pt x="210" y="330"/>
                    <a:pt x="194" y="340"/>
                  </a:cubicBezTo>
                  <a:cubicBezTo>
                    <a:pt x="186" y="345"/>
                    <a:pt x="175" y="347"/>
                    <a:pt x="164" y="347"/>
                  </a:cubicBezTo>
                  <a:cubicBezTo>
                    <a:pt x="136" y="347"/>
                    <a:pt x="107" y="332"/>
                    <a:pt x="107" y="307"/>
                  </a:cubicBezTo>
                  <a:lnTo>
                    <a:pt x="107" y="146"/>
                  </a:lnTo>
                  <a:lnTo>
                    <a:pt x="107" y="142"/>
                  </a:lnTo>
                  <a:cubicBezTo>
                    <a:pt x="107" y="142"/>
                    <a:pt x="107" y="142"/>
                    <a:pt x="107" y="142"/>
                  </a:cubicBezTo>
                  <a:cubicBezTo>
                    <a:pt x="107" y="132"/>
                    <a:pt x="110" y="118"/>
                    <a:pt x="128" y="105"/>
                  </a:cubicBezTo>
                  <a:cubicBezTo>
                    <a:pt x="139" y="97"/>
                    <a:pt x="204" y="52"/>
                    <a:pt x="206" y="50"/>
                  </a:cubicBezTo>
                  <a:cubicBezTo>
                    <a:pt x="210" y="48"/>
                    <a:pt x="216" y="47"/>
                    <a:pt x="220" y="50"/>
                  </a:cubicBezTo>
                  <a:cubicBezTo>
                    <a:pt x="224" y="52"/>
                    <a:pt x="227" y="57"/>
                    <a:pt x="227" y="61"/>
                  </a:cubicBezTo>
                  <a:lnTo>
                    <a:pt x="227" y="81"/>
                  </a:lnTo>
                  <a:cubicBezTo>
                    <a:pt x="227" y="88"/>
                    <a:pt x="221" y="94"/>
                    <a:pt x="214" y="94"/>
                  </a:cubicBezTo>
                  <a:cubicBezTo>
                    <a:pt x="208" y="94"/>
                    <a:pt x="204" y="91"/>
                    <a:pt x="202" y="86"/>
                  </a:cubicBezTo>
                  <a:cubicBezTo>
                    <a:pt x="181" y="100"/>
                    <a:pt x="151" y="121"/>
                    <a:pt x="144" y="126"/>
                  </a:cubicBezTo>
                  <a:cubicBezTo>
                    <a:pt x="135" y="132"/>
                    <a:pt x="134" y="137"/>
                    <a:pt x="134" y="142"/>
                  </a:cubicBezTo>
                  <a:cubicBezTo>
                    <a:pt x="134" y="146"/>
                    <a:pt x="135" y="149"/>
                    <a:pt x="137" y="151"/>
                  </a:cubicBezTo>
                  <a:cubicBezTo>
                    <a:pt x="144" y="157"/>
                    <a:pt x="162" y="155"/>
                    <a:pt x="180" y="144"/>
                  </a:cubicBezTo>
                  <a:cubicBezTo>
                    <a:pt x="194" y="136"/>
                    <a:pt x="251" y="91"/>
                    <a:pt x="272" y="75"/>
                  </a:cubicBezTo>
                  <a:cubicBezTo>
                    <a:pt x="276" y="72"/>
                    <a:pt x="282" y="71"/>
                    <a:pt x="286" y="73"/>
                  </a:cubicBezTo>
                  <a:cubicBezTo>
                    <a:pt x="291" y="76"/>
                    <a:pt x="294" y="80"/>
                    <a:pt x="294" y="85"/>
                  </a:cubicBezTo>
                  <a:close/>
                  <a:moveTo>
                    <a:pt x="267" y="145"/>
                  </a:moveTo>
                  <a:lnTo>
                    <a:pt x="201" y="196"/>
                  </a:lnTo>
                  <a:lnTo>
                    <a:pt x="201" y="223"/>
                  </a:lnTo>
                  <a:lnTo>
                    <a:pt x="267" y="171"/>
                  </a:lnTo>
                  <a:lnTo>
                    <a:pt x="267" y="1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 defTabSz="9779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200" kern="1200"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1A7D629-11BE-4657-B678-F1ABB221DD8C}"/>
              </a:ext>
            </a:extLst>
          </p:cNvPr>
          <p:cNvGrpSpPr/>
          <p:nvPr/>
        </p:nvGrpSpPr>
        <p:grpSpPr>
          <a:xfrm>
            <a:off x="1672327" y="3198115"/>
            <a:ext cx="822599" cy="822598"/>
            <a:chOff x="1672327" y="3063495"/>
            <a:chExt cx="822599" cy="822598"/>
          </a:xfrm>
        </p:grpSpPr>
        <p:sp>
          <p:nvSpPr>
            <p:cNvPr id="21" name="ïṧľíḑè">
              <a:extLst>
                <a:ext uri="{FF2B5EF4-FFF2-40B4-BE49-F238E27FC236}">
                  <a16:creationId xmlns:a16="http://schemas.microsoft.com/office/drawing/2014/main" id="{ADDBAFC2-7A5F-421F-B3D4-828B7424B4DC}"/>
                </a:ext>
              </a:extLst>
            </p:cNvPr>
            <p:cNvSpPr/>
            <p:nvPr/>
          </p:nvSpPr>
          <p:spPr>
            <a:xfrm>
              <a:off x="1672327" y="3063495"/>
              <a:ext cx="822599" cy="822598"/>
            </a:xfrm>
            <a:prstGeom prst="ellipse">
              <a:avLst/>
            </a:prstGeom>
            <a:solidFill>
              <a:srgbClr val="EAB908"/>
            </a:solidFill>
            <a:ln w="57150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dirty="0">
                <a:cs typeface="+mn-ea"/>
                <a:sym typeface="+mn-lt"/>
              </a:endParaRPr>
            </a:p>
          </p:txBody>
        </p:sp>
        <p:sp>
          <p:nvSpPr>
            <p:cNvPr id="48" name="íṣ1íḋê">
              <a:extLst>
                <a:ext uri="{FF2B5EF4-FFF2-40B4-BE49-F238E27FC236}">
                  <a16:creationId xmlns:a16="http://schemas.microsoft.com/office/drawing/2014/main" id="{A8FDBA86-DCB8-481A-92CA-FEAA820FD847}"/>
                </a:ext>
              </a:extLst>
            </p:cNvPr>
            <p:cNvSpPr/>
            <p:nvPr/>
          </p:nvSpPr>
          <p:spPr>
            <a:xfrm>
              <a:off x="1860373" y="3272786"/>
              <a:ext cx="446506" cy="404016"/>
            </a:xfrm>
            <a:custGeom>
              <a:avLst/>
              <a:gdLst>
                <a:gd name="connsiteX0" fmla="*/ 407586 w 606580"/>
                <a:gd name="connsiteY0" fmla="*/ 252695 h 548858"/>
                <a:gd name="connsiteX1" fmla="*/ 502285 w 606580"/>
                <a:gd name="connsiteY1" fmla="*/ 252695 h 548858"/>
                <a:gd name="connsiteX2" fmla="*/ 502285 w 606580"/>
                <a:gd name="connsiteY2" fmla="*/ 346759 h 548858"/>
                <a:gd name="connsiteX3" fmla="*/ 407586 w 606580"/>
                <a:gd name="connsiteY3" fmla="*/ 346759 h 548858"/>
                <a:gd name="connsiteX4" fmla="*/ 104296 w 606580"/>
                <a:gd name="connsiteY4" fmla="*/ 205698 h 548858"/>
                <a:gd name="connsiteX5" fmla="*/ 199065 w 606580"/>
                <a:gd name="connsiteY5" fmla="*/ 205698 h 548858"/>
                <a:gd name="connsiteX6" fmla="*/ 199065 w 606580"/>
                <a:gd name="connsiteY6" fmla="*/ 346758 h 548858"/>
                <a:gd name="connsiteX7" fmla="*/ 104296 w 606580"/>
                <a:gd name="connsiteY7" fmla="*/ 346758 h 548858"/>
                <a:gd name="connsiteX8" fmla="*/ 255870 w 606580"/>
                <a:gd name="connsiteY8" fmla="*/ 96040 h 548858"/>
                <a:gd name="connsiteX9" fmla="*/ 350710 w 606580"/>
                <a:gd name="connsiteY9" fmla="*/ 96040 h 548858"/>
                <a:gd name="connsiteX10" fmla="*/ 350710 w 606580"/>
                <a:gd name="connsiteY10" fmla="*/ 346759 h 548858"/>
                <a:gd name="connsiteX11" fmla="*/ 255870 w 606580"/>
                <a:gd name="connsiteY11" fmla="*/ 346759 h 548858"/>
                <a:gd name="connsiteX12" fmla="*/ 37882 w 606580"/>
                <a:gd name="connsiteY12" fmla="*/ 37913 h 548858"/>
                <a:gd name="connsiteX13" fmla="*/ 37882 w 606580"/>
                <a:gd name="connsiteY13" fmla="*/ 405363 h 548858"/>
                <a:gd name="connsiteX14" fmla="*/ 568698 w 606580"/>
                <a:gd name="connsiteY14" fmla="*/ 405363 h 548858"/>
                <a:gd name="connsiteX15" fmla="*/ 568698 w 606580"/>
                <a:gd name="connsiteY15" fmla="*/ 37913 h 548858"/>
                <a:gd name="connsiteX16" fmla="*/ 18941 w 606580"/>
                <a:gd name="connsiteY16" fmla="*/ 0 h 548858"/>
                <a:gd name="connsiteX17" fmla="*/ 587639 w 606580"/>
                <a:gd name="connsiteY17" fmla="*/ 0 h 548858"/>
                <a:gd name="connsiteX18" fmla="*/ 606580 w 606580"/>
                <a:gd name="connsiteY18" fmla="*/ 18910 h 548858"/>
                <a:gd name="connsiteX19" fmla="*/ 606580 w 606580"/>
                <a:gd name="connsiteY19" fmla="*/ 424274 h 548858"/>
                <a:gd name="connsiteX20" fmla="*/ 587639 w 606580"/>
                <a:gd name="connsiteY20" fmla="*/ 443184 h 548858"/>
                <a:gd name="connsiteX21" fmla="*/ 322278 w 606580"/>
                <a:gd name="connsiteY21" fmla="*/ 443184 h 548858"/>
                <a:gd name="connsiteX22" fmla="*/ 322278 w 606580"/>
                <a:gd name="connsiteY22" fmla="*/ 511038 h 548858"/>
                <a:gd name="connsiteX23" fmla="*/ 450223 w 606580"/>
                <a:gd name="connsiteY23" fmla="*/ 511038 h 548858"/>
                <a:gd name="connsiteX24" fmla="*/ 450223 w 606580"/>
                <a:gd name="connsiteY24" fmla="*/ 548858 h 548858"/>
                <a:gd name="connsiteX25" fmla="*/ 156357 w 606580"/>
                <a:gd name="connsiteY25" fmla="*/ 548858 h 548858"/>
                <a:gd name="connsiteX26" fmla="*/ 156357 w 606580"/>
                <a:gd name="connsiteY26" fmla="*/ 511038 h 548858"/>
                <a:gd name="connsiteX27" fmla="*/ 284302 w 606580"/>
                <a:gd name="connsiteY27" fmla="*/ 511038 h 548858"/>
                <a:gd name="connsiteX28" fmla="*/ 284302 w 606580"/>
                <a:gd name="connsiteY28" fmla="*/ 443184 h 548858"/>
                <a:gd name="connsiteX29" fmla="*/ 18941 w 606580"/>
                <a:gd name="connsiteY29" fmla="*/ 443184 h 548858"/>
                <a:gd name="connsiteX30" fmla="*/ 0 w 606580"/>
                <a:gd name="connsiteY30" fmla="*/ 424274 h 548858"/>
                <a:gd name="connsiteX31" fmla="*/ 0 w 606580"/>
                <a:gd name="connsiteY31" fmla="*/ 18910 h 548858"/>
                <a:gd name="connsiteX32" fmla="*/ 18941 w 606580"/>
                <a:gd name="connsiteY32" fmla="*/ 0 h 5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 defTabSz="9779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200" kern="1200">
                <a:cs typeface="+mn-ea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891C958-4F90-4947-8A34-4A5F7CB3248A}"/>
              </a:ext>
            </a:extLst>
          </p:cNvPr>
          <p:cNvGrpSpPr/>
          <p:nvPr/>
        </p:nvGrpSpPr>
        <p:grpSpPr>
          <a:xfrm>
            <a:off x="9706518" y="3916032"/>
            <a:ext cx="822599" cy="822598"/>
            <a:chOff x="9764010" y="3096941"/>
            <a:chExt cx="822599" cy="822598"/>
          </a:xfrm>
        </p:grpSpPr>
        <p:sp>
          <p:nvSpPr>
            <p:cNvPr id="19" name="îṩ1íḓê">
              <a:extLst>
                <a:ext uri="{FF2B5EF4-FFF2-40B4-BE49-F238E27FC236}">
                  <a16:creationId xmlns:a16="http://schemas.microsoft.com/office/drawing/2014/main" id="{C153FF28-E364-43F4-AC6A-B51D764C76A8}"/>
                </a:ext>
              </a:extLst>
            </p:cNvPr>
            <p:cNvSpPr/>
            <p:nvPr/>
          </p:nvSpPr>
          <p:spPr>
            <a:xfrm>
              <a:off x="9764010" y="3096941"/>
              <a:ext cx="822599" cy="822598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investments-files_73192">
              <a:extLst>
                <a:ext uri="{FF2B5EF4-FFF2-40B4-BE49-F238E27FC236}">
                  <a16:creationId xmlns:a16="http://schemas.microsoft.com/office/drawing/2014/main" id="{2A16B376-1F73-4CCD-B50B-8718CC680D1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80271" y="3256240"/>
              <a:ext cx="390076" cy="504000"/>
            </a:xfrm>
            <a:custGeom>
              <a:avLst/>
              <a:gdLst>
                <a:gd name="T0" fmla="*/ 1610 w 1986"/>
                <a:gd name="T1" fmla="*/ 2299 h 2570"/>
                <a:gd name="T2" fmla="*/ 1610 w 1986"/>
                <a:gd name="T3" fmla="*/ 2493 h 2570"/>
                <a:gd name="T4" fmla="*/ 1533 w 1986"/>
                <a:gd name="T5" fmla="*/ 2570 h 2570"/>
                <a:gd name="T6" fmla="*/ 77 w 1986"/>
                <a:gd name="T7" fmla="*/ 2570 h 2570"/>
                <a:gd name="T8" fmla="*/ 0 w 1986"/>
                <a:gd name="T9" fmla="*/ 2493 h 2570"/>
                <a:gd name="T10" fmla="*/ 0 w 1986"/>
                <a:gd name="T11" fmla="*/ 482 h 2570"/>
                <a:gd name="T12" fmla="*/ 77 w 1986"/>
                <a:gd name="T13" fmla="*/ 405 h 2570"/>
                <a:gd name="T14" fmla="*/ 243 w 1986"/>
                <a:gd name="T15" fmla="*/ 405 h 2570"/>
                <a:gd name="T16" fmla="*/ 243 w 1986"/>
                <a:gd name="T17" fmla="*/ 2125 h 2570"/>
                <a:gd name="T18" fmla="*/ 417 w 1986"/>
                <a:gd name="T19" fmla="*/ 2299 h 2570"/>
                <a:gd name="T20" fmla="*/ 1610 w 1986"/>
                <a:gd name="T21" fmla="*/ 2299 h 2570"/>
                <a:gd name="T22" fmla="*/ 1986 w 1986"/>
                <a:gd name="T23" fmla="*/ 40 h 2570"/>
                <a:gd name="T24" fmla="*/ 1986 w 1986"/>
                <a:gd name="T25" fmla="*/ 2125 h 2570"/>
                <a:gd name="T26" fmla="*/ 1946 w 1986"/>
                <a:gd name="T27" fmla="*/ 2166 h 2570"/>
                <a:gd name="T28" fmla="*/ 417 w 1986"/>
                <a:gd name="T29" fmla="*/ 2166 h 2570"/>
                <a:gd name="T30" fmla="*/ 376 w 1986"/>
                <a:gd name="T31" fmla="*/ 2125 h 2570"/>
                <a:gd name="T32" fmla="*/ 376 w 1986"/>
                <a:gd name="T33" fmla="*/ 40 h 2570"/>
                <a:gd name="T34" fmla="*/ 417 w 1986"/>
                <a:gd name="T35" fmla="*/ 0 h 2570"/>
                <a:gd name="T36" fmla="*/ 1946 w 1986"/>
                <a:gd name="T37" fmla="*/ 0 h 2570"/>
                <a:gd name="T38" fmla="*/ 1986 w 1986"/>
                <a:gd name="T39" fmla="*/ 40 h 2570"/>
                <a:gd name="T40" fmla="*/ 1777 w 1986"/>
                <a:gd name="T41" fmla="*/ 1517 h 2570"/>
                <a:gd name="T42" fmla="*/ 1711 w 1986"/>
                <a:gd name="T43" fmla="*/ 1450 h 2570"/>
                <a:gd name="T44" fmla="*/ 652 w 1986"/>
                <a:gd name="T45" fmla="*/ 1450 h 2570"/>
                <a:gd name="T46" fmla="*/ 585 w 1986"/>
                <a:gd name="T47" fmla="*/ 1517 h 2570"/>
                <a:gd name="T48" fmla="*/ 652 w 1986"/>
                <a:gd name="T49" fmla="*/ 1583 h 2570"/>
                <a:gd name="T50" fmla="*/ 1711 w 1986"/>
                <a:gd name="T51" fmla="*/ 1583 h 2570"/>
                <a:gd name="T52" fmla="*/ 1777 w 1986"/>
                <a:gd name="T53" fmla="*/ 1517 h 2570"/>
                <a:gd name="T54" fmla="*/ 1777 w 1986"/>
                <a:gd name="T55" fmla="*/ 1114 h 2570"/>
                <a:gd name="T56" fmla="*/ 1711 w 1986"/>
                <a:gd name="T57" fmla="*/ 1048 h 2570"/>
                <a:gd name="T58" fmla="*/ 652 w 1986"/>
                <a:gd name="T59" fmla="*/ 1048 h 2570"/>
                <a:gd name="T60" fmla="*/ 585 w 1986"/>
                <a:gd name="T61" fmla="*/ 1114 h 2570"/>
                <a:gd name="T62" fmla="*/ 652 w 1986"/>
                <a:gd name="T63" fmla="*/ 1181 h 2570"/>
                <a:gd name="T64" fmla="*/ 1711 w 1986"/>
                <a:gd name="T65" fmla="*/ 1181 h 2570"/>
                <a:gd name="T66" fmla="*/ 1777 w 1986"/>
                <a:gd name="T67" fmla="*/ 1114 h 2570"/>
                <a:gd name="T68" fmla="*/ 1777 w 1986"/>
                <a:gd name="T69" fmla="*/ 712 h 2570"/>
                <a:gd name="T70" fmla="*/ 1711 w 1986"/>
                <a:gd name="T71" fmla="*/ 646 h 2570"/>
                <a:gd name="T72" fmla="*/ 652 w 1986"/>
                <a:gd name="T73" fmla="*/ 646 h 2570"/>
                <a:gd name="T74" fmla="*/ 585 w 1986"/>
                <a:gd name="T75" fmla="*/ 712 h 2570"/>
                <a:gd name="T76" fmla="*/ 652 w 1986"/>
                <a:gd name="T77" fmla="*/ 779 h 2570"/>
                <a:gd name="T78" fmla="*/ 1711 w 1986"/>
                <a:gd name="T79" fmla="*/ 779 h 2570"/>
                <a:gd name="T80" fmla="*/ 1777 w 1986"/>
                <a:gd name="T81" fmla="*/ 712 h 2570"/>
                <a:gd name="T82" fmla="*/ 1777 w 1986"/>
                <a:gd name="T83" fmla="*/ 310 h 2570"/>
                <a:gd name="T84" fmla="*/ 1711 w 1986"/>
                <a:gd name="T85" fmla="*/ 243 h 2570"/>
                <a:gd name="T86" fmla="*/ 652 w 1986"/>
                <a:gd name="T87" fmla="*/ 243 h 2570"/>
                <a:gd name="T88" fmla="*/ 585 w 1986"/>
                <a:gd name="T89" fmla="*/ 310 h 2570"/>
                <a:gd name="T90" fmla="*/ 652 w 1986"/>
                <a:gd name="T91" fmla="*/ 377 h 2570"/>
                <a:gd name="T92" fmla="*/ 1711 w 1986"/>
                <a:gd name="T93" fmla="*/ 377 h 2570"/>
                <a:gd name="T94" fmla="*/ 1777 w 1986"/>
                <a:gd name="T95" fmla="*/ 310 h 2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86" h="2570">
                  <a:moveTo>
                    <a:pt x="1610" y="2299"/>
                  </a:moveTo>
                  <a:lnTo>
                    <a:pt x="1610" y="2493"/>
                  </a:lnTo>
                  <a:cubicBezTo>
                    <a:pt x="1610" y="2536"/>
                    <a:pt x="1575" y="2570"/>
                    <a:pt x="1533" y="2570"/>
                  </a:cubicBezTo>
                  <a:lnTo>
                    <a:pt x="77" y="2570"/>
                  </a:lnTo>
                  <a:cubicBezTo>
                    <a:pt x="35" y="2570"/>
                    <a:pt x="0" y="2536"/>
                    <a:pt x="0" y="2493"/>
                  </a:cubicBezTo>
                  <a:lnTo>
                    <a:pt x="0" y="482"/>
                  </a:lnTo>
                  <a:cubicBezTo>
                    <a:pt x="0" y="439"/>
                    <a:pt x="35" y="405"/>
                    <a:pt x="77" y="405"/>
                  </a:cubicBezTo>
                  <a:lnTo>
                    <a:pt x="243" y="405"/>
                  </a:lnTo>
                  <a:lnTo>
                    <a:pt x="243" y="2125"/>
                  </a:lnTo>
                  <a:cubicBezTo>
                    <a:pt x="243" y="2221"/>
                    <a:pt x="321" y="2299"/>
                    <a:pt x="417" y="2299"/>
                  </a:cubicBezTo>
                  <a:lnTo>
                    <a:pt x="1610" y="2299"/>
                  </a:lnTo>
                  <a:close/>
                  <a:moveTo>
                    <a:pt x="1986" y="40"/>
                  </a:moveTo>
                  <a:lnTo>
                    <a:pt x="1986" y="2125"/>
                  </a:lnTo>
                  <a:cubicBezTo>
                    <a:pt x="1986" y="2148"/>
                    <a:pt x="1968" y="2166"/>
                    <a:pt x="1946" y="2166"/>
                  </a:cubicBezTo>
                  <a:lnTo>
                    <a:pt x="417" y="2166"/>
                  </a:lnTo>
                  <a:cubicBezTo>
                    <a:pt x="394" y="2166"/>
                    <a:pt x="376" y="2148"/>
                    <a:pt x="376" y="2125"/>
                  </a:cubicBezTo>
                  <a:lnTo>
                    <a:pt x="376" y="40"/>
                  </a:lnTo>
                  <a:cubicBezTo>
                    <a:pt x="376" y="18"/>
                    <a:pt x="394" y="0"/>
                    <a:pt x="417" y="0"/>
                  </a:cubicBezTo>
                  <a:lnTo>
                    <a:pt x="1946" y="0"/>
                  </a:lnTo>
                  <a:cubicBezTo>
                    <a:pt x="1968" y="0"/>
                    <a:pt x="1986" y="18"/>
                    <a:pt x="1986" y="40"/>
                  </a:cubicBezTo>
                  <a:close/>
                  <a:moveTo>
                    <a:pt x="1777" y="1517"/>
                  </a:moveTo>
                  <a:cubicBezTo>
                    <a:pt x="1777" y="1480"/>
                    <a:pt x="1748" y="1450"/>
                    <a:pt x="1711" y="1450"/>
                  </a:cubicBezTo>
                  <a:lnTo>
                    <a:pt x="652" y="1450"/>
                  </a:lnTo>
                  <a:cubicBezTo>
                    <a:pt x="615" y="1450"/>
                    <a:pt x="585" y="1480"/>
                    <a:pt x="585" y="1517"/>
                  </a:cubicBezTo>
                  <a:cubicBezTo>
                    <a:pt x="585" y="1553"/>
                    <a:pt x="615" y="1583"/>
                    <a:pt x="652" y="1583"/>
                  </a:cubicBezTo>
                  <a:lnTo>
                    <a:pt x="1711" y="1583"/>
                  </a:lnTo>
                  <a:cubicBezTo>
                    <a:pt x="1748" y="1583"/>
                    <a:pt x="1777" y="1553"/>
                    <a:pt x="1777" y="1517"/>
                  </a:cubicBezTo>
                  <a:close/>
                  <a:moveTo>
                    <a:pt x="1777" y="1114"/>
                  </a:moveTo>
                  <a:cubicBezTo>
                    <a:pt x="1777" y="1078"/>
                    <a:pt x="1748" y="1048"/>
                    <a:pt x="1711" y="1048"/>
                  </a:cubicBezTo>
                  <a:lnTo>
                    <a:pt x="652" y="1048"/>
                  </a:lnTo>
                  <a:cubicBezTo>
                    <a:pt x="615" y="1048"/>
                    <a:pt x="585" y="1078"/>
                    <a:pt x="585" y="1114"/>
                  </a:cubicBezTo>
                  <a:cubicBezTo>
                    <a:pt x="585" y="1151"/>
                    <a:pt x="615" y="1181"/>
                    <a:pt x="652" y="1181"/>
                  </a:cubicBezTo>
                  <a:lnTo>
                    <a:pt x="1711" y="1181"/>
                  </a:lnTo>
                  <a:cubicBezTo>
                    <a:pt x="1748" y="1181"/>
                    <a:pt x="1777" y="1151"/>
                    <a:pt x="1777" y="1114"/>
                  </a:cubicBezTo>
                  <a:close/>
                  <a:moveTo>
                    <a:pt x="1777" y="712"/>
                  </a:moveTo>
                  <a:cubicBezTo>
                    <a:pt x="1777" y="675"/>
                    <a:pt x="1748" y="646"/>
                    <a:pt x="1711" y="646"/>
                  </a:cubicBezTo>
                  <a:lnTo>
                    <a:pt x="652" y="646"/>
                  </a:lnTo>
                  <a:cubicBezTo>
                    <a:pt x="615" y="646"/>
                    <a:pt x="585" y="675"/>
                    <a:pt x="585" y="712"/>
                  </a:cubicBezTo>
                  <a:cubicBezTo>
                    <a:pt x="585" y="749"/>
                    <a:pt x="615" y="779"/>
                    <a:pt x="652" y="779"/>
                  </a:cubicBezTo>
                  <a:lnTo>
                    <a:pt x="1711" y="779"/>
                  </a:lnTo>
                  <a:cubicBezTo>
                    <a:pt x="1748" y="779"/>
                    <a:pt x="1777" y="749"/>
                    <a:pt x="1777" y="712"/>
                  </a:cubicBezTo>
                  <a:close/>
                  <a:moveTo>
                    <a:pt x="1777" y="310"/>
                  </a:moveTo>
                  <a:cubicBezTo>
                    <a:pt x="1777" y="273"/>
                    <a:pt x="1748" y="243"/>
                    <a:pt x="1711" y="243"/>
                  </a:cubicBezTo>
                  <a:lnTo>
                    <a:pt x="652" y="243"/>
                  </a:lnTo>
                  <a:cubicBezTo>
                    <a:pt x="615" y="243"/>
                    <a:pt x="585" y="273"/>
                    <a:pt x="585" y="310"/>
                  </a:cubicBezTo>
                  <a:cubicBezTo>
                    <a:pt x="585" y="347"/>
                    <a:pt x="615" y="377"/>
                    <a:pt x="652" y="377"/>
                  </a:cubicBezTo>
                  <a:lnTo>
                    <a:pt x="1711" y="377"/>
                  </a:lnTo>
                  <a:cubicBezTo>
                    <a:pt x="1748" y="377"/>
                    <a:pt x="1777" y="347"/>
                    <a:pt x="1777" y="3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8A847D9-C088-41D7-93F8-BE9B1D6A67AD}"/>
              </a:ext>
            </a:extLst>
          </p:cNvPr>
          <p:cNvCxnSpPr/>
          <p:nvPr/>
        </p:nvCxnSpPr>
        <p:spPr>
          <a:xfrm>
            <a:off x="2837374" y="3766820"/>
            <a:ext cx="1161976" cy="4151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F9A2266-6EC3-44AA-9E6A-DD39AFF556C8}"/>
              </a:ext>
            </a:extLst>
          </p:cNvPr>
          <p:cNvCxnSpPr/>
          <p:nvPr/>
        </p:nvCxnSpPr>
        <p:spPr>
          <a:xfrm>
            <a:off x="8198074" y="3777539"/>
            <a:ext cx="1161976" cy="4151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D14455C-AE14-4F30-AA43-E81CBCA30D81}"/>
              </a:ext>
            </a:extLst>
          </p:cNvPr>
          <p:cNvCxnSpPr>
            <a:cxnSpLocks/>
          </p:cNvCxnSpPr>
          <p:nvPr/>
        </p:nvCxnSpPr>
        <p:spPr>
          <a:xfrm flipV="1">
            <a:off x="5515012" y="3787918"/>
            <a:ext cx="1161976" cy="4151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6813BCE-414E-47F8-B96A-C399093AC7FE}"/>
              </a:ext>
            </a:extLst>
          </p:cNvPr>
          <p:cNvSpPr txBox="1"/>
          <p:nvPr/>
        </p:nvSpPr>
        <p:spPr>
          <a:xfrm>
            <a:off x="1265482" y="1224970"/>
            <a:ext cx="9661036" cy="15526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zh-CN" altLang="zh-CN" b="1" dirty="0"/>
              <a:t>挑战</a:t>
            </a:r>
            <a:r>
              <a:rPr lang="zh-CN" altLang="zh-CN" dirty="0"/>
              <a:t>：外部向</a:t>
            </a:r>
            <a:r>
              <a:rPr lang="en-US" altLang="zh-CN" dirty="0"/>
              <a:t>PUF</a:t>
            </a:r>
            <a:r>
              <a:rPr lang="zh-CN" altLang="zh-CN" dirty="0"/>
              <a:t>输入一个电信号（比如一个比特串、一组电压值），相当于问芯片一个问题</a:t>
            </a:r>
          </a:p>
          <a:p>
            <a:pPr lvl="0">
              <a:lnSpc>
                <a:spcPct val="150000"/>
              </a:lnSpc>
            </a:pPr>
            <a:r>
              <a:rPr lang="zh-CN" altLang="zh-CN" b="1" dirty="0"/>
              <a:t>响应</a:t>
            </a:r>
            <a:r>
              <a:rPr lang="zh-CN" altLang="zh-CN" dirty="0"/>
              <a:t>：</a:t>
            </a:r>
            <a:r>
              <a:rPr lang="en-US" altLang="zh-CN" dirty="0"/>
              <a:t>PUF</a:t>
            </a:r>
            <a:r>
              <a:rPr lang="zh-CN" altLang="zh-CN" dirty="0"/>
              <a:t>根据自身的物理偏差生成一个唯一的数字输出，相当于芯片给出的答案</a:t>
            </a:r>
          </a:p>
          <a:p>
            <a:pPr>
              <a:lnSpc>
                <a:spcPct val="150000"/>
              </a:lnSpc>
            </a:pPr>
            <a:r>
              <a:rPr lang="zh-CN" altLang="zh-CN" b="1" dirty="0"/>
              <a:t>挑战</a:t>
            </a:r>
            <a:r>
              <a:rPr lang="en-US" altLang="zh-CN" b="1" dirty="0"/>
              <a:t>-</a:t>
            </a:r>
            <a:r>
              <a:rPr lang="zh-CN" altLang="zh-CN" b="1" dirty="0"/>
              <a:t>响应对（</a:t>
            </a:r>
            <a:r>
              <a:rPr lang="en-US" altLang="zh-CN" b="1" dirty="0"/>
              <a:t>Challenge-Response Pair</a:t>
            </a:r>
            <a:r>
              <a:rPr lang="zh-CN" altLang="zh-CN" b="1" dirty="0"/>
              <a:t>，</a:t>
            </a:r>
            <a:r>
              <a:rPr lang="en-US" altLang="zh-CN" b="1" dirty="0"/>
              <a:t>CRP</a:t>
            </a:r>
            <a:r>
              <a:rPr lang="zh-CN" altLang="zh-CN" b="1" dirty="0"/>
              <a:t>）</a:t>
            </a:r>
            <a:r>
              <a:rPr lang="zh-CN" altLang="zh-CN" dirty="0"/>
              <a:t>：这一对输入输出构成了芯片的</a:t>
            </a:r>
            <a:r>
              <a:rPr lang="en-US" altLang="zh-CN" dirty="0"/>
              <a:t>"</a:t>
            </a:r>
            <a:r>
              <a:rPr lang="zh-CN" altLang="zh-CN" dirty="0"/>
              <a:t>身份凭证</a:t>
            </a:r>
            <a:r>
              <a:rPr lang="en-US" altLang="zh-CN" dirty="0"/>
              <a:t>"</a:t>
            </a:r>
          </a:p>
        </p:txBody>
      </p:sp>
      <p:sp>
        <p:nvSpPr>
          <p:cNvPr id="7" name="íŝļiḓè">
            <a:extLst>
              <a:ext uri="{FF2B5EF4-FFF2-40B4-BE49-F238E27FC236}">
                <a16:creationId xmlns:a16="http://schemas.microsoft.com/office/drawing/2014/main" id="{351C1976-723B-4CD9-A5DA-017F3118DE2B}"/>
              </a:ext>
            </a:extLst>
          </p:cNvPr>
          <p:cNvSpPr/>
          <p:nvPr/>
        </p:nvSpPr>
        <p:spPr bwMode="auto">
          <a:xfrm>
            <a:off x="1057082" y="5317805"/>
            <a:ext cx="1935602" cy="82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chemeClr val="accent5"/>
                </a:solidFill>
                <a:cs typeface="+mn-ea"/>
                <a:sym typeface="+mn-lt"/>
              </a:rPr>
              <a:t>一问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íŝļiḓè">
            <a:extLst>
              <a:ext uri="{FF2B5EF4-FFF2-40B4-BE49-F238E27FC236}">
                <a16:creationId xmlns:a16="http://schemas.microsoft.com/office/drawing/2014/main" id="{6470B51B-1F68-76D8-C38C-B8C43C3A5020}"/>
              </a:ext>
            </a:extLst>
          </p:cNvPr>
          <p:cNvSpPr/>
          <p:nvPr/>
        </p:nvSpPr>
        <p:spPr bwMode="auto">
          <a:xfrm>
            <a:off x="9233802" y="5850882"/>
            <a:ext cx="1935602" cy="82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cs typeface="+mn-ea"/>
                <a:sym typeface="+mn-lt"/>
              </a:rPr>
              <a:t>一答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2DC95913-BDFE-AD55-51C1-8816AB78ABDE}"/>
              </a:ext>
            </a:extLst>
          </p:cNvPr>
          <p:cNvSpPr/>
          <p:nvPr/>
        </p:nvSpPr>
        <p:spPr>
          <a:xfrm>
            <a:off x="1672327" y="4738630"/>
            <a:ext cx="705113" cy="512596"/>
          </a:xfrm>
          <a:prstGeom prst="upArrow">
            <a:avLst/>
          </a:prstGeom>
          <a:solidFill>
            <a:srgbClr val="4B7D2B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28D162E2-3C81-4BBE-7D39-9701ECF04798}"/>
              </a:ext>
            </a:extLst>
          </p:cNvPr>
          <p:cNvSpPr/>
          <p:nvPr/>
        </p:nvSpPr>
        <p:spPr>
          <a:xfrm>
            <a:off x="9765260" y="5286919"/>
            <a:ext cx="705113" cy="512596"/>
          </a:xfrm>
          <a:prstGeom prst="upArrow">
            <a:avLst/>
          </a:prstGeom>
          <a:solidFill>
            <a:srgbClr val="4B7D2B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ïşḷíḋe">
            <a:extLst>
              <a:ext uri="{FF2B5EF4-FFF2-40B4-BE49-F238E27FC236}">
                <a16:creationId xmlns:a16="http://schemas.microsoft.com/office/drawing/2014/main" id="{FBCD93F8-E159-4DBA-9FA9-58FB09B5635B}"/>
              </a:ext>
            </a:extLst>
          </p:cNvPr>
          <p:cNvSpPr/>
          <p:nvPr/>
        </p:nvSpPr>
        <p:spPr>
          <a:xfrm flipH="1">
            <a:off x="6603900" y="1968501"/>
            <a:ext cx="4608214" cy="4252416"/>
          </a:xfrm>
          <a:prstGeom prst="roundRect">
            <a:avLst>
              <a:gd name="adj" fmla="val 1435"/>
            </a:avLst>
          </a:prstGeom>
          <a:solidFill>
            <a:schemeClr val="bg1"/>
          </a:solidFill>
          <a:ln w="6350">
            <a:solidFill>
              <a:srgbClr val="EAB908"/>
            </a:solidFill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ï$ḻiḓê">
            <a:extLst>
              <a:ext uri="{FF2B5EF4-FFF2-40B4-BE49-F238E27FC236}">
                <a16:creationId xmlns:a16="http://schemas.microsoft.com/office/drawing/2014/main" id="{5ED415B2-4403-4C02-804E-0C1FA6018206}"/>
              </a:ext>
            </a:extLst>
          </p:cNvPr>
          <p:cNvSpPr/>
          <p:nvPr/>
        </p:nvSpPr>
        <p:spPr>
          <a:xfrm>
            <a:off x="980667" y="1968500"/>
            <a:ext cx="4608214" cy="4252417"/>
          </a:xfrm>
          <a:prstGeom prst="roundRect">
            <a:avLst>
              <a:gd name="adj" fmla="val 1434"/>
            </a:avLst>
          </a:prstGeom>
          <a:solidFill>
            <a:schemeClr val="bg1"/>
          </a:solidFill>
          <a:ln w="6350">
            <a:solidFill>
              <a:schemeClr val="accent1"/>
            </a:solidFill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4684CD5-744E-449A-9584-71775D27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2.4	PUF</a:t>
            </a:r>
            <a:r>
              <a:rPr lang="zh-CN" altLang="en-US" dirty="0">
                <a:sym typeface="+mn-lt"/>
              </a:rPr>
              <a:t>的关键优势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46CD25-BE4D-467B-9E42-858939AA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4</a:t>
            </a:fld>
            <a:endParaRPr lang="zh-CN" altLang="en-US">
              <a:sym typeface="+mn-lt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BC3613E1-BB99-40FC-B02C-AE65BC1C5944}"/>
              </a:ext>
            </a:extLst>
          </p:cNvPr>
          <p:cNvGrpSpPr/>
          <p:nvPr/>
        </p:nvGrpSpPr>
        <p:grpSpPr>
          <a:xfrm>
            <a:off x="6548912" y="3160768"/>
            <a:ext cx="153182" cy="1816049"/>
            <a:chOff x="11274277" y="3238826"/>
            <a:chExt cx="153182" cy="1816049"/>
          </a:xfrm>
        </p:grpSpPr>
        <p:sp>
          <p:nvSpPr>
            <p:cNvPr id="27" name="iṥḻîḓê">
              <a:extLst>
                <a:ext uri="{FF2B5EF4-FFF2-40B4-BE49-F238E27FC236}">
                  <a16:creationId xmlns:a16="http://schemas.microsoft.com/office/drawing/2014/main" id="{FBCE2834-1A0B-43C6-BCCA-75474E95ABB8}"/>
                </a:ext>
              </a:extLst>
            </p:cNvPr>
            <p:cNvSpPr/>
            <p:nvPr/>
          </p:nvSpPr>
          <p:spPr>
            <a:xfrm flipH="1">
              <a:off x="11274277" y="3238826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EAB9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íŝľïďe">
              <a:extLst>
                <a:ext uri="{FF2B5EF4-FFF2-40B4-BE49-F238E27FC236}">
                  <a16:creationId xmlns:a16="http://schemas.microsoft.com/office/drawing/2014/main" id="{81424A36-CCF6-4928-84B0-F20DB6EE3A4D}"/>
                </a:ext>
              </a:extLst>
            </p:cNvPr>
            <p:cNvSpPr/>
            <p:nvPr/>
          </p:nvSpPr>
          <p:spPr>
            <a:xfrm flipH="1">
              <a:off x="11274277" y="4070259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EAB9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îŝḻïḋe">
              <a:extLst>
                <a:ext uri="{FF2B5EF4-FFF2-40B4-BE49-F238E27FC236}">
                  <a16:creationId xmlns:a16="http://schemas.microsoft.com/office/drawing/2014/main" id="{A473F259-7810-4B00-9E3F-8D9AE873B5B6}"/>
                </a:ext>
              </a:extLst>
            </p:cNvPr>
            <p:cNvSpPr/>
            <p:nvPr/>
          </p:nvSpPr>
          <p:spPr>
            <a:xfrm flipH="1">
              <a:off x="11274277" y="4901693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EAB9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2" name="íŝliḓe">
            <a:extLst>
              <a:ext uri="{FF2B5EF4-FFF2-40B4-BE49-F238E27FC236}">
                <a16:creationId xmlns:a16="http://schemas.microsoft.com/office/drawing/2014/main" id="{A4EDD653-4FF8-4B3F-B44F-3C406752DDDF}"/>
              </a:ext>
            </a:extLst>
          </p:cNvPr>
          <p:cNvSpPr/>
          <p:nvPr/>
        </p:nvSpPr>
        <p:spPr>
          <a:xfrm flipH="1">
            <a:off x="7709836" y="2284408"/>
            <a:ext cx="2405360" cy="552035"/>
          </a:xfrm>
          <a:prstGeom prst="roundRect">
            <a:avLst>
              <a:gd name="adj" fmla="val 50000"/>
            </a:avLst>
          </a:prstGeom>
          <a:solidFill>
            <a:srgbClr val="EAB9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2000" dirty="0">
              <a:cs typeface="+mn-ea"/>
              <a:sym typeface="+mn-lt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4DBF9BC-411A-4026-B412-BAFC97EA294E}"/>
              </a:ext>
            </a:extLst>
          </p:cNvPr>
          <p:cNvGrpSpPr/>
          <p:nvPr/>
        </p:nvGrpSpPr>
        <p:grpSpPr>
          <a:xfrm>
            <a:off x="5537542" y="3164397"/>
            <a:ext cx="153182" cy="1816049"/>
            <a:chOff x="777401" y="3238826"/>
            <a:chExt cx="153182" cy="1816049"/>
          </a:xfrm>
        </p:grpSpPr>
        <p:sp>
          <p:nvSpPr>
            <p:cNvPr id="42" name="íşļîḓè">
              <a:extLst>
                <a:ext uri="{FF2B5EF4-FFF2-40B4-BE49-F238E27FC236}">
                  <a16:creationId xmlns:a16="http://schemas.microsoft.com/office/drawing/2014/main" id="{1E40F4A3-010A-4A27-9B67-1ACB6B0B2B76}"/>
                </a:ext>
              </a:extLst>
            </p:cNvPr>
            <p:cNvSpPr/>
            <p:nvPr/>
          </p:nvSpPr>
          <p:spPr>
            <a:xfrm>
              <a:off x="777401" y="3238826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íṩ1íde">
              <a:extLst>
                <a:ext uri="{FF2B5EF4-FFF2-40B4-BE49-F238E27FC236}">
                  <a16:creationId xmlns:a16="http://schemas.microsoft.com/office/drawing/2014/main" id="{C99CA5B5-1B8F-4E4E-8C44-5A8224A500E8}"/>
                </a:ext>
              </a:extLst>
            </p:cNvPr>
            <p:cNvSpPr/>
            <p:nvPr/>
          </p:nvSpPr>
          <p:spPr>
            <a:xfrm>
              <a:off x="777401" y="4070259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îSḷîḍé">
              <a:extLst>
                <a:ext uri="{FF2B5EF4-FFF2-40B4-BE49-F238E27FC236}">
                  <a16:creationId xmlns:a16="http://schemas.microsoft.com/office/drawing/2014/main" id="{E40F6244-DD94-4521-B0A5-0E80475FB626}"/>
                </a:ext>
              </a:extLst>
            </p:cNvPr>
            <p:cNvSpPr/>
            <p:nvPr/>
          </p:nvSpPr>
          <p:spPr>
            <a:xfrm>
              <a:off x="777401" y="4901693"/>
              <a:ext cx="153182" cy="1531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>
                <a:lnSpc>
                  <a:spcPct val="15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4" name="î$ļïḋê">
            <a:extLst>
              <a:ext uri="{FF2B5EF4-FFF2-40B4-BE49-F238E27FC236}">
                <a16:creationId xmlns:a16="http://schemas.microsoft.com/office/drawing/2014/main" id="{692DC750-6B3B-4390-B58D-C9B23C405634}"/>
              </a:ext>
            </a:extLst>
          </p:cNvPr>
          <p:cNvSpPr/>
          <p:nvPr/>
        </p:nvSpPr>
        <p:spPr>
          <a:xfrm>
            <a:off x="2076804" y="2281980"/>
            <a:ext cx="2415940" cy="55203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B54A34EF-651F-4EA1-8C66-301FC156BCB5}"/>
              </a:ext>
            </a:extLst>
          </p:cNvPr>
          <p:cNvSpPr/>
          <p:nvPr/>
        </p:nvSpPr>
        <p:spPr>
          <a:xfrm>
            <a:off x="5419347" y="3154426"/>
            <a:ext cx="1356189" cy="497175"/>
          </a:xfrm>
          <a:prstGeom prst="arc">
            <a:avLst>
              <a:gd name="adj1" fmla="val 12260900"/>
              <a:gd name="adj2" fmla="val 20352371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6495E793-927D-46C3-9518-D9254316B18E}"/>
              </a:ext>
            </a:extLst>
          </p:cNvPr>
          <p:cNvSpPr/>
          <p:nvPr/>
        </p:nvSpPr>
        <p:spPr>
          <a:xfrm>
            <a:off x="5419347" y="3998377"/>
            <a:ext cx="1356189" cy="497175"/>
          </a:xfrm>
          <a:prstGeom prst="arc">
            <a:avLst>
              <a:gd name="adj1" fmla="val 12260900"/>
              <a:gd name="adj2" fmla="val 20352371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E908A8B2-E7D1-4843-AC18-F9CF6A59B858}"/>
              </a:ext>
            </a:extLst>
          </p:cNvPr>
          <p:cNvSpPr/>
          <p:nvPr/>
        </p:nvSpPr>
        <p:spPr>
          <a:xfrm>
            <a:off x="5419347" y="4825934"/>
            <a:ext cx="1356189" cy="497175"/>
          </a:xfrm>
          <a:prstGeom prst="arc">
            <a:avLst>
              <a:gd name="adj1" fmla="val 12260900"/>
              <a:gd name="adj2" fmla="val 20352371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íŝļiḓè">
            <a:extLst>
              <a:ext uri="{FF2B5EF4-FFF2-40B4-BE49-F238E27FC236}">
                <a16:creationId xmlns:a16="http://schemas.microsoft.com/office/drawing/2014/main" id="{0C5DE48A-EC0C-EF70-0E00-3DAFE7D975E8}"/>
              </a:ext>
            </a:extLst>
          </p:cNvPr>
          <p:cNvSpPr/>
          <p:nvPr/>
        </p:nvSpPr>
        <p:spPr bwMode="auto">
          <a:xfrm>
            <a:off x="1091255" y="2932460"/>
            <a:ext cx="4254650" cy="29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密钥静态存储在非易失存储器（熔丝、</a:t>
            </a:r>
            <a:r>
              <a:rPr lang="en-US" altLang="zh-CN" dirty="0"/>
              <a:t>EEPROM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断电后密钥仍在芯片上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攻击者可开盖、用</a:t>
            </a:r>
            <a:r>
              <a:rPr lang="en-US" altLang="zh-CN" b="1" dirty="0"/>
              <a:t>FIB</a:t>
            </a:r>
            <a:r>
              <a:rPr lang="zh-CN" altLang="en-US" b="1" dirty="0"/>
              <a:t>探针读取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侧信道分析可提取密钥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版图逆向可复制设计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íŝļiḓè">
            <a:extLst>
              <a:ext uri="{FF2B5EF4-FFF2-40B4-BE49-F238E27FC236}">
                <a16:creationId xmlns:a16="http://schemas.microsoft.com/office/drawing/2014/main" id="{DBB70571-12A8-A8D8-5D9E-AD1F9CA937ED}"/>
              </a:ext>
            </a:extLst>
          </p:cNvPr>
          <p:cNvSpPr/>
          <p:nvPr/>
        </p:nvSpPr>
        <p:spPr bwMode="auto">
          <a:xfrm>
            <a:off x="6829779" y="2932460"/>
            <a:ext cx="4254650" cy="29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密钥不存储，每次上电从</a:t>
            </a:r>
            <a:r>
              <a:rPr lang="en-US" altLang="zh-CN" b="1" dirty="0"/>
              <a:t>PUF</a:t>
            </a:r>
            <a:r>
              <a:rPr lang="zh-CN" altLang="en-US" b="1" dirty="0"/>
              <a:t>实时派生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断电后密钥痕迹消失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找不到存储密钥的寄存器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物理随机信号被噪声掩盖，难提取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版图相同，实际物理偏差千差万别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3" name="Google Shape;365;p35">
            <a:extLst>
              <a:ext uri="{FF2B5EF4-FFF2-40B4-BE49-F238E27FC236}">
                <a16:creationId xmlns:a16="http://schemas.microsoft.com/office/drawing/2014/main" id="{1D24D8C6-2278-7200-C94C-D171E8C8CE1A}"/>
              </a:ext>
            </a:extLst>
          </p:cNvPr>
          <p:cNvSpPr txBox="1">
            <a:spLocks/>
          </p:cNvSpPr>
          <p:nvPr/>
        </p:nvSpPr>
        <p:spPr>
          <a:xfrm>
            <a:off x="4302612" y="1070692"/>
            <a:ext cx="3978000" cy="722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zh-CN" altLang="en-US" sz="2800" dirty="0">
                <a:solidFill>
                  <a:schemeClr val="accent5"/>
                </a:solidFill>
              </a:rPr>
              <a:t>上电生成，断电消失</a:t>
            </a:r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5" name="Google Shape;365;p35">
            <a:extLst>
              <a:ext uri="{FF2B5EF4-FFF2-40B4-BE49-F238E27FC236}">
                <a16:creationId xmlns:a16="http://schemas.microsoft.com/office/drawing/2014/main" id="{E56F04BF-A7E1-0178-6265-8ADEA4C27E4A}"/>
              </a:ext>
            </a:extLst>
          </p:cNvPr>
          <p:cNvSpPr txBox="1">
            <a:spLocks/>
          </p:cNvSpPr>
          <p:nvPr/>
        </p:nvSpPr>
        <p:spPr>
          <a:xfrm>
            <a:off x="2414860" y="2210360"/>
            <a:ext cx="1679149" cy="722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</a:rPr>
              <a:t>传统方式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Google Shape;365;p35">
            <a:extLst>
              <a:ext uri="{FF2B5EF4-FFF2-40B4-BE49-F238E27FC236}">
                <a16:creationId xmlns:a16="http://schemas.microsoft.com/office/drawing/2014/main" id="{36D817E0-4C30-CA77-1104-C44524AFB15C}"/>
              </a:ext>
            </a:extLst>
          </p:cNvPr>
          <p:cNvSpPr txBox="1">
            <a:spLocks/>
          </p:cNvSpPr>
          <p:nvPr/>
        </p:nvSpPr>
        <p:spPr>
          <a:xfrm>
            <a:off x="8144932" y="2210360"/>
            <a:ext cx="1679149" cy="722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</a:rPr>
              <a:t>PUF</a:t>
            </a:r>
            <a:r>
              <a:rPr lang="zh-CN" altLang="en-US" sz="2800" dirty="0">
                <a:solidFill>
                  <a:schemeClr val="bg1"/>
                </a:solidFill>
              </a:rPr>
              <a:t>方式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37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F8976-2F10-453C-990D-E81CC0E9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2.5	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三个关键指标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D46F5B-491A-44A9-8EC6-2DB06B80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  <a:pPr/>
              <a:t>5</a:t>
            </a:fld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0D7A6E-5658-4CA6-B7E7-505103779B6C}"/>
              </a:ext>
            </a:extLst>
          </p:cNvPr>
          <p:cNvSpPr/>
          <p:nvPr/>
        </p:nvSpPr>
        <p:spPr>
          <a:xfrm>
            <a:off x="7903552" y="1566232"/>
            <a:ext cx="3600000" cy="454361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iṥ1íďe">
            <a:extLst>
              <a:ext uri="{FF2B5EF4-FFF2-40B4-BE49-F238E27FC236}">
                <a16:creationId xmlns:a16="http://schemas.microsoft.com/office/drawing/2014/main" id="{98947B98-9BE7-410B-8F38-9B1619698769}"/>
              </a:ext>
            </a:extLst>
          </p:cNvPr>
          <p:cNvSpPr/>
          <p:nvPr/>
        </p:nvSpPr>
        <p:spPr>
          <a:xfrm flipH="1">
            <a:off x="1333737" y="2635909"/>
            <a:ext cx="2289573" cy="560065"/>
          </a:xfrm>
          <a:prstGeom prst="rect">
            <a:avLst/>
          </a:prstGeom>
          <a:scene3d>
            <a:camera prst="perspectiveLeft">
              <a:rot lat="0" lon="0" rev="0"/>
            </a:camera>
            <a:lightRig rig="threePt" dir="t"/>
          </a:scene3d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b="1" dirty="0">
                <a:cs typeface="+mn-ea"/>
                <a:sym typeface="+mn-lt"/>
              </a:rPr>
              <a:t>唯一性</a:t>
            </a:r>
          </a:p>
        </p:txBody>
      </p:sp>
      <p:sp>
        <p:nvSpPr>
          <p:cNvPr id="22" name="light-bulb_62830">
            <a:extLst>
              <a:ext uri="{FF2B5EF4-FFF2-40B4-BE49-F238E27FC236}">
                <a16:creationId xmlns:a16="http://schemas.microsoft.com/office/drawing/2014/main" id="{C036B83C-BCF9-419B-94CE-0B74C3D65416}"/>
              </a:ext>
            </a:extLst>
          </p:cNvPr>
          <p:cNvSpPr>
            <a:spLocks noChangeAspect="1"/>
          </p:cNvSpPr>
          <p:nvPr/>
        </p:nvSpPr>
        <p:spPr bwMode="auto">
          <a:xfrm>
            <a:off x="5846397" y="2134186"/>
            <a:ext cx="504163" cy="504000"/>
          </a:xfrm>
          <a:custGeom>
            <a:avLst/>
            <a:gdLst>
              <a:gd name="connsiteX0" fmla="*/ 291327 w 608430"/>
              <a:gd name="connsiteY0" fmla="*/ 232337 h 608239"/>
              <a:gd name="connsiteX1" fmla="*/ 296219 w 608430"/>
              <a:gd name="connsiteY1" fmla="*/ 235039 h 608239"/>
              <a:gd name="connsiteX2" fmla="*/ 304232 w 608430"/>
              <a:gd name="connsiteY2" fmla="*/ 238780 h 608239"/>
              <a:gd name="connsiteX3" fmla="*/ 312246 w 608430"/>
              <a:gd name="connsiteY3" fmla="*/ 235039 h 608239"/>
              <a:gd name="connsiteX4" fmla="*/ 317241 w 608430"/>
              <a:gd name="connsiteY4" fmla="*/ 232337 h 608239"/>
              <a:gd name="connsiteX5" fmla="*/ 323173 w 608430"/>
              <a:gd name="connsiteY5" fmla="*/ 235454 h 608239"/>
              <a:gd name="connsiteX6" fmla="*/ 325359 w 608430"/>
              <a:gd name="connsiteY6" fmla="*/ 242936 h 608239"/>
              <a:gd name="connsiteX7" fmla="*/ 304232 w 608430"/>
              <a:gd name="connsiteY7" fmla="*/ 363165 h 608239"/>
              <a:gd name="connsiteX8" fmla="*/ 283106 w 608430"/>
              <a:gd name="connsiteY8" fmla="*/ 243040 h 608239"/>
              <a:gd name="connsiteX9" fmla="*/ 285499 w 608430"/>
              <a:gd name="connsiteY9" fmla="*/ 235454 h 608239"/>
              <a:gd name="connsiteX10" fmla="*/ 291327 w 608430"/>
              <a:gd name="connsiteY10" fmla="*/ 232337 h 608239"/>
              <a:gd name="connsiteX11" fmla="*/ 304233 w 608430"/>
              <a:gd name="connsiteY11" fmla="*/ 124019 h 608239"/>
              <a:gd name="connsiteX12" fmla="*/ 408192 w 608430"/>
              <a:gd name="connsiteY12" fmla="*/ 220890 h 608239"/>
              <a:gd name="connsiteX13" fmla="*/ 375724 w 608430"/>
              <a:gd name="connsiteY13" fmla="*/ 308406 h 608239"/>
              <a:gd name="connsiteX14" fmla="*/ 338366 w 608430"/>
              <a:gd name="connsiteY14" fmla="*/ 389063 h 608239"/>
              <a:gd name="connsiteX15" fmla="*/ 320779 w 608430"/>
              <a:gd name="connsiteY15" fmla="*/ 389063 h 608239"/>
              <a:gd name="connsiteX16" fmla="*/ 345858 w 608430"/>
              <a:gd name="connsiteY16" fmla="*/ 246459 h 608239"/>
              <a:gd name="connsiteX17" fmla="*/ 345962 w 608430"/>
              <a:gd name="connsiteY17" fmla="*/ 246147 h 608239"/>
              <a:gd name="connsiteX18" fmla="*/ 338990 w 608430"/>
              <a:gd name="connsiteY18" fmla="*/ 221825 h 608239"/>
              <a:gd name="connsiteX19" fmla="*/ 317241 w 608430"/>
              <a:gd name="connsiteY19" fmla="*/ 211535 h 608239"/>
              <a:gd name="connsiteX20" fmla="*/ 304233 w 608430"/>
              <a:gd name="connsiteY20" fmla="*/ 214965 h 608239"/>
              <a:gd name="connsiteX21" fmla="*/ 291329 w 608430"/>
              <a:gd name="connsiteY21" fmla="*/ 211535 h 608239"/>
              <a:gd name="connsiteX22" fmla="*/ 269788 w 608430"/>
              <a:gd name="connsiteY22" fmla="*/ 221929 h 608239"/>
              <a:gd name="connsiteX23" fmla="*/ 262503 w 608430"/>
              <a:gd name="connsiteY23" fmla="*/ 246147 h 608239"/>
              <a:gd name="connsiteX24" fmla="*/ 262607 w 608430"/>
              <a:gd name="connsiteY24" fmla="*/ 246459 h 608239"/>
              <a:gd name="connsiteX25" fmla="*/ 287687 w 608430"/>
              <a:gd name="connsiteY25" fmla="*/ 389063 h 608239"/>
              <a:gd name="connsiteX26" fmla="*/ 270204 w 608430"/>
              <a:gd name="connsiteY26" fmla="*/ 389063 h 608239"/>
              <a:gd name="connsiteX27" fmla="*/ 232845 w 608430"/>
              <a:gd name="connsiteY27" fmla="*/ 308303 h 608239"/>
              <a:gd name="connsiteX28" fmla="*/ 200377 w 608430"/>
              <a:gd name="connsiteY28" fmla="*/ 220890 h 608239"/>
              <a:gd name="connsiteX29" fmla="*/ 304233 w 608430"/>
              <a:gd name="connsiteY29" fmla="*/ 124019 h 608239"/>
              <a:gd name="connsiteX30" fmla="*/ 304195 w 608430"/>
              <a:gd name="connsiteY30" fmla="*/ 89961 h 608239"/>
              <a:gd name="connsiteX31" fmla="*/ 166184 w 608430"/>
              <a:gd name="connsiteY31" fmla="*/ 220907 h 608239"/>
              <a:gd name="connsiteX32" fmla="*/ 204590 w 608430"/>
              <a:gd name="connsiteY32" fmla="*/ 327535 h 608239"/>
              <a:gd name="connsiteX33" fmla="*/ 237688 w 608430"/>
              <a:gd name="connsiteY33" fmla="*/ 406623 h 608239"/>
              <a:gd name="connsiteX34" fmla="*/ 251114 w 608430"/>
              <a:gd name="connsiteY34" fmla="*/ 422731 h 608239"/>
              <a:gd name="connsiteX35" fmla="*/ 239041 w 608430"/>
              <a:gd name="connsiteY35" fmla="*/ 438944 h 608239"/>
              <a:gd name="connsiteX36" fmla="*/ 248720 w 608430"/>
              <a:gd name="connsiteY36" fmla="*/ 454325 h 608239"/>
              <a:gd name="connsiteX37" fmla="*/ 239041 w 608430"/>
              <a:gd name="connsiteY37" fmla="*/ 469602 h 608239"/>
              <a:gd name="connsiteX38" fmla="*/ 256110 w 608430"/>
              <a:gd name="connsiteY38" fmla="*/ 486646 h 608239"/>
              <a:gd name="connsiteX39" fmla="*/ 266518 w 608430"/>
              <a:gd name="connsiteY39" fmla="*/ 486646 h 608239"/>
              <a:gd name="connsiteX40" fmla="*/ 304195 w 608430"/>
              <a:gd name="connsiteY40" fmla="*/ 518135 h 608239"/>
              <a:gd name="connsiteX41" fmla="*/ 341977 w 608430"/>
              <a:gd name="connsiteY41" fmla="*/ 486646 h 608239"/>
              <a:gd name="connsiteX42" fmla="*/ 352385 w 608430"/>
              <a:gd name="connsiteY42" fmla="*/ 486646 h 608239"/>
              <a:gd name="connsiteX43" fmla="*/ 369454 w 608430"/>
              <a:gd name="connsiteY43" fmla="*/ 469602 h 608239"/>
              <a:gd name="connsiteX44" fmla="*/ 359774 w 608430"/>
              <a:gd name="connsiteY44" fmla="*/ 454325 h 608239"/>
              <a:gd name="connsiteX45" fmla="*/ 369454 w 608430"/>
              <a:gd name="connsiteY45" fmla="*/ 438944 h 608239"/>
              <a:gd name="connsiteX46" fmla="*/ 357485 w 608430"/>
              <a:gd name="connsiteY46" fmla="*/ 422731 h 608239"/>
              <a:gd name="connsiteX47" fmla="*/ 370911 w 608430"/>
              <a:gd name="connsiteY47" fmla="*/ 406623 h 608239"/>
              <a:gd name="connsiteX48" fmla="*/ 403905 w 608430"/>
              <a:gd name="connsiteY48" fmla="*/ 327535 h 608239"/>
              <a:gd name="connsiteX49" fmla="*/ 442206 w 608430"/>
              <a:gd name="connsiteY49" fmla="*/ 220907 h 608239"/>
              <a:gd name="connsiteX50" fmla="*/ 304195 w 608430"/>
              <a:gd name="connsiteY50" fmla="*/ 89961 h 608239"/>
              <a:gd name="connsiteX51" fmla="*/ 341872 w 608430"/>
              <a:gd name="connsiteY51" fmla="*/ 65 h 608239"/>
              <a:gd name="connsiteX52" fmla="*/ 347077 w 608430"/>
              <a:gd name="connsiteY52" fmla="*/ 3598 h 608239"/>
              <a:gd name="connsiteX53" fmla="*/ 401719 w 608430"/>
              <a:gd name="connsiteY53" fmla="*/ 46416 h 608239"/>
              <a:gd name="connsiteX54" fmla="*/ 443351 w 608430"/>
              <a:gd name="connsiteY54" fmla="*/ 34776 h 608239"/>
              <a:gd name="connsiteX55" fmla="*/ 449700 w 608430"/>
              <a:gd name="connsiteY55" fmla="*/ 34984 h 608239"/>
              <a:gd name="connsiteX56" fmla="*/ 453239 w 608430"/>
              <a:gd name="connsiteY56" fmla="*/ 40284 h 608239"/>
              <a:gd name="connsiteX57" fmla="*/ 515479 w 608430"/>
              <a:gd name="connsiteY57" fmla="*/ 103471 h 608239"/>
              <a:gd name="connsiteX58" fmla="*/ 529946 w 608430"/>
              <a:gd name="connsiteY58" fmla="*/ 102744 h 608239"/>
              <a:gd name="connsiteX59" fmla="*/ 535879 w 608430"/>
              <a:gd name="connsiteY59" fmla="*/ 105134 h 608239"/>
              <a:gd name="connsiteX60" fmla="*/ 537336 w 608430"/>
              <a:gd name="connsiteY60" fmla="*/ 111369 h 608239"/>
              <a:gd name="connsiteX61" fmla="*/ 539314 w 608430"/>
              <a:gd name="connsiteY61" fmla="*/ 167905 h 608239"/>
              <a:gd name="connsiteX62" fmla="*/ 587191 w 608430"/>
              <a:gd name="connsiteY62" fmla="*/ 198251 h 608239"/>
              <a:gd name="connsiteX63" fmla="*/ 591770 w 608430"/>
              <a:gd name="connsiteY63" fmla="*/ 202616 h 608239"/>
              <a:gd name="connsiteX64" fmla="*/ 590938 w 608430"/>
              <a:gd name="connsiteY64" fmla="*/ 208852 h 608239"/>
              <a:gd name="connsiteX65" fmla="*/ 605821 w 608430"/>
              <a:gd name="connsiteY65" fmla="*/ 310076 h 608239"/>
              <a:gd name="connsiteX66" fmla="*/ 608423 w 608430"/>
              <a:gd name="connsiteY66" fmla="*/ 315896 h 608239"/>
              <a:gd name="connsiteX67" fmla="*/ 605301 w 608430"/>
              <a:gd name="connsiteY67" fmla="*/ 321300 h 608239"/>
              <a:gd name="connsiteX68" fmla="*/ 582403 w 608430"/>
              <a:gd name="connsiteY68" fmla="*/ 420029 h 608239"/>
              <a:gd name="connsiteX69" fmla="*/ 582715 w 608430"/>
              <a:gd name="connsiteY69" fmla="*/ 426369 h 608239"/>
              <a:gd name="connsiteX70" fmla="*/ 577719 w 608430"/>
              <a:gd name="connsiteY70" fmla="*/ 430318 h 608239"/>
              <a:gd name="connsiteX71" fmla="*/ 527865 w 608430"/>
              <a:gd name="connsiteY71" fmla="*/ 456507 h 608239"/>
              <a:gd name="connsiteX72" fmla="*/ 521412 w 608430"/>
              <a:gd name="connsiteY72" fmla="*/ 511796 h 608239"/>
              <a:gd name="connsiteX73" fmla="*/ 521620 w 608430"/>
              <a:gd name="connsiteY73" fmla="*/ 513666 h 608239"/>
              <a:gd name="connsiteX74" fmla="*/ 514751 w 608430"/>
              <a:gd name="connsiteY74" fmla="*/ 520526 h 608239"/>
              <a:gd name="connsiteX75" fmla="*/ 513502 w 608430"/>
              <a:gd name="connsiteY75" fmla="*/ 520422 h 608239"/>
              <a:gd name="connsiteX76" fmla="*/ 490396 w 608430"/>
              <a:gd name="connsiteY76" fmla="*/ 518239 h 608239"/>
              <a:gd name="connsiteX77" fmla="*/ 432110 w 608430"/>
              <a:gd name="connsiteY77" fmla="*/ 576749 h 608239"/>
              <a:gd name="connsiteX78" fmla="*/ 428155 w 608430"/>
              <a:gd name="connsiteY78" fmla="*/ 581738 h 608239"/>
              <a:gd name="connsiteX79" fmla="*/ 421806 w 608430"/>
              <a:gd name="connsiteY79" fmla="*/ 581426 h 608239"/>
              <a:gd name="connsiteX80" fmla="*/ 377052 w 608430"/>
              <a:gd name="connsiteY80" fmla="*/ 566461 h 608239"/>
              <a:gd name="connsiteX81" fmla="*/ 323242 w 608430"/>
              <a:gd name="connsiteY81" fmla="*/ 605017 h 608239"/>
              <a:gd name="connsiteX82" fmla="*/ 321889 w 608430"/>
              <a:gd name="connsiteY82" fmla="*/ 606576 h 608239"/>
              <a:gd name="connsiteX83" fmla="*/ 320120 w 608430"/>
              <a:gd name="connsiteY83" fmla="*/ 607615 h 608239"/>
              <a:gd name="connsiteX84" fmla="*/ 320016 w 608430"/>
              <a:gd name="connsiteY84" fmla="*/ 607719 h 608239"/>
              <a:gd name="connsiteX85" fmla="*/ 319703 w 608430"/>
              <a:gd name="connsiteY85" fmla="*/ 607823 h 608239"/>
              <a:gd name="connsiteX86" fmla="*/ 317830 w 608430"/>
              <a:gd name="connsiteY86" fmla="*/ 608135 h 608239"/>
              <a:gd name="connsiteX87" fmla="*/ 317414 w 608430"/>
              <a:gd name="connsiteY87" fmla="*/ 608239 h 608239"/>
              <a:gd name="connsiteX88" fmla="*/ 315852 w 608430"/>
              <a:gd name="connsiteY88" fmla="*/ 608031 h 608239"/>
              <a:gd name="connsiteX89" fmla="*/ 315124 w 608430"/>
              <a:gd name="connsiteY89" fmla="*/ 607823 h 608239"/>
              <a:gd name="connsiteX90" fmla="*/ 313771 w 608430"/>
              <a:gd name="connsiteY90" fmla="*/ 607096 h 608239"/>
              <a:gd name="connsiteX91" fmla="*/ 313667 w 608430"/>
              <a:gd name="connsiteY91" fmla="*/ 607096 h 608239"/>
              <a:gd name="connsiteX92" fmla="*/ 311897 w 608430"/>
              <a:gd name="connsiteY92" fmla="*/ 605537 h 608239"/>
              <a:gd name="connsiteX93" fmla="*/ 261210 w 608430"/>
              <a:gd name="connsiteY93" fmla="*/ 572488 h 608239"/>
              <a:gd name="connsiteX94" fmla="*/ 214374 w 608430"/>
              <a:gd name="connsiteY94" fmla="*/ 592546 h 608239"/>
              <a:gd name="connsiteX95" fmla="*/ 208025 w 608430"/>
              <a:gd name="connsiteY95" fmla="*/ 593585 h 608239"/>
              <a:gd name="connsiteX96" fmla="*/ 203549 w 608430"/>
              <a:gd name="connsiteY96" fmla="*/ 589117 h 608239"/>
              <a:gd name="connsiteX97" fmla="*/ 146825 w 608430"/>
              <a:gd name="connsiteY97" fmla="*/ 536114 h 608239"/>
              <a:gd name="connsiteX98" fmla="*/ 115497 w 608430"/>
              <a:gd name="connsiteY98" fmla="*/ 540999 h 608239"/>
              <a:gd name="connsiteX99" fmla="*/ 109252 w 608430"/>
              <a:gd name="connsiteY99" fmla="*/ 539752 h 608239"/>
              <a:gd name="connsiteX100" fmla="*/ 106754 w 608430"/>
              <a:gd name="connsiteY100" fmla="*/ 533828 h 608239"/>
              <a:gd name="connsiteX101" fmla="*/ 94889 w 608430"/>
              <a:gd name="connsiteY101" fmla="*/ 479163 h 608239"/>
              <a:gd name="connsiteX102" fmla="*/ 42745 w 608430"/>
              <a:gd name="connsiteY102" fmla="*/ 458586 h 608239"/>
              <a:gd name="connsiteX103" fmla="*/ 37332 w 608430"/>
              <a:gd name="connsiteY103" fmla="*/ 455260 h 608239"/>
              <a:gd name="connsiteX104" fmla="*/ 37020 w 608430"/>
              <a:gd name="connsiteY104" fmla="*/ 448817 h 608239"/>
              <a:gd name="connsiteX105" fmla="*/ 45243 w 608430"/>
              <a:gd name="connsiteY105" fmla="*/ 392489 h 608239"/>
              <a:gd name="connsiteX106" fmla="*/ 3818 w 608430"/>
              <a:gd name="connsiteY106" fmla="*/ 353309 h 608239"/>
              <a:gd name="connsiteX107" fmla="*/ 71 w 608430"/>
              <a:gd name="connsiteY107" fmla="*/ 348113 h 608239"/>
              <a:gd name="connsiteX108" fmla="*/ 2153 w 608430"/>
              <a:gd name="connsiteY108" fmla="*/ 342189 h 608239"/>
              <a:gd name="connsiteX109" fmla="*/ 30359 w 608430"/>
              <a:gd name="connsiteY109" fmla="*/ 292304 h 608239"/>
              <a:gd name="connsiteX110" fmla="*/ 6108 w 608430"/>
              <a:gd name="connsiteY110" fmla="*/ 240341 h 608239"/>
              <a:gd name="connsiteX111" fmla="*/ 4547 w 608430"/>
              <a:gd name="connsiteY111" fmla="*/ 234210 h 608239"/>
              <a:gd name="connsiteX112" fmla="*/ 8710 w 608430"/>
              <a:gd name="connsiteY112" fmla="*/ 229325 h 608239"/>
              <a:gd name="connsiteX113" fmla="*/ 52944 w 608430"/>
              <a:gd name="connsiteY113" fmla="*/ 193887 h 608239"/>
              <a:gd name="connsiteX114" fmla="*/ 48989 w 608430"/>
              <a:gd name="connsiteY114" fmla="*/ 137351 h 608239"/>
              <a:gd name="connsiteX115" fmla="*/ 49822 w 608430"/>
              <a:gd name="connsiteY115" fmla="*/ 131011 h 608239"/>
              <a:gd name="connsiteX116" fmla="*/ 55442 w 608430"/>
              <a:gd name="connsiteY116" fmla="*/ 127998 h 608239"/>
              <a:gd name="connsiteX117" fmla="*/ 124656 w 608430"/>
              <a:gd name="connsiteY117" fmla="*/ 58159 h 608239"/>
              <a:gd name="connsiteX118" fmla="*/ 127674 w 608430"/>
              <a:gd name="connsiteY118" fmla="*/ 52443 h 608239"/>
              <a:gd name="connsiteX119" fmla="*/ 133919 w 608430"/>
              <a:gd name="connsiteY119" fmla="*/ 51612 h 608239"/>
              <a:gd name="connsiteX120" fmla="*/ 170139 w 608430"/>
              <a:gd name="connsiteY120" fmla="*/ 58991 h 608239"/>
              <a:gd name="connsiteX121" fmla="*/ 225614 w 608430"/>
              <a:gd name="connsiteY121" fmla="*/ 10250 h 608239"/>
              <a:gd name="connsiteX122" fmla="*/ 230402 w 608430"/>
              <a:gd name="connsiteY122" fmla="*/ 6092 h 608239"/>
              <a:gd name="connsiteX123" fmla="*/ 236543 w 608430"/>
              <a:gd name="connsiteY123" fmla="*/ 7651 h 608239"/>
              <a:gd name="connsiteX124" fmla="*/ 285357 w 608430"/>
              <a:gd name="connsiteY124" fmla="*/ 31346 h 608239"/>
              <a:gd name="connsiteX125" fmla="*/ 335836 w 608430"/>
              <a:gd name="connsiteY125" fmla="*/ 2247 h 608239"/>
              <a:gd name="connsiteX126" fmla="*/ 341872 w 608430"/>
              <a:gd name="connsiteY126" fmla="*/ 65 h 608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8430" h="608239">
                <a:moveTo>
                  <a:pt x="291327" y="232337"/>
                </a:moveTo>
                <a:cubicBezTo>
                  <a:pt x="293617" y="232337"/>
                  <a:pt x="295386" y="234000"/>
                  <a:pt x="296219" y="235039"/>
                </a:cubicBezTo>
                <a:cubicBezTo>
                  <a:pt x="298196" y="237429"/>
                  <a:pt x="301110" y="238780"/>
                  <a:pt x="304232" y="238780"/>
                </a:cubicBezTo>
                <a:cubicBezTo>
                  <a:pt x="307354" y="238780"/>
                  <a:pt x="310268" y="237429"/>
                  <a:pt x="312246" y="235039"/>
                </a:cubicBezTo>
                <a:cubicBezTo>
                  <a:pt x="313078" y="234000"/>
                  <a:pt x="314848" y="232337"/>
                  <a:pt x="317241" y="232337"/>
                </a:cubicBezTo>
                <a:cubicBezTo>
                  <a:pt x="319219" y="232337"/>
                  <a:pt x="321508" y="233480"/>
                  <a:pt x="323173" y="235454"/>
                </a:cubicBezTo>
                <a:cubicBezTo>
                  <a:pt x="324214" y="236701"/>
                  <a:pt x="325983" y="239299"/>
                  <a:pt x="325359" y="242936"/>
                </a:cubicBezTo>
                <a:lnTo>
                  <a:pt x="304232" y="363165"/>
                </a:lnTo>
                <a:lnTo>
                  <a:pt x="283106" y="243040"/>
                </a:lnTo>
                <a:cubicBezTo>
                  <a:pt x="282585" y="239299"/>
                  <a:pt x="284667" y="236494"/>
                  <a:pt x="285499" y="235454"/>
                </a:cubicBezTo>
                <a:cubicBezTo>
                  <a:pt x="287164" y="233584"/>
                  <a:pt x="289454" y="232337"/>
                  <a:pt x="291327" y="232337"/>
                </a:cubicBezTo>
                <a:close/>
                <a:moveTo>
                  <a:pt x="304233" y="124019"/>
                </a:moveTo>
                <a:cubicBezTo>
                  <a:pt x="361572" y="124019"/>
                  <a:pt x="408192" y="167465"/>
                  <a:pt x="408192" y="220890"/>
                </a:cubicBezTo>
                <a:cubicBezTo>
                  <a:pt x="408192" y="260802"/>
                  <a:pt x="393103" y="282838"/>
                  <a:pt x="375724" y="308406"/>
                </a:cubicBezTo>
                <a:cubicBezTo>
                  <a:pt x="361260" y="329610"/>
                  <a:pt x="343673" y="355283"/>
                  <a:pt x="338366" y="389063"/>
                </a:cubicBezTo>
                <a:lnTo>
                  <a:pt x="320779" y="389063"/>
                </a:lnTo>
                <a:lnTo>
                  <a:pt x="345858" y="246459"/>
                </a:lnTo>
                <a:cubicBezTo>
                  <a:pt x="345962" y="246355"/>
                  <a:pt x="345962" y="246251"/>
                  <a:pt x="345962" y="246147"/>
                </a:cubicBezTo>
                <a:cubicBezTo>
                  <a:pt x="347315" y="237416"/>
                  <a:pt x="344713" y="228581"/>
                  <a:pt x="338990" y="221825"/>
                </a:cubicBezTo>
                <a:cubicBezTo>
                  <a:pt x="333371" y="215381"/>
                  <a:pt x="325254" y="211535"/>
                  <a:pt x="317241" y="211535"/>
                </a:cubicBezTo>
                <a:cubicBezTo>
                  <a:pt x="312662" y="211535"/>
                  <a:pt x="308187" y="212783"/>
                  <a:pt x="304233" y="214965"/>
                </a:cubicBezTo>
                <a:cubicBezTo>
                  <a:pt x="300278" y="212783"/>
                  <a:pt x="295804" y="211535"/>
                  <a:pt x="291329" y="211535"/>
                </a:cubicBezTo>
                <a:cubicBezTo>
                  <a:pt x="283316" y="211535"/>
                  <a:pt x="275511" y="215277"/>
                  <a:pt x="269788" y="221929"/>
                </a:cubicBezTo>
                <a:cubicBezTo>
                  <a:pt x="263856" y="228685"/>
                  <a:pt x="261254" y="237520"/>
                  <a:pt x="262503" y="246147"/>
                </a:cubicBezTo>
                <a:cubicBezTo>
                  <a:pt x="262607" y="246251"/>
                  <a:pt x="262607" y="246355"/>
                  <a:pt x="262607" y="246459"/>
                </a:cubicBezTo>
                <a:lnTo>
                  <a:pt x="287687" y="389063"/>
                </a:lnTo>
                <a:lnTo>
                  <a:pt x="270204" y="389063"/>
                </a:lnTo>
                <a:cubicBezTo>
                  <a:pt x="264897" y="355283"/>
                  <a:pt x="247310" y="329506"/>
                  <a:pt x="232845" y="308303"/>
                </a:cubicBezTo>
                <a:cubicBezTo>
                  <a:pt x="215362" y="282838"/>
                  <a:pt x="200377" y="260802"/>
                  <a:pt x="200377" y="220890"/>
                </a:cubicBezTo>
                <a:cubicBezTo>
                  <a:pt x="200377" y="167465"/>
                  <a:pt x="246998" y="124019"/>
                  <a:pt x="304233" y="124019"/>
                </a:cubicBezTo>
                <a:close/>
                <a:moveTo>
                  <a:pt x="304195" y="89961"/>
                </a:moveTo>
                <a:cubicBezTo>
                  <a:pt x="228112" y="89961"/>
                  <a:pt x="166184" y="148783"/>
                  <a:pt x="166184" y="220907"/>
                </a:cubicBezTo>
                <a:cubicBezTo>
                  <a:pt x="166184" y="271311"/>
                  <a:pt x="185751" y="299891"/>
                  <a:pt x="204590" y="327535"/>
                </a:cubicBezTo>
                <a:cubicBezTo>
                  <a:pt x="220410" y="350503"/>
                  <a:pt x="236647" y="374406"/>
                  <a:pt x="237688" y="406623"/>
                </a:cubicBezTo>
                <a:cubicBezTo>
                  <a:pt x="237896" y="414521"/>
                  <a:pt x="243620" y="421068"/>
                  <a:pt x="251114" y="422731"/>
                </a:cubicBezTo>
                <a:cubicBezTo>
                  <a:pt x="244141" y="424810"/>
                  <a:pt x="239041" y="431357"/>
                  <a:pt x="239041" y="438944"/>
                </a:cubicBezTo>
                <a:cubicBezTo>
                  <a:pt x="239041" y="445699"/>
                  <a:pt x="242996" y="451519"/>
                  <a:pt x="248720" y="454325"/>
                </a:cubicBezTo>
                <a:cubicBezTo>
                  <a:pt x="242996" y="457027"/>
                  <a:pt x="239041" y="462847"/>
                  <a:pt x="239041" y="469602"/>
                </a:cubicBezTo>
                <a:cubicBezTo>
                  <a:pt x="239041" y="479059"/>
                  <a:pt x="246639" y="486646"/>
                  <a:pt x="256110" y="486646"/>
                </a:cubicBezTo>
                <a:lnTo>
                  <a:pt x="266518" y="486646"/>
                </a:lnTo>
                <a:cubicBezTo>
                  <a:pt x="269745" y="504521"/>
                  <a:pt x="285357" y="518135"/>
                  <a:pt x="304195" y="518135"/>
                </a:cubicBezTo>
                <a:cubicBezTo>
                  <a:pt x="323034" y="518135"/>
                  <a:pt x="338750" y="504521"/>
                  <a:pt x="341977" y="486646"/>
                </a:cubicBezTo>
                <a:lnTo>
                  <a:pt x="352385" y="486646"/>
                </a:lnTo>
                <a:cubicBezTo>
                  <a:pt x="361752" y="486646"/>
                  <a:pt x="369454" y="479059"/>
                  <a:pt x="369454" y="469602"/>
                </a:cubicBezTo>
                <a:cubicBezTo>
                  <a:pt x="369454" y="462847"/>
                  <a:pt x="365499" y="457027"/>
                  <a:pt x="359774" y="454325"/>
                </a:cubicBezTo>
                <a:cubicBezTo>
                  <a:pt x="365499" y="451519"/>
                  <a:pt x="369454" y="445699"/>
                  <a:pt x="369454" y="438944"/>
                </a:cubicBezTo>
                <a:cubicBezTo>
                  <a:pt x="369454" y="431357"/>
                  <a:pt x="364354" y="424914"/>
                  <a:pt x="357485" y="422731"/>
                </a:cubicBezTo>
                <a:cubicBezTo>
                  <a:pt x="364978" y="421172"/>
                  <a:pt x="370599" y="414625"/>
                  <a:pt x="370911" y="406623"/>
                </a:cubicBezTo>
                <a:cubicBezTo>
                  <a:pt x="371848" y="374406"/>
                  <a:pt x="388084" y="350607"/>
                  <a:pt x="403905" y="327535"/>
                </a:cubicBezTo>
                <a:cubicBezTo>
                  <a:pt x="422743" y="299891"/>
                  <a:pt x="442206" y="271311"/>
                  <a:pt x="442206" y="220907"/>
                </a:cubicBezTo>
                <a:cubicBezTo>
                  <a:pt x="442206" y="148783"/>
                  <a:pt x="380278" y="89961"/>
                  <a:pt x="304195" y="89961"/>
                </a:cubicBezTo>
                <a:close/>
                <a:moveTo>
                  <a:pt x="341872" y="65"/>
                </a:moveTo>
                <a:cubicBezTo>
                  <a:pt x="344058" y="273"/>
                  <a:pt x="346036" y="1624"/>
                  <a:pt x="347077" y="3598"/>
                </a:cubicBezTo>
                <a:cubicBezTo>
                  <a:pt x="363001" y="33217"/>
                  <a:pt x="379862" y="46416"/>
                  <a:pt x="401719" y="46416"/>
                </a:cubicBezTo>
                <a:cubicBezTo>
                  <a:pt x="413480" y="46416"/>
                  <a:pt x="427115" y="42674"/>
                  <a:pt x="443351" y="34776"/>
                </a:cubicBezTo>
                <a:cubicBezTo>
                  <a:pt x="445329" y="33841"/>
                  <a:pt x="447723" y="33945"/>
                  <a:pt x="449700" y="34984"/>
                </a:cubicBezTo>
                <a:cubicBezTo>
                  <a:pt x="451678" y="36127"/>
                  <a:pt x="453031" y="38102"/>
                  <a:pt x="453239" y="40284"/>
                </a:cubicBezTo>
                <a:cubicBezTo>
                  <a:pt x="458131" y="85180"/>
                  <a:pt x="476241" y="103471"/>
                  <a:pt x="515479" y="103471"/>
                </a:cubicBezTo>
                <a:cubicBezTo>
                  <a:pt x="519955" y="103471"/>
                  <a:pt x="524846" y="103263"/>
                  <a:pt x="529946" y="102744"/>
                </a:cubicBezTo>
                <a:cubicBezTo>
                  <a:pt x="532132" y="102536"/>
                  <a:pt x="534422" y="103471"/>
                  <a:pt x="535879" y="105134"/>
                </a:cubicBezTo>
                <a:cubicBezTo>
                  <a:pt x="537336" y="106901"/>
                  <a:pt x="537856" y="109187"/>
                  <a:pt x="537336" y="111369"/>
                </a:cubicBezTo>
                <a:cubicBezTo>
                  <a:pt x="530883" y="136416"/>
                  <a:pt x="531508" y="154291"/>
                  <a:pt x="539314" y="167905"/>
                </a:cubicBezTo>
                <a:cubicBezTo>
                  <a:pt x="547120" y="181415"/>
                  <a:pt x="562315" y="190977"/>
                  <a:pt x="587191" y="198251"/>
                </a:cubicBezTo>
                <a:cubicBezTo>
                  <a:pt x="589272" y="198875"/>
                  <a:pt x="591042" y="200434"/>
                  <a:pt x="591770" y="202616"/>
                </a:cubicBezTo>
                <a:cubicBezTo>
                  <a:pt x="592499" y="204695"/>
                  <a:pt x="592187" y="206981"/>
                  <a:pt x="590938" y="208852"/>
                </a:cubicBezTo>
                <a:cubicBezTo>
                  <a:pt x="561483" y="251046"/>
                  <a:pt x="565542" y="278482"/>
                  <a:pt x="605821" y="310076"/>
                </a:cubicBezTo>
                <a:cubicBezTo>
                  <a:pt x="607486" y="311531"/>
                  <a:pt x="608527" y="313609"/>
                  <a:pt x="608423" y="315896"/>
                </a:cubicBezTo>
                <a:cubicBezTo>
                  <a:pt x="608319" y="318078"/>
                  <a:pt x="607174" y="320156"/>
                  <a:pt x="605301" y="321300"/>
                </a:cubicBezTo>
                <a:cubicBezTo>
                  <a:pt x="563044" y="349048"/>
                  <a:pt x="556591" y="376692"/>
                  <a:pt x="582403" y="420029"/>
                </a:cubicBezTo>
                <a:cubicBezTo>
                  <a:pt x="583548" y="421900"/>
                  <a:pt x="583652" y="424290"/>
                  <a:pt x="582715" y="426369"/>
                </a:cubicBezTo>
                <a:cubicBezTo>
                  <a:pt x="581778" y="428343"/>
                  <a:pt x="580009" y="429902"/>
                  <a:pt x="577719" y="430318"/>
                </a:cubicBezTo>
                <a:cubicBezTo>
                  <a:pt x="552428" y="435410"/>
                  <a:pt x="536607" y="443724"/>
                  <a:pt x="527865" y="456507"/>
                </a:cubicBezTo>
                <a:cubicBezTo>
                  <a:pt x="519122" y="469186"/>
                  <a:pt x="517144" y="486750"/>
                  <a:pt x="521412" y="511796"/>
                </a:cubicBezTo>
                <a:cubicBezTo>
                  <a:pt x="521620" y="512419"/>
                  <a:pt x="521620" y="513043"/>
                  <a:pt x="521620" y="513666"/>
                </a:cubicBezTo>
                <a:cubicBezTo>
                  <a:pt x="521620" y="517512"/>
                  <a:pt x="518602" y="520526"/>
                  <a:pt x="514751" y="520526"/>
                </a:cubicBezTo>
                <a:cubicBezTo>
                  <a:pt x="514334" y="520526"/>
                  <a:pt x="513918" y="520526"/>
                  <a:pt x="513502" y="520422"/>
                </a:cubicBezTo>
                <a:cubicBezTo>
                  <a:pt x="505071" y="518967"/>
                  <a:pt x="497265" y="518239"/>
                  <a:pt x="490396" y="518239"/>
                </a:cubicBezTo>
                <a:cubicBezTo>
                  <a:pt x="456986" y="518239"/>
                  <a:pt x="440125" y="535179"/>
                  <a:pt x="432110" y="576749"/>
                </a:cubicBezTo>
                <a:cubicBezTo>
                  <a:pt x="431694" y="578932"/>
                  <a:pt x="430237" y="580803"/>
                  <a:pt x="428155" y="581738"/>
                </a:cubicBezTo>
                <a:cubicBezTo>
                  <a:pt x="426178" y="582673"/>
                  <a:pt x="423784" y="582569"/>
                  <a:pt x="421806" y="581426"/>
                </a:cubicBezTo>
                <a:cubicBezTo>
                  <a:pt x="404425" y="571345"/>
                  <a:pt x="389854" y="566461"/>
                  <a:pt x="377052" y="566461"/>
                </a:cubicBezTo>
                <a:cubicBezTo>
                  <a:pt x="357381" y="566461"/>
                  <a:pt x="340311" y="578724"/>
                  <a:pt x="323242" y="605017"/>
                </a:cubicBezTo>
                <a:cubicBezTo>
                  <a:pt x="322826" y="605641"/>
                  <a:pt x="322409" y="606160"/>
                  <a:pt x="321889" y="606576"/>
                </a:cubicBezTo>
                <a:cubicBezTo>
                  <a:pt x="321369" y="606992"/>
                  <a:pt x="320744" y="607408"/>
                  <a:pt x="320120" y="607615"/>
                </a:cubicBezTo>
                <a:cubicBezTo>
                  <a:pt x="320016" y="607719"/>
                  <a:pt x="320016" y="607719"/>
                  <a:pt x="320016" y="607719"/>
                </a:cubicBezTo>
                <a:cubicBezTo>
                  <a:pt x="319911" y="607719"/>
                  <a:pt x="319807" y="607719"/>
                  <a:pt x="319703" y="607823"/>
                </a:cubicBezTo>
                <a:cubicBezTo>
                  <a:pt x="319079" y="608031"/>
                  <a:pt x="318454" y="608135"/>
                  <a:pt x="317830" y="608135"/>
                </a:cubicBezTo>
                <a:cubicBezTo>
                  <a:pt x="317622" y="608239"/>
                  <a:pt x="317518" y="608239"/>
                  <a:pt x="317414" y="608239"/>
                </a:cubicBezTo>
                <a:cubicBezTo>
                  <a:pt x="316893" y="608239"/>
                  <a:pt x="316373" y="608135"/>
                  <a:pt x="315852" y="608031"/>
                </a:cubicBezTo>
                <a:cubicBezTo>
                  <a:pt x="315540" y="607927"/>
                  <a:pt x="315332" y="607927"/>
                  <a:pt x="315124" y="607823"/>
                </a:cubicBezTo>
                <a:cubicBezTo>
                  <a:pt x="314603" y="607615"/>
                  <a:pt x="314187" y="607408"/>
                  <a:pt x="313771" y="607096"/>
                </a:cubicBezTo>
                <a:cubicBezTo>
                  <a:pt x="313771" y="607096"/>
                  <a:pt x="313667" y="607096"/>
                  <a:pt x="313667" y="607096"/>
                </a:cubicBezTo>
                <a:cubicBezTo>
                  <a:pt x="313042" y="606680"/>
                  <a:pt x="312418" y="606160"/>
                  <a:pt x="311897" y="605537"/>
                </a:cubicBezTo>
                <a:cubicBezTo>
                  <a:pt x="294516" y="582985"/>
                  <a:pt x="278383" y="572488"/>
                  <a:pt x="261210" y="572488"/>
                </a:cubicBezTo>
                <a:cubicBezTo>
                  <a:pt x="247575" y="572488"/>
                  <a:pt x="232276" y="579036"/>
                  <a:pt x="214374" y="592546"/>
                </a:cubicBezTo>
                <a:cubicBezTo>
                  <a:pt x="212604" y="593897"/>
                  <a:pt x="210210" y="594313"/>
                  <a:pt x="208025" y="593585"/>
                </a:cubicBezTo>
                <a:cubicBezTo>
                  <a:pt x="205943" y="592962"/>
                  <a:pt x="204278" y="591195"/>
                  <a:pt x="203549" y="589117"/>
                </a:cubicBezTo>
                <a:cubicBezTo>
                  <a:pt x="191996" y="552015"/>
                  <a:pt x="175031" y="536114"/>
                  <a:pt x="146825" y="536114"/>
                </a:cubicBezTo>
                <a:cubicBezTo>
                  <a:pt x="137666" y="536114"/>
                  <a:pt x="127466" y="537777"/>
                  <a:pt x="115497" y="540999"/>
                </a:cubicBezTo>
                <a:cubicBezTo>
                  <a:pt x="113311" y="541622"/>
                  <a:pt x="111022" y="541103"/>
                  <a:pt x="109252" y="539752"/>
                </a:cubicBezTo>
                <a:cubicBezTo>
                  <a:pt x="107483" y="538297"/>
                  <a:pt x="106546" y="536114"/>
                  <a:pt x="106754" y="533828"/>
                </a:cubicBezTo>
                <a:cubicBezTo>
                  <a:pt x="108628" y="508262"/>
                  <a:pt x="104881" y="490803"/>
                  <a:pt x="94889" y="479163"/>
                </a:cubicBezTo>
                <a:cubicBezTo>
                  <a:pt x="85001" y="467419"/>
                  <a:pt x="68348" y="460872"/>
                  <a:pt x="42745" y="458586"/>
                </a:cubicBezTo>
                <a:cubicBezTo>
                  <a:pt x="40455" y="458482"/>
                  <a:pt x="38477" y="457131"/>
                  <a:pt x="37332" y="455260"/>
                </a:cubicBezTo>
                <a:cubicBezTo>
                  <a:pt x="36187" y="453286"/>
                  <a:pt x="36083" y="450895"/>
                  <a:pt x="37020" y="448817"/>
                </a:cubicBezTo>
                <a:cubicBezTo>
                  <a:pt x="47845" y="425226"/>
                  <a:pt x="50447" y="407350"/>
                  <a:pt x="45243" y="392489"/>
                </a:cubicBezTo>
                <a:cubicBezTo>
                  <a:pt x="40038" y="377524"/>
                  <a:pt x="26924" y="365052"/>
                  <a:pt x="3818" y="353309"/>
                </a:cubicBezTo>
                <a:cubicBezTo>
                  <a:pt x="1841" y="352270"/>
                  <a:pt x="384" y="350399"/>
                  <a:pt x="71" y="348113"/>
                </a:cubicBezTo>
                <a:cubicBezTo>
                  <a:pt x="-241" y="345930"/>
                  <a:pt x="488" y="343748"/>
                  <a:pt x="2153" y="342189"/>
                </a:cubicBezTo>
                <a:cubicBezTo>
                  <a:pt x="20784" y="324002"/>
                  <a:pt x="29734" y="308205"/>
                  <a:pt x="30359" y="292304"/>
                </a:cubicBezTo>
                <a:cubicBezTo>
                  <a:pt x="30983" y="276404"/>
                  <a:pt x="23281" y="259879"/>
                  <a:pt x="6108" y="240341"/>
                </a:cubicBezTo>
                <a:cubicBezTo>
                  <a:pt x="4651" y="238679"/>
                  <a:pt x="4027" y="236392"/>
                  <a:pt x="4547" y="234210"/>
                </a:cubicBezTo>
                <a:cubicBezTo>
                  <a:pt x="5067" y="232027"/>
                  <a:pt x="6629" y="230261"/>
                  <a:pt x="8710" y="229325"/>
                </a:cubicBezTo>
                <a:cubicBezTo>
                  <a:pt x="32649" y="219556"/>
                  <a:pt x="46700" y="208228"/>
                  <a:pt x="52944" y="193887"/>
                </a:cubicBezTo>
                <a:cubicBezTo>
                  <a:pt x="59293" y="179545"/>
                  <a:pt x="58044" y="161566"/>
                  <a:pt x="48989" y="137351"/>
                </a:cubicBezTo>
                <a:cubicBezTo>
                  <a:pt x="48261" y="135272"/>
                  <a:pt x="48573" y="132882"/>
                  <a:pt x="49822" y="131011"/>
                </a:cubicBezTo>
                <a:cubicBezTo>
                  <a:pt x="51071" y="129141"/>
                  <a:pt x="53153" y="128101"/>
                  <a:pt x="55442" y="127998"/>
                </a:cubicBezTo>
                <a:cubicBezTo>
                  <a:pt x="105922" y="127478"/>
                  <a:pt x="124656" y="108563"/>
                  <a:pt x="124656" y="58159"/>
                </a:cubicBezTo>
                <a:cubicBezTo>
                  <a:pt x="124656" y="55873"/>
                  <a:pt x="125801" y="53794"/>
                  <a:pt x="127674" y="52443"/>
                </a:cubicBezTo>
                <a:cubicBezTo>
                  <a:pt x="129444" y="51196"/>
                  <a:pt x="131838" y="50885"/>
                  <a:pt x="133919" y="51612"/>
                </a:cubicBezTo>
                <a:cubicBezTo>
                  <a:pt x="147970" y="56600"/>
                  <a:pt x="159731" y="58991"/>
                  <a:pt x="170139" y="58991"/>
                </a:cubicBezTo>
                <a:cubicBezTo>
                  <a:pt x="195015" y="58991"/>
                  <a:pt x="212084" y="44025"/>
                  <a:pt x="225614" y="10250"/>
                </a:cubicBezTo>
                <a:cubicBezTo>
                  <a:pt x="226447" y="8171"/>
                  <a:pt x="228216" y="6612"/>
                  <a:pt x="230402" y="6092"/>
                </a:cubicBezTo>
                <a:cubicBezTo>
                  <a:pt x="232588" y="5573"/>
                  <a:pt x="234878" y="6196"/>
                  <a:pt x="236543" y="7651"/>
                </a:cubicBezTo>
                <a:cubicBezTo>
                  <a:pt x="254861" y="23656"/>
                  <a:pt x="270785" y="31346"/>
                  <a:pt x="285357" y="31346"/>
                </a:cubicBezTo>
                <a:cubicBezTo>
                  <a:pt x="301593" y="31346"/>
                  <a:pt x="317622" y="22097"/>
                  <a:pt x="335836" y="2247"/>
                </a:cubicBezTo>
                <a:cubicBezTo>
                  <a:pt x="337397" y="584"/>
                  <a:pt x="339687" y="-247"/>
                  <a:pt x="341872" y="65"/>
                </a:cubicBezTo>
                <a:close/>
              </a:path>
            </a:pathLst>
          </a:custGeom>
          <a:solidFill>
            <a:srgbClr val="EAB908"/>
          </a:solidFill>
          <a:ln>
            <a:noFill/>
          </a:ln>
          <a:scene3d>
            <a:camera prst="perspectiveRight">
              <a:rot lat="0" lon="21594000" rev="0"/>
            </a:camera>
            <a:lightRig rig="threePt" dir="t"/>
          </a:scene3d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iṥ1íďe">
            <a:extLst>
              <a:ext uri="{FF2B5EF4-FFF2-40B4-BE49-F238E27FC236}">
                <a16:creationId xmlns:a16="http://schemas.microsoft.com/office/drawing/2014/main" id="{DF2E416E-5FB3-44EE-A40B-994D10E712D6}"/>
              </a:ext>
            </a:extLst>
          </p:cNvPr>
          <p:cNvSpPr/>
          <p:nvPr/>
        </p:nvSpPr>
        <p:spPr>
          <a:xfrm flipH="1">
            <a:off x="4953692" y="2585109"/>
            <a:ext cx="2289573" cy="560065"/>
          </a:xfrm>
          <a:prstGeom prst="rect">
            <a:avLst/>
          </a:prstGeom>
          <a:scene3d>
            <a:camera prst="perspectiveRight">
              <a:rot lat="0" lon="21594000" rev="0"/>
            </a:camera>
            <a:lightRig rig="threePt" dir="t"/>
          </a:scene3d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b="1" dirty="0">
                <a:cs typeface="+mn-ea"/>
                <a:sym typeface="+mn-lt"/>
              </a:rPr>
              <a:t>可靠性</a:t>
            </a:r>
          </a:p>
        </p:txBody>
      </p:sp>
      <p:sp>
        <p:nvSpPr>
          <p:cNvPr id="20" name="have-an-idea_65779">
            <a:extLst>
              <a:ext uri="{FF2B5EF4-FFF2-40B4-BE49-F238E27FC236}">
                <a16:creationId xmlns:a16="http://schemas.microsoft.com/office/drawing/2014/main" id="{0EB2D7DF-F48A-46A0-852E-13EC9DAFB3E8}"/>
              </a:ext>
            </a:extLst>
          </p:cNvPr>
          <p:cNvSpPr>
            <a:spLocks noChangeAspect="1"/>
          </p:cNvSpPr>
          <p:nvPr/>
        </p:nvSpPr>
        <p:spPr bwMode="auto">
          <a:xfrm>
            <a:off x="9461057" y="2134186"/>
            <a:ext cx="484991" cy="504000"/>
          </a:xfrm>
          <a:custGeom>
            <a:avLst/>
            <a:gdLst>
              <a:gd name="T0" fmla="*/ 295 w 589"/>
              <a:gd name="T1" fmla="*/ 0 h 613"/>
              <a:gd name="T2" fmla="*/ 295 w 589"/>
              <a:gd name="T3" fmla="*/ 0 h 613"/>
              <a:gd name="T4" fmla="*/ 0 w 589"/>
              <a:gd name="T5" fmla="*/ 295 h 613"/>
              <a:gd name="T6" fmla="*/ 139 w 589"/>
              <a:gd name="T7" fmla="*/ 545 h 613"/>
              <a:gd name="T8" fmla="*/ 125 w 589"/>
              <a:gd name="T9" fmla="*/ 571 h 613"/>
              <a:gd name="T10" fmla="*/ 125 w 589"/>
              <a:gd name="T11" fmla="*/ 599 h 613"/>
              <a:gd name="T12" fmla="*/ 149 w 589"/>
              <a:gd name="T13" fmla="*/ 613 h 613"/>
              <a:gd name="T14" fmla="*/ 383 w 589"/>
              <a:gd name="T15" fmla="*/ 613 h 613"/>
              <a:gd name="T16" fmla="*/ 408 w 589"/>
              <a:gd name="T17" fmla="*/ 599 h 613"/>
              <a:gd name="T18" fmla="*/ 432 w 589"/>
              <a:gd name="T19" fmla="*/ 555 h 613"/>
              <a:gd name="T20" fmla="*/ 511 w 589"/>
              <a:gd name="T21" fmla="*/ 494 h 613"/>
              <a:gd name="T22" fmla="*/ 519 w 589"/>
              <a:gd name="T23" fmla="*/ 475 h 613"/>
              <a:gd name="T24" fmla="*/ 519 w 589"/>
              <a:gd name="T25" fmla="*/ 387 h 613"/>
              <a:gd name="T26" fmla="*/ 553 w 589"/>
              <a:gd name="T27" fmla="*/ 387 h 613"/>
              <a:gd name="T28" fmla="*/ 581 w 589"/>
              <a:gd name="T29" fmla="*/ 365 h 613"/>
              <a:gd name="T30" fmla="*/ 589 w 589"/>
              <a:gd name="T31" fmla="*/ 295 h 613"/>
              <a:gd name="T32" fmla="*/ 295 w 589"/>
              <a:gd name="T33" fmla="*/ 0 h 613"/>
              <a:gd name="T34" fmla="*/ 419 w 589"/>
              <a:gd name="T35" fmla="*/ 284 h 613"/>
              <a:gd name="T36" fmla="*/ 380 w 589"/>
              <a:gd name="T37" fmla="*/ 284 h 613"/>
              <a:gd name="T38" fmla="*/ 342 w 589"/>
              <a:gd name="T39" fmla="*/ 349 h 613"/>
              <a:gd name="T40" fmla="*/ 342 w 589"/>
              <a:gd name="T41" fmla="*/ 359 h 613"/>
              <a:gd name="T42" fmla="*/ 323 w 589"/>
              <a:gd name="T43" fmla="*/ 394 h 613"/>
              <a:gd name="T44" fmla="*/ 323 w 589"/>
              <a:gd name="T45" fmla="*/ 434 h 613"/>
              <a:gd name="T46" fmla="*/ 302 w 589"/>
              <a:gd name="T47" fmla="*/ 455 h 613"/>
              <a:gd name="T48" fmla="*/ 234 w 589"/>
              <a:gd name="T49" fmla="*/ 455 h 613"/>
              <a:gd name="T50" fmla="*/ 213 w 589"/>
              <a:gd name="T51" fmla="*/ 434 h 613"/>
              <a:gd name="T52" fmla="*/ 213 w 589"/>
              <a:gd name="T53" fmla="*/ 394 h 613"/>
              <a:gd name="T54" fmla="*/ 194 w 589"/>
              <a:gd name="T55" fmla="*/ 359 h 613"/>
              <a:gd name="T56" fmla="*/ 194 w 589"/>
              <a:gd name="T57" fmla="*/ 349 h 613"/>
              <a:gd name="T58" fmla="*/ 156 w 589"/>
              <a:gd name="T59" fmla="*/ 284 h 613"/>
              <a:gd name="T60" fmla="*/ 117 w 589"/>
              <a:gd name="T61" fmla="*/ 284 h 613"/>
              <a:gd name="T62" fmla="*/ 96 w 589"/>
              <a:gd name="T63" fmla="*/ 263 h 613"/>
              <a:gd name="T64" fmla="*/ 117 w 589"/>
              <a:gd name="T65" fmla="*/ 242 h 613"/>
              <a:gd name="T66" fmla="*/ 156 w 589"/>
              <a:gd name="T67" fmla="*/ 242 h 613"/>
              <a:gd name="T68" fmla="*/ 174 w 589"/>
              <a:gd name="T69" fmla="*/ 199 h 613"/>
              <a:gd name="T70" fmla="*/ 147 w 589"/>
              <a:gd name="T71" fmla="*/ 171 h 613"/>
              <a:gd name="T72" fmla="*/ 147 w 589"/>
              <a:gd name="T73" fmla="*/ 142 h 613"/>
              <a:gd name="T74" fmla="*/ 176 w 589"/>
              <a:gd name="T75" fmla="*/ 142 h 613"/>
              <a:gd name="T76" fmla="*/ 204 w 589"/>
              <a:gd name="T77" fmla="*/ 170 h 613"/>
              <a:gd name="T78" fmla="*/ 247 w 589"/>
              <a:gd name="T79" fmla="*/ 152 h 613"/>
              <a:gd name="T80" fmla="*/ 247 w 589"/>
              <a:gd name="T81" fmla="*/ 112 h 613"/>
              <a:gd name="T82" fmla="*/ 268 w 589"/>
              <a:gd name="T83" fmla="*/ 92 h 613"/>
              <a:gd name="T84" fmla="*/ 289 w 589"/>
              <a:gd name="T85" fmla="*/ 112 h 613"/>
              <a:gd name="T86" fmla="*/ 289 w 589"/>
              <a:gd name="T87" fmla="*/ 152 h 613"/>
              <a:gd name="T88" fmla="*/ 332 w 589"/>
              <a:gd name="T89" fmla="*/ 170 h 613"/>
              <a:gd name="T90" fmla="*/ 360 w 589"/>
              <a:gd name="T91" fmla="*/ 142 h 613"/>
              <a:gd name="T92" fmla="*/ 389 w 589"/>
              <a:gd name="T93" fmla="*/ 142 h 613"/>
              <a:gd name="T94" fmla="*/ 389 w 589"/>
              <a:gd name="T95" fmla="*/ 171 h 613"/>
              <a:gd name="T96" fmla="*/ 362 w 589"/>
              <a:gd name="T97" fmla="*/ 199 h 613"/>
              <a:gd name="T98" fmla="*/ 380 w 589"/>
              <a:gd name="T99" fmla="*/ 242 h 613"/>
              <a:gd name="T100" fmla="*/ 419 w 589"/>
              <a:gd name="T101" fmla="*/ 242 h 613"/>
              <a:gd name="T102" fmla="*/ 440 w 589"/>
              <a:gd name="T103" fmla="*/ 263 h 613"/>
              <a:gd name="T104" fmla="*/ 419 w 589"/>
              <a:gd name="T105" fmla="*/ 284 h 613"/>
              <a:gd name="T106" fmla="*/ 340 w 589"/>
              <a:gd name="T107" fmla="*/ 263 h 613"/>
              <a:gd name="T108" fmla="*/ 301 w 589"/>
              <a:gd name="T109" fmla="*/ 327 h 613"/>
              <a:gd name="T110" fmla="*/ 301 w 589"/>
              <a:gd name="T111" fmla="*/ 359 h 613"/>
              <a:gd name="T112" fmla="*/ 235 w 589"/>
              <a:gd name="T113" fmla="*/ 359 h 613"/>
              <a:gd name="T114" fmla="*/ 235 w 589"/>
              <a:gd name="T115" fmla="*/ 327 h 613"/>
              <a:gd name="T116" fmla="*/ 196 w 589"/>
              <a:gd name="T117" fmla="*/ 263 h 613"/>
              <a:gd name="T118" fmla="*/ 268 w 589"/>
              <a:gd name="T119" fmla="*/ 191 h 613"/>
              <a:gd name="T120" fmla="*/ 340 w 589"/>
              <a:gd name="T121" fmla="*/ 26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89" h="613">
                <a:moveTo>
                  <a:pt x="295" y="0"/>
                </a:moveTo>
                <a:lnTo>
                  <a:pt x="295" y="0"/>
                </a:lnTo>
                <a:cubicBezTo>
                  <a:pt x="132" y="0"/>
                  <a:pt x="0" y="132"/>
                  <a:pt x="0" y="295"/>
                </a:cubicBezTo>
                <a:cubicBezTo>
                  <a:pt x="0" y="398"/>
                  <a:pt x="53" y="491"/>
                  <a:pt x="139" y="545"/>
                </a:cubicBezTo>
                <a:lnTo>
                  <a:pt x="125" y="571"/>
                </a:lnTo>
                <a:cubicBezTo>
                  <a:pt x="120" y="580"/>
                  <a:pt x="120" y="591"/>
                  <a:pt x="125" y="599"/>
                </a:cubicBezTo>
                <a:cubicBezTo>
                  <a:pt x="130" y="608"/>
                  <a:pt x="139" y="613"/>
                  <a:pt x="149" y="613"/>
                </a:cubicBezTo>
                <a:lnTo>
                  <a:pt x="383" y="613"/>
                </a:lnTo>
                <a:cubicBezTo>
                  <a:pt x="393" y="613"/>
                  <a:pt x="403" y="608"/>
                  <a:pt x="408" y="599"/>
                </a:cubicBezTo>
                <a:lnTo>
                  <a:pt x="432" y="555"/>
                </a:lnTo>
                <a:cubicBezTo>
                  <a:pt x="462" y="540"/>
                  <a:pt x="488" y="519"/>
                  <a:pt x="511" y="494"/>
                </a:cubicBezTo>
                <a:cubicBezTo>
                  <a:pt x="516" y="489"/>
                  <a:pt x="519" y="482"/>
                  <a:pt x="519" y="475"/>
                </a:cubicBezTo>
                <a:lnTo>
                  <a:pt x="519" y="387"/>
                </a:lnTo>
                <a:lnTo>
                  <a:pt x="553" y="387"/>
                </a:lnTo>
                <a:cubicBezTo>
                  <a:pt x="566" y="387"/>
                  <a:pt x="578" y="378"/>
                  <a:pt x="581" y="365"/>
                </a:cubicBezTo>
                <a:cubicBezTo>
                  <a:pt x="587" y="342"/>
                  <a:pt x="589" y="318"/>
                  <a:pt x="589" y="295"/>
                </a:cubicBezTo>
                <a:cubicBezTo>
                  <a:pt x="589" y="132"/>
                  <a:pt x="457" y="0"/>
                  <a:pt x="295" y="0"/>
                </a:cubicBezTo>
                <a:close/>
                <a:moveTo>
                  <a:pt x="419" y="284"/>
                </a:moveTo>
                <a:lnTo>
                  <a:pt x="380" y="284"/>
                </a:lnTo>
                <a:cubicBezTo>
                  <a:pt x="375" y="310"/>
                  <a:pt x="362" y="333"/>
                  <a:pt x="342" y="349"/>
                </a:cubicBezTo>
                <a:lnTo>
                  <a:pt x="342" y="359"/>
                </a:lnTo>
                <a:cubicBezTo>
                  <a:pt x="342" y="374"/>
                  <a:pt x="334" y="387"/>
                  <a:pt x="323" y="394"/>
                </a:cubicBezTo>
                <a:lnTo>
                  <a:pt x="323" y="434"/>
                </a:lnTo>
                <a:cubicBezTo>
                  <a:pt x="323" y="446"/>
                  <a:pt x="313" y="455"/>
                  <a:pt x="302" y="455"/>
                </a:cubicBezTo>
                <a:lnTo>
                  <a:pt x="234" y="455"/>
                </a:lnTo>
                <a:cubicBezTo>
                  <a:pt x="223" y="455"/>
                  <a:pt x="213" y="446"/>
                  <a:pt x="213" y="434"/>
                </a:cubicBezTo>
                <a:lnTo>
                  <a:pt x="213" y="394"/>
                </a:lnTo>
                <a:cubicBezTo>
                  <a:pt x="202" y="387"/>
                  <a:pt x="194" y="374"/>
                  <a:pt x="194" y="359"/>
                </a:cubicBezTo>
                <a:lnTo>
                  <a:pt x="194" y="349"/>
                </a:lnTo>
                <a:cubicBezTo>
                  <a:pt x="174" y="333"/>
                  <a:pt x="161" y="310"/>
                  <a:pt x="156" y="284"/>
                </a:cubicBezTo>
                <a:lnTo>
                  <a:pt x="117" y="284"/>
                </a:lnTo>
                <a:cubicBezTo>
                  <a:pt x="106" y="284"/>
                  <a:pt x="96" y="275"/>
                  <a:pt x="96" y="263"/>
                </a:cubicBezTo>
                <a:cubicBezTo>
                  <a:pt x="96" y="252"/>
                  <a:pt x="106" y="242"/>
                  <a:pt x="117" y="242"/>
                </a:cubicBezTo>
                <a:lnTo>
                  <a:pt x="156" y="242"/>
                </a:lnTo>
                <a:cubicBezTo>
                  <a:pt x="159" y="226"/>
                  <a:pt x="166" y="212"/>
                  <a:pt x="174" y="199"/>
                </a:cubicBezTo>
                <a:lnTo>
                  <a:pt x="147" y="171"/>
                </a:lnTo>
                <a:cubicBezTo>
                  <a:pt x="139" y="163"/>
                  <a:pt x="139" y="150"/>
                  <a:pt x="147" y="142"/>
                </a:cubicBezTo>
                <a:cubicBezTo>
                  <a:pt x="155" y="134"/>
                  <a:pt x="168" y="134"/>
                  <a:pt x="176" y="142"/>
                </a:cubicBezTo>
                <a:lnTo>
                  <a:pt x="204" y="170"/>
                </a:lnTo>
                <a:cubicBezTo>
                  <a:pt x="217" y="161"/>
                  <a:pt x="231" y="155"/>
                  <a:pt x="247" y="152"/>
                </a:cubicBezTo>
                <a:lnTo>
                  <a:pt x="247" y="112"/>
                </a:lnTo>
                <a:cubicBezTo>
                  <a:pt x="247" y="101"/>
                  <a:pt x="257" y="92"/>
                  <a:pt x="268" y="92"/>
                </a:cubicBezTo>
                <a:cubicBezTo>
                  <a:pt x="280" y="92"/>
                  <a:pt x="289" y="101"/>
                  <a:pt x="289" y="112"/>
                </a:cubicBezTo>
                <a:lnTo>
                  <a:pt x="289" y="152"/>
                </a:lnTo>
                <a:cubicBezTo>
                  <a:pt x="305" y="155"/>
                  <a:pt x="319" y="161"/>
                  <a:pt x="332" y="170"/>
                </a:cubicBezTo>
                <a:lnTo>
                  <a:pt x="360" y="142"/>
                </a:lnTo>
                <a:cubicBezTo>
                  <a:pt x="368" y="134"/>
                  <a:pt x="381" y="134"/>
                  <a:pt x="389" y="142"/>
                </a:cubicBezTo>
                <a:cubicBezTo>
                  <a:pt x="398" y="150"/>
                  <a:pt x="398" y="163"/>
                  <a:pt x="389" y="171"/>
                </a:cubicBezTo>
                <a:lnTo>
                  <a:pt x="362" y="199"/>
                </a:lnTo>
                <a:cubicBezTo>
                  <a:pt x="371" y="212"/>
                  <a:pt x="377" y="226"/>
                  <a:pt x="380" y="242"/>
                </a:cubicBezTo>
                <a:lnTo>
                  <a:pt x="419" y="242"/>
                </a:lnTo>
                <a:cubicBezTo>
                  <a:pt x="430" y="242"/>
                  <a:pt x="440" y="252"/>
                  <a:pt x="440" y="263"/>
                </a:cubicBezTo>
                <a:cubicBezTo>
                  <a:pt x="440" y="275"/>
                  <a:pt x="430" y="284"/>
                  <a:pt x="419" y="284"/>
                </a:cubicBezTo>
                <a:close/>
                <a:moveTo>
                  <a:pt x="340" y="263"/>
                </a:moveTo>
                <a:cubicBezTo>
                  <a:pt x="340" y="291"/>
                  <a:pt x="324" y="316"/>
                  <a:pt x="301" y="327"/>
                </a:cubicBezTo>
                <a:lnTo>
                  <a:pt x="301" y="359"/>
                </a:lnTo>
                <a:lnTo>
                  <a:pt x="235" y="359"/>
                </a:lnTo>
                <a:lnTo>
                  <a:pt x="235" y="327"/>
                </a:lnTo>
                <a:cubicBezTo>
                  <a:pt x="212" y="316"/>
                  <a:pt x="196" y="291"/>
                  <a:pt x="196" y="263"/>
                </a:cubicBezTo>
                <a:cubicBezTo>
                  <a:pt x="196" y="224"/>
                  <a:pt x="228" y="191"/>
                  <a:pt x="268" y="191"/>
                </a:cubicBezTo>
                <a:cubicBezTo>
                  <a:pt x="308" y="191"/>
                  <a:pt x="340" y="224"/>
                  <a:pt x="340" y="26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iṥ1íďe">
            <a:extLst>
              <a:ext uri="{FF2B5EF4-FFF2-40B4-BE49-F238E27FC236}">
                <a16:creationId xmlns:a16="http://schemas.microsoft.com/office/drawing/2014/main" id="{7386B669-2A4D-4B32-A109-0E0AF94D4307}"/>
              </a:ext>
            </a:extLst>
          </p:cNvPr>
          <p:cNvSpPr/>
          <p:nvPr/>
        </p:nvSpPr>
        <p:spPr>
          <a:xfrm flipH="1">
            <a:off x="8558766" y="2585109"/>
            <a:ext cx="2289573" cy="560065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b="1" dirty="0">
                <a:cs typeface="+mn-ea"/>
                <a:sym typeface="+mn-lt"/>
              </a:rPr>
              <a:t>不可预测性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A58C04-6E3F-4B05-9362-3A23BD839799}"/>
              </a:ext>
            </a:extLst>
          </p:cNvPr>
          <p:cNvSpPr/>
          <p:nvPr/>
        </p:nvSpPr>
        <p:spPr>
          <a:xfrm>
            <a:off x="4298478" y="1566232"/>
            <a:ext cx="3600000" cy="454361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7750A0-2941-4391-B7EC-A3F975D79B4C}"/>
              </a:ext>
            </a:extLst>
          </p:cNvPr>
          <p:cNvSpPr/>
          <p:nvPr/>
        </p:nvSpPr>
        <p:spPr>
          <a:xfrm>
            <a:off x="660400" y="1566232"/>
            <a:ext cx="3636247" cy="454361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light-bulb-inside-circle_62843">
            <a:extLst>
              <a:ext uri="{FF2B5EF4-FFF2-40B4-BE49-F238E27FC236}">
                <a16:creationId xmlns:a16="http://schemas.microsoft.com/office/drawing/2014/main" id="{F0411D21-84AD-496C-A3FE-B900163C82F3}"/>
              </a:ext>
            </a:extLst>
          </p:cNvPr>
          <p:cNvSpPr>
            <a:spLocks noChangeAspect="1"/>
          </p:cNvSpPr>
          <p:nvPr/>
        </p:nvSpPr>
        <p:spPr bwMode="auto">
          <a:xfrm>
            <a:off x="2226142" y="2134186"/>
            <a:ext cx="504762" cy="504000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27" h="6027">
                <a:moveTo>
                  <a:pt x="3013" y="0"/>
                </a:moveTo>
                <a:cubicBezTo>
                  <a:pt x="1349" y="0"/>
                  <a:pt x="0" y="1349"/>
                  <a:pt x="0" y="3013"/>
                </a:cubicBezTo>
                <a:cubicBezTo>
                  <a:pt x="0" y="4678"/>
                  <a:pt x="1349" y="6027"/>
                  <a:pt x="3013" y="6027"/>
                </a:cubicBezTo>
                <a:cubicBezTo>
                  <a:pt x="4678" y="6027"/>
                  <a:pt x="6027" y="4678"/>
                  <a:pt x="6027" y="3013"/>
                </a:cubicBezTo>
                <a:cubicBezTo>
                  <a:pt x="6027" y="1349"/>
                  <a:pt x="4678" y="0"/>
                  <a:pt x="3013" y="0"/>
                </a:cubicBezTo>
                <a:close/>
                <a:moveTo>
                  <a:pt x="2873" y="1426"/>
                </a:moveTo>
                <a:lnTo>
                  <a:pt x="2873" y="1040"/>
                </a:lnTo>
                <a:cubicBezTo>
                  <a:pt x="2873" y="962"/>
                  <a:pt x="2936" y="899"/>
                  <a:pt x="3013" y="899"/>
                </a:cubicBezTo>
                <a:cubicBezTo>
                  <a:pt x="3091" y="899"/>
                  <a:pt x="3154" y="962"/>
                  <a:pt x="3154" y="1040"/>
                </a:cubicBezTo>
                <a:lnTo>
                  <a:pt x="3154" y="1426"/>
                </a:lnTo>
                <a:lnTo>
                  <a:pt x="3154" y="1426"/>
                </a:lnTo>
                <a:cubicBezTo>
                  <a:pt x="3154" y="1503"/>
                  <a:pt x="3091" y="1566"/>
                  <a:pt x="3013" y="1566"/>
                </a:cubicBezTo>
                <a:cubicBezTo>
                  <a:pt x="2936" y="1566"/>
                  <a:pt x="2873" y="1503"/>
                  <a:pt x="2873" y="1426"/>
                </a:cubicBezTo>
                <a:lnTo>
                  <a:pt x="2873" y="1426"/>
                </a:lnTo>
                <a:close/>
                <a:moveTo>
                  <a:pt x="1688" y="2678"/>
                </a:moveTo>
                <a:cubicBezTo>
                  <a:pt x="1676" y="2746"/>
                  <a:pt x="1617" y="2794"/>
                  <a:pt x="1550" y="2794"/>
                </a:cubicBezTo>
                <a:cubicBezTo>
                  <a:pt x="1542" y="2794"/>
                  <a:pt x="1534" y="2793"/>
                  <a:pt x="1525" y="2792"/>
                </a:cubicBezTo>
                <a:lnTo>
                  <a:pt x="1145" y="2725"/>
                </a:lnTo>
                <a:cubicBezTo>
                  <a:pt x="1069" y="2711"/>
                  <a:pt x="1018" y="2639"/>
                  <a:pt x="1031" y="2563"/>
                </a:cubicBezTo>
                <a:cubicBezTo>
                  <a:pt x="1045" y="2486"/>
                  <a:pt x="1117" y="2435"/>
                  <a:pt x="1194" y="2449"/>
                </a:cubicBezTo>
                <a:lnTo>
                  <a:pt x="1574" y="2516"/>
                </a:lnTo>
                <a:cubicBezTo>
                  <a:pt x="1650" y="2529"/>
                  <a:pt x="1701" y="2602"/>
                  <a:pt x="1688" y="2678"/>
                </a:cubicBezTo>
                <a:close/>
                <a:moveTo>
                  <a:pt x="1951" y="1864"/>
                </a:moveTo>
                <a:lnTo>
                  <a:pt x="1702" y="1568"/>
                </a:lnTo>
                <a:cubicBezTo>
                  <a:pt x="1653" y="1508"/>
                  <a:pt x="1660" y="1420"/>
                  <a:pt x="1720" y="1370"/>
                </a:cubicBezTo>
                <a:cubicBezTo>
                  <a:pt x="1779" y="1320"/>
                  <a:pt x="1867" y="1328"/>
                  <a:pt x="1917" y="1387"/>
                </a:cubicBezTo>
                <a:lnTo>
                  <a:pt x="2166" y="1683"/>
                </a:lnTo>
                <a:cubicBezTo>
                  <a:pt x="2215" y="1743"/>
                  <a:pt x="2208" y="1831"/>
                  <a:pt x="2148" y="1881"/>
                </a:cubicBezTo>
                <a:cubicBezTo>
                  <a:pt x="2122" y="1903"/>
                  <a:pt x="2090" y="1914"/>
                  <a:pt x="2058" y="1914"/>
                </a:cubicBezTo>
                <a:cubicBezTo>
                  <a:pt x="2018" y="1914"/>
                  <a:pt x="1978" y="1897"/>
                  <a:pt x="1951" y="1864"/>
                </a:cubicBezTo>
                <a:close/>
                <a:moveTo>
                  <a:pt x="3762" y="3693"/>
                </a:moveTo>
                <a:cubicBezTo>
                  <a:pt x="3644" y="3867"/>
                  <a:pt x="3522" y="4046"/>
                  <a:pt x="3514" y="4288"/>
                </a:cubicBezTo>
                <a:cubicBezTo>
                  <a:pt x="3512" y="4348"/>
                  <a:pt x="3470" y="4397"/>
                  <a:pt x="3413" y="4410"/>
                </a:cubicBezTo>
                <a:cubicBezTo>
                  <a:pt x="3466" y="4426"/>
                  <a:pt x="3503" y="4474"/>
                  <a:pt x="3503" y="4532"/>
                </a:cubicBezTo>
                <a:cubicBezTo>
                  <a:pt x="3503" y="4583"/>
                  <a:pt x="3474" y="4626"/>
                  <a:pt x="3431" y="4647"/>
                </a:cubicBezTo>
                <a:cubicBezTo>
                  <a:pt x="3474" y="4668"/>
                  <a:pt x="3503" y="4712"/>
                  <a:pt x="3503" y="4762"/>
                </a:cubicBezTo>
                <a:cubicBezTo>
                  <a:pt x="3503" y="4833"/>
                  <a:pt x="3446" y="4891"/>
                  <a:pt x="3375" y="4891"/>
                </a:cubicBezTo>
                <a:lnTo>
                  <a:pt x="3297" y="4891"/>
                </a:lnTo>
                <a:cubicBezTo>
                  <a:pt x="3273" y="5025"/>
                  <a:pt x="3155" y="5127"/>
                  <a:pt x="3013" y="5127"/>
                </a:cubicBezTo>
                <a:cubicBezTo>
                  <a:pt x="2872" y="5127"/>
                  <a:pt x="2754" y="5025"/>
                  <a:pt x="2730" y="4891"/>
                </a:cubicBezTo>
                <a:lnTo>
                  <a:pt x="2652" y="4891"/>
                </a:lnTo>
                <a:cubicBezTo>
                  <a:pt x="2581" y="4891"/>
                  <a:pt x="2523" y="4833"/>
                  <a:pt x="2523" y="4762"/>
                </a:cubicBezTo>
                <a:cubicBezTo>
                  <a:pt x="2523" y="4712"/>
                  <a:pt x="2553" y="4668"/>
                  <a:pt x="2596" y="4647"/>
                </a:cubicBezTo>
                <a:cubicBezTo>
                  <a:pt x="2553" y="4626"/>
                  <a:pt x="2523" y="4583"/>
                  <a:pt x="2523" y="4532"/>
                </a:cubicBezTo>
                <a:cubicBezTo>
                  <a:pt x="2523" y="4474"/>
                  <a:pt x="2562" y="4425"/>
                  <a:pt x="2614" y="4409"/>
                </a:cubicBezTo>
                <a:cubicBezTo>
                  <a:pt x="2558" y="4397"/>
                  <a:pt x="2515" y="4348"/>
                  <a:pt x="2513" y="4288"/>
                </a:cubicBezTo>
                <a:cubicBezTo>
                  <a:pt x="2506" y="4046"/>
                  <a:pt x="2383" y="3866"/>
                  <a:pt x="2265" y="3693"/>
                </a:cubicBezTo>
                <a:cubicBezTo>
                  <a:pt x="2123" y="3485"/>
                  <a:pt x="1976" y="3270"/>
                  <a:pt x="1976" y="2891"/>
                </a:cubicBezTo>
                <a:cubicBezTo>
                  <a:pt x="1976" y="2348"/>
                  <a:pt x="2442" y="1906"/>
                  <a:pt x="3013" y="1906"/>
                </a:cubicBezTo>
                <a:cubicBezTo>
                  <a:pt x="3585" y="1906"/>
                  <a:pt x="4050" y="2348"/>
                  <a:pt x="4050" y="2891"/>
                </a:cubicBezTo>
                <a:cubicBezTo>
                  <a:pt x="4050" y="3270"/>
                  <a:pt x="3904" y="3485"/>
                  <a:pt x="3762" y="3693"/>
                </a:cubicBezTo>
                <a:close/>
                <a:moveTo>
                  <a:pt x="4076" y="1864"/>
                </a:moveTo>
                <a:cubicBezTo>
                  <a:pt x="4048" y="1897"/>
                  <a:pt x="4009" y="1914"/>
                  <a:pt x="3969" y="1914"/>
                </a:cubicBezTo>
                <a:cubicBezTo>
                  <a:pt x="3937" y="1914"/>
                  <a:pt x="3905" y="1903"/>
                  <a:pt x="3879" y="1881"/>
                </a:cubicBezTo>
                <a:cubicBezTo>
                  <a:pt x="3819" y="1831"/>
                  <a:pt x="3812" y="1743"/>
                  <a:pt x="3861" y="1683"/>
                </a:cubicBezTo>
                <a:lnTo>
                  <a:pt x="4110" y="1387"/>
                </a:lnTo>
                <a:cubicBezTo>
                  <a:pt x="4159" y="1328"/>
                  <a:pt x="4248" y="1320"/>
                  <a:pt x="4307" y="1370"/>
                </a:cubicBezTo>
                <a:cubicBezTo>
                  <a:pt x="4366" y="1420"/>
                  <a:pt x="4374" y="1508"/>
                  <a:pt x="4324" y="1568"/>
                </a:cubicBezTo>
                <a:lnTo>
                  <a:pt x="4076" y="1864"/>
                </a:lnTo>
                <a:close/>
                <a:moveTo>
                  <a:pt x="4882" y="2725"/>
                </a:moveTo>
                <a:lnTo>
                  <a:pt x="4501" y="2792"/>
                </a:lnTo>
                <a:cubicBezTo>
                  <a:pt x="4493" y="2793"/>
                  <a:pt x="4485" y="2794"/>
                  <a:pt x="4477" y="2794"/>
                </a:cubicBezTo>
                <a:cubicBezTo>
                  <a:pt x="4410" y="2794"/>
                  <a:pt x="4351" y="2746"/>
                  <a:pt x="4339" y="2678"/>
                </a:cubicBezTo>
                <a:cubicBezTo>
                  <a:pt x="4325" y="2602"/>
                  <a:pt x="4376" y="2529"/>
                  <a:pt x="4453" y="2516"/>
                </a:cubicBezTo>
                <a:lnTo>
                  <a:pt x="4833" y="2449"/>
                </a:lnTo>
                <a:cubicBezTo>
                  <a:pt x="4909" y="2435"/>
                  <a:pt x="4982" y="2486"/>
                  <a:pt x="4996" y="2563"/>
                </a:cubicBezTo>
                <a:cubicBezTo>
                  <a:pt x="5009" y="2639"/>
                  <a:pt x="4958" y="2711"/>
                  <a:pt x="4882" y="27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íŝļiḓè">
            <a:extLst>
              <a:ext uri="{FF2B5EF4-FFF2-40B4-BE49-F238E27FC236}">
                <a16:creationId xmlns:a16="http://schemas.microsoft.com/office/drawing/2014/main" id="{8CD87BC6-FF48-962C-3D11-6C96416C0FB5}"/>
              </a:ext>
            </a:extLst>
          </p:cNvPr>
          <p:cNvSpPr/>
          <p:nvPr/>
        </p:nvSpPr>
        <p:spPr bwMode="auto">
          <a:xfrm>
            <a:off x="875827" y="3139909"/>
            <a:ext cx="3205392" cy="29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不同芯片对同一挑战的响应应尽可能不同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量化指标：片间汉明距离 ≈ </a:t>
            </a:r>
            <a:r>
              <a:rPr lang="en-US" altLang="zh-CN" dirty="0"/>
              <a:t>50%</a:t>
            </a: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来源：制造偏差的随机性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过低→芯片可区分性差；过高→偏离随机预期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íŝļiḓè">
            <a:extLst>
              <a:ext uri="{FF2B5EF4-FFF2-40B4-BE49-F238E27FC236}">
                <a16:creationId xmlns:a16="http://schemas.microsoft.com/office/drawing/2014/main" id="{64E2FC48-59AA-2A76-848B-09155380DD65}"/>
              </a:ext>
            </a:extLst>
          </p:cNvPr>
          <p:cNvSpPr/>
          <p:nvPr/>
        </p:nvSpPr>
        <p:spPr bwMode="auto">
          <a:xfrm>
            <a:off x="4539129" y="3195974"/>
            <a:ext cx="3205392" cy="29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同一芯片在不同环境下对同一挑战的响应应尽可能稳定</a:t>
            </a:r>
            <a:endParaRPr lang="en-US" altLang="zh-CN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量化指标：比特错误率 </a:t>
            </a:r>
            <a:r>
              <a:rPr lang="en-US" altLang="zh-CN" dirty="0"/>
              <a:t>&lt; 0.1% (</a:t>
            </a:r>
            <a:r>
              <a:rPr lang="zh-CN" altLang="en-US" dirty="0"/>
              <a:t>可靠性 </a:t>
            </a:r>
            <a:r>
              <a:rPr lang="en-US" altLang="zh-CN" dirty="0"/>
              <a:t>&gt; 99.9%)</a:t>
            </a: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挑战：温度、电压、老化、噪声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稳定性差的比特需要纠错码或屏蔽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íŝļiḓè">
            <a:extLst>
              <a:ext uri="{FF2B5EF4-FFF2-40B4-BE49-F238E27FC236}">
                <a16:creationId xmlns:a16="http://schemas.microsoft.com/office/drawing/2014/main" id="{085966CE-C5B1-6E3C-D002-1801AE2AE6DE}"/>
              </a:ext>
            </a:extLst>
          </p:cNvPr>
          <p:cNvSpPr/>
          <p:nvPr/>
        </p:nvSpPr>
        <p:spPr bwMode="auto">
          <a:xfrm>
            <a:off x="8202431" y="3195974"/>
            <a:ext cx="3205392" cy="29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攻击者已知部分</a:t>
            </a:r>
            <a:r>
              <a:rPr lang="en-US" altLang="zh-CN" dirty="0"/>
              <a:t>CRP</a:t>
            </a:r>
            <a:r>
              <a:rPr lang="zh-CN" altLang="en-US" dirty="0"/>
              <a:t>后，无法预测未知</a:t>
            </a:r>
            <a:r>
              <a:rPr lang="en-US" altLang="zh-CN" dirty="0"/>
              <a:t>CRP</a:t>
            </a: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量化指标：预测准确率 ≈ </a:t>
            </a:r>
            <a:r>
              <a:rPr lang="en-US" altLang="zh-CN" dirty="0"/>
              <a:t>50% (</a:t>
            </a:r>
            <a:r>
              <a:rPr lang="zh-CN" altLang="en-US" dirty="0"/>
              <a:t>随机猜测水平</a:t>
            </a:r>
            <a:r>
              <a:rPr lang="en-US" altLang="zh-CN" dirty="0"/>
              <a:t>)</a:t>
            </a:r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威胁：机器学习建模攻击</a:t>
            </a:r>
            <a:endParaRPr lang="en-US" altLang="zh-CN" b="1" dirty="0"/>
          </a:p>
          <a:p>
            <a:pPr marL="171450" lvl="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若可被建模，则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PUF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失去不可克隆性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699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1C4D54-B912-481C-87D5-C107E3DA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6</a:t>
            </a:fld>
            <a:endParaRPr lang="zh-CN" altLang="en-US"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CA1789-0BE0-36AB-6692-7066ED6437BB}"/>
              </a:ext>
            </a:extLst>
          </p:cNvPr>
          <p:cNvSpPr txBox="1"/>
          <p:nvPr/>
        </p:nvSpPr>
        <p:spPr>
          <a:xfrm>
            <a:off x="403095" y="1263741"/>
            <a:ext cx="113858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kern="100" dirty="0">
                <a:solidFill>
                  <a:schemeClr val="accent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 PUF</a:t>
            </a:r>
            <a:r>
              <a:rPr lang="zh-CN" altLang="zh-CN" sz="2400" b="1" kern="100" dirty="0">
                <a:solidFill>
                  <a:schemeClr val="accent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（静态随机存取存储器</a:t>
            </a:r>
            <a:r>
              <a:rPr lang="en-US" altLang="zh-CN" sz="2400" b="1" kern="100" dirty="0">
                <a:solidFill>
                  <a:schemeClr val="accent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PUF</a:t>
            </a:r>
            <a:r>
              <a:rPr lang="zh-CN" altLang="zh-CN" sz="2400" b="1" kern="100" dirty="0">
                <a:solidFill>
                  <a:schemeClr val="accent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最成熟的方案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每个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SRAM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单元由一对交叉耦合的反相器构成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理论上设计是对称的，但制造偏差会让两个晶体管的阈值电压产生微小差异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每次上电时，这对晶体管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争夺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主导权，阈值电压稍低的那一侧会更快导通，将存储单元锁定为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或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endParaRPr lang="zh-CN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由于阈值电压差异随机，每个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SRAM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单元上电后的初始状态是随机的，大量单元的初始状态构成一个唯一的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0/1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序列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C35939E-DE9D-8CA2-421B-141E6AEA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2.6.1	</a:t>
            </a:r>
            <a:r>
              <a:rPr lang="zh-CN" altLang="en-US" dirty="0">
                <a:sym typeface="+mn-lt"/>
              </a:rPr>
              <a:t>基于存储器的</a:t>
            </a:r>
            <a:r>
              <a:rPr lang="en-US" altLang="zh-CN" dirty="0">
                <a:sym typeface="+mn-lt"/>
              </a:rPr>
              <a:t>PUF</a:t>
            </a:r>
            <a:endParaRPr lang="zh-CN" altLang="en-US" dirty="0"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92D9DD-52D1-FB7F-3A1A-E9117C9C7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86" y="3781774"/>
            <a:ext cx="10462661" cy="2031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9B7BCF-FF0D-6AEA-1B4A-5A0202D3C459}"/>
              </a:ext>
            </a:extLst>
          </p:cNvPr>
          <p:cNvSpPr txBox="1"/>
          <p:nvPr/>
        </p:nvSpPr>
        <p:spPr>
          <a:xfrm>
            <a:off x="4381500" y="5920909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图</a:t>
            </a:r>
            <a:r>
              <a:rPr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：从SRAM行为中提取强密钥</a:t>
            </a:r>
          </a:p>
        </p:txBody>
      </p:sp>
    </p:spTree>
    <p:extLst>
      <p:ext uri="{BB962C8B-B14F-4D97-AF65-F5344CB8AC3E}">
        <p14:creationId xmlns:p14="http://schemas.microsoft.com/office/powerpoint/2010/main" val="224751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A2D0A-B049-4C60-88D7-776B4D90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lt"/>
              </a:rPr>
              <a:t>2.6.2	</a:t>
            </a:r>
            <a:r>
              <a:rPr lang="zh-CN" altLang="en-US" dirty="0">
                <a:sym typeface="+mn-lt"/>
              </a:rPr>
              <a:t>基于延迟的</a:t>
            </a:r>
            <a:r>
              <a:rPr lang="en-US" altLang="zh-CN" dirty="0">
                <a:sym typeface="+mn-lt"/>
              </a:rPr>
              <a:t>PUF</a:t>
            </a:r>
            <a:endParaRPr lang="zh-CN" altLang="en-US" dirty="0">
              <a:sym typeface="+mn-lt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4C3764-FEEC-416F-BE57-2190F6BF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7</a:t>
            </a:fld>
            <a:endParaRPr lang="zh-CN" altLang="en-US" dirty="0">
              <a:sym typeface="+mn-lt"/>
            </a:endParaRPr>
          </a:p>
        </p:txBody>
      </p:sp>
      <p:sp>
        <p:nvSpPr>
          <p:cNvPr id="23" name="have-an-idea_65779">
            <a:extLst>
              <a:ext uri="{FF2B5EF4-FFF2-40B4-BE49-F238E27FC236}">
                <a16:creationId xmlns:a16="http://schemas.microsoft.com/office/drawing/2014/main" id="{9481A034-5A7E-43BD-B741-3D285E7ED870}"/>
              </a:ext>
            </a:extLst>
          </p:cNvPr>
          <p:cNvSpPr>
            <a:spLocks noChangeAspect="1"/>
          </p:cNvSpPr>
          <p:nvPr/>
        </p:nvSpPr>
        <p:spPr bwMode="auto">
          <a:xfrm>
            <a:off x="5270035" y="2067890"/>
            <a:ext cx="311781" cy="324000"/>
          </a:xfrm>
          <a:custGeom>
            <a:avLst/>
            <a:gdLst>
              <a:gd name="T0" fmla="*/ 295 w 589"/>
              <a:gd name="T1" fmla="*/ 0 h 613"/>
              <a:gd name="T2" fmla="*/ 295 w 589"/>
              <a:gd name="T3" fmla="*/ 0 h 613"/>
              <a:gd name="T4" fmla="*/ 0 w 589"/>
              <a:gd name="T5" fmla="*/ 295 h 613"/>
              <a:gd name="T6" fmla="*/ 139 w 589"/>
              <a:gd name="T7" fmla="*/ 545 h 613"/>
              <a:gd name="T8" fmla="*/ 125 w 589"/>
              <a:gd name="T9" fmla="*/ 571 h 613"/>
              <a:gd name="T10" fmla="*/ 125 w 589"/>
              <a:gd name="T11" fmla="*/ 599 h 613"/>
              <a:gd name="T12" fmla="*/ 149 w 589"/>
              <a:gd name="T13" fmla="*/ 613 h 613"/>
              <a:gd name="T14" fmla="*/ 383 w 589"/>
              <a:gd name="T15" fmla="*/ 613 h 613"/>
              <a:gd name="T16" fmla="*/ 408 w 589"/>
              <a:gd name="T17" fmla="*/ 599 h 613"/>
              <a:gd name="T18" fmla="*/ 432 w 589"/>
              <a:gd name="T19" fmla="*/ 555 h 613"/>
              <a:gd name="T20" fmla="*/ 511 w 589"/>
              <a:gd name="T21" fmla="*/ 494 h 613"/>
              <a:gd name="T22" fmla="*/ 519 w 589"/>
              <a:gd name="T23" fmla="*/ 475 h 613"/>
              <a:gd name="T24" fmla="*/ 519 w 589"/>
              <a:gd name="T25" fmla="*/ 387 h 613"/>
              <a:gd name="T26" fmla="*/ 553 w 589"/>
              <a:gd name="T27" fmla="*/ 387 h 613"/>
              <a:gd name="T28" fmla="*/ 581 w 589"/>
              <a:gd name="T29" fmla="*/ 365 h 613"/>
              <a:gd name="T30" fmla="*/ 589 w 589"/>
              <a:gd name="T31" fmla="*/ 295 h 613"/>
              <a:gd name="T32" fmla="*/ 295 w 589"/>
              <a:gd name="T33" fmla="*/ 0 h 613"/>
              <a:gd name="T34" fmla="*/ 419 w 589"/>
              <a:gd name="T35" fmla="*/ 284 h 613"/>
              <a:gd name="T36" fmla="*/ 380 w 589"/>
              <a:gd name="T37" fmla="*/ 284 h 613"/>
              <a:gd name="T38" fmla="*/ 342 w 589"/>
              <a:gd name="T39" fmla="*/ 349 h 613"/>
              <a:gd name="T40" fmla="*/ 342 w 589"/>
              <a:gd name="T41" fmla="*/ 359 h 613"/>
              <a:gd name="T42" fmla="*/ 323 w 589"/>
              <a:gd name="T43" fmla="*/ 394 h 613"/>
              <a:gd name="T44" fmla="*/ 323 w 589"/>
              <a:gd name="T45" fmla="*/ 434 h 613"/>
              <a:gd name="T46" fmla="*/ 302 w 589"/>
              <a:gd name="T47" fmla="*/ 455 h 613"/>
              <a:gd name="T48" fmla="*/ 234 w 589"/>
              <a:gd name="T49" fmla="*/ 455 h 613"/>
              <a:gd name="T50" fmla="*/ 213 w 589"/>
              <a:gd name="T51" fmla="*/ 434 h 613"/>
              <a:gd name="T52" fmla="*/ 213 w 589"/>
              <a:gd name="T53" fmla="*/ 394 h 613"/>
              <a:gd name="T54" fmla="*/ 194 w 589"/>
              <a:gd name="T55" fmla="*/ 359 h 613"/>
              <a:gd name="T56" fmla="*/ 194 w 589"/>
              <a:gd name="T57" fmla="*/ 349 h 613"/>
              <a:gd name="T58" fmla="*/ 156 w 589"/>
              <a:gd name="T59" fmla="*/ 284 h 613"/>
              <a:gd name="T60" fmla="*/ 117 w 589"/>
              <a:gd name="T61" fmla="*/ 284 h 613"/>
              <a:gd name="T62" fmla="*/ 96 w 589"/>
              <a:gd name="T63" fmla="*/ 263 h 613"/>
              <a:gd name="T64" fmla="*/ 117 w 589"/>
              <a:gd name="T65" fmla="*/ 242 h 613"/>
              <a:gd name="T66" fmla="*/ 156 w 589"/>
              <a:gd name="T67" fmla="*/ 242 h 613"/>
              <a:gd name="T68" fmla="*/ 174 w 589"/>
              <a:gd name="T69" fmla="*/ 199 h 613"/>
              <a:gd name="T70" fmla="*/ 147 w 589"/>
              <a:gd name="T71" fmla="*/ 171 h 613"/>
              <a:gd name="T72" fmla="*/ 147 w 589"/>
              <a:gd name="T73" fmla="*/ 142 h 613"/>
              <a:gd name="T74" fmla="*/ 176 w 589"/>
              <a:gd name="T75" fmla="*/ 142 h 613"/>
              <a:gd name="T76" fmla="*/ 204 w 589"/>
              <a:gd name="T77" fmla="*/ 170 h 613"/>
              <a:gd name="T78" fmla="*/ 247 w 589"/>
              <a:gd name="T79" fmla="*/ 152 h 613"/>
              <a:gd name="T80" fmla="*/ 247 w 589"/>
              <a:gd name="T81" fmla="*/ 112 h 613"/>
              <a:gd name="T82" fmla="*/ 268 w 589"/>
              <a:gd name="T83" fmla="*/ 92 h 613"/>
              <a:gd name="T84" fmla="*/ 289 w 589"/>
              <a:gd name="T85" fmla="*/ 112 h 613"/>
              <a:gd name="T86" fmla="*/ 289 w 589"/>
              <a:gd name="T87" fmla="*/ 152 h 613"/>
              <a:gd name="T88" fmla="*/ 332 w 589"/>
              <a:gd name="T89" fmla="*/ 170 h 613"/>
              <a:gd name="T90" fmla="*/ 360 w 589"/>
              <a:gd name="T91" fmla="*/ 142 h 613"/>
              <a:gd name="T92" fmla="*/ 389 w 589"/>
              <a:gd name="T93" fmla="*/ 142 h 613"/>
              <a:gd name="T94" fmla="*/ 389 w 589"/>
              <a:gd name="T95" fmla="*/ 171 h 613"/>
              <a:gd name="T96" fmla="*/ 362 w 589"/>
              <a:gd name="T97" fmla="*/ 199 h 613"/>
              <a:gd name="T98" fmla="*/ 380 w 589"/>
              <a:gd name="T99" fmla="*/ 242 h 613"/>
              <a:gd name="T100" fmla="*/ 419 w 589"/>
              <a:gd name="T101" fmla="*/ 242 h 613"/>
              <a:gd name="T102" fmla="*/ 440 w 589"/>
              <a:gd name="T103" fmla="*/ 263 h 613"/>
              <a:gd name="T104" fmla="*/ 419 w 589"/>
              <a:gd name="T105" fmla="*/ 284 h 613"/>
              <a:gd name="T106" fmla="*/ 340 w 589"/>
              <a:gd name="T107" fmla="*/ 263 h 613"/>
              <a:gd name="T108" fmla="*/ 301 w 589"/>
              <a:gd name="T109" fmla="*/ 327 h 613"/>
              <a:gd name="T110" fmla="*/ 301 w 589"/>
              <a:gd name="T111" fmla="*/ 359 h 613"/>
              <a:gd name="T112" fmla="*/ 235 w 589"/>
              <a:gd name="T113" fmla="*/ 359 h 613"/>
              <a:gd name="T114" fmla="*/ 235 w 589"/>
              <a:gd name="T115" fmla="*/ 327 h 613"/>
              <a:gd name="T116" fmla="*/ 196 w 589"/>
              <a:gd name="T117" fmla="*/ 263 h 613"/>
              <a:gd name="T118" fmla="*/ 268 w 589"/>
              <a:gd name="T119" fmla="*/ 191 h 613"/>
              <a:gd name="T120" fmla="*/ 340 w 589"/>
              <a:gd name="T121" fmla="*/ 26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89" h="613">
                <a:moveTo>
                  <a:pt x="295" y="0"/>
                </a:moveTo>
                <a:lnTo>
                  <a:pt x="295" y="0"/>
                </a:lnTo>
                <a:cubicBezTo>
                  <a:pt x="132" y="0"/>
                  <a:pt x="0" y="132"/>
                  <a:pt x="0" y="295"/>
                </a:cubicBezTo>
                <a:cubicBezTo>
                  <a:pt x="0" y="398"/>
                  <a:pt x="53" y="491"/>
                  <a:pt x="139" y="545"/>
                </a:cubicBezTo>
                <a:lnTo>
                  <a:pt x="125" y="571"/>
                </a:lnTo>
                <a:cubicBezTo>
                  <a:pt x="120" y="580"/>
                  <a:pt x="120" y="591"/>
                  <a:pt x="125" y="599"/>
                </a:cubicBezTo>
                <a:cubicBezTo>
                  <a:pt x="130" y="608"/>
                  <a:pt x="139" y="613"/>
                  <a:pt x="149" y="613"/>
                </a:cubicBezTo>
                <a:lnTo>
                  <a:pt x="383" y="613"/>
                </a:lnTo>
                <a:cubicBezTo>
                  <a:pt x="393" y="613"/>
                  <a:pt x="403" y="608"/>
                  <a:pt x="408" y="599"/>
                </a:cubicBezTo>
                <a:lnTo>
                  <a:pt x="432" y="555"/>
                </a:lnTo>
                <a:cubicBezTo>
                  <a:pt x="462" y="540"/>
                  <a:pt x="488" y="519"/>
                  <a:pt x="511" y="494"/>
                </a:cubicBezTo>
                <a:cubicBezTo>
                  <a:pt x="516" y="489"/>
                  <a:pt x="519" y="482"/>
                  <a:pt x="519" y="475"/>
                </a:cubicBezTo>
                <a:lnTo>
                  <a:pt x="519" y="387"/>
                </a:lnTo>
                <a:lnTo>
                  <a:pt x="553" y="387"/>
                </a:lnTo>
                <a:cubicBezTo>
                  <a:pt x="566" y="387"/>
                  <a:pt x="578" y="378"/>
                  <a:pt x="581" y="365"/>
                </a:cubicBezTo>
                <a:cubicBezTo>
                  <a:pt x="587" y="342"/>
                  <a:pt x="589" y="318"/>
                  <a:pt x="589" y="295"/>
                </a:cubicBezTo>
                <a:cubicBezTo>
                  <a:pt x="589" y="132"/>
                  <a:pt x="457" y="0"/>
                  <a:pt x="295" y="0"/>
                </a:cubicBezTo>
                <a:close/>
                <a:moveTo>
                  <a:pt x="419" y="284"/>
                </a:moveTo>
                <a:lnTo>
                  <a:pt x="380" y="284"/>
                </a:lnTo>
                <a:cubicBezTo>
                  <a:pt x="375" y="310"/>
                  <a:pt x="362" y="333"/>
                  <a:pt x="342" y="349"/>
                </a:cubicBezTo>
                <a:lnTo>
                  <a:pt x="342" y="359"/>
                </a:lnTo>
                <a:cubicBezTo>
                  <a:pt x="342" y="374"/>
                  <a:pt x="334" y="387"/>
                  <a:pt x="323" y="394"/>
                </a:cubicBezTo>
                <a:lnTo>
                  <a:pt x="323" y="434"/>
                </a:lnTo>
                <a:cubicBezTo>
                  <a:pt x="323" y="446"/>
                  <a:pt x="313" y="455"/>
                  <a:pt x="302" y="455"/>
                </a:cubicBezTo>
                <a:lnTo>
                  <a:pt x="234" y="455"/>
                </a:lnTo>
                <a:cubicBezTo>
                  <a:pt x="223" y="455"/>
                  <a:pt x="213" y="446"/>
                  <a:pt x="213" y="434"/>
                </a:cubicBezTo>
                <a:lnTo>
                  <a:pt x="213" y="394"/>
                </a:lnTo>
                <a:cubicBezTo>
                  <a:pt x="202" y="387"/>
                  <a:pt x="194" y="374"/>
                  <a:pt x="194" y="359"/>
                </a:cubicBezTo>
                <a:lnTo>
                  <a:pt x="194" y="349"/>
                </a:lnTo>
                <a:cubicBezTo>
                  <a:pt x="174" y="333"/>
                  <a:pt x="161" y="310"/>
                  <a:pt x="156" y="284"/>
                </a:cubicBezTo>
                <a:lnTo>
                  <a:pt x="117" y="284"/>
                </a:lnTo>
                <a:cubicBezTo>
                  <a:pt x="106" y="284"/>
                  <a:pt x="96" y="275"/>
                  <a:pt x="96" y="263"/>
                </a:cubicBezTo>
                <a:cubicBezTo>
                  <a:pt x="96" y="252"/>
                  <a:pt x="106" y="242"/>
                  <a:pt x="117" y="242"/>
                </a:cubicBezTo>
                <a:lnTo>
                  <a:pt x="156" y="242"/>
                </a:lnTo>
                <a:cubicBezTo>
                  <a:pt x="159" y="226"/>
                  <a:pt x="166" y="212"/>
                  <a:pt x="174" y="199"/>
                </a:cubicBezTo>
                <a:lnTo>
                  <a:pt x="147" y="171"/>
                </a:lnTo>
                <a:cubicBezTo>
                  <a:pt x="139" y="163"/>
                  <a:pt x="139" y="150"/>
                  <a:pt x="147" y="142"/>
                </a:cubicBezTo>
                <a:cubicBezTo>
                  <a:pt x="155" y="134"/>
                  <a:pt x="168" y="134"/>
                  <a:pt x="176" y="142"/>
                </a:cubicBezTo>
                <a:lnTo>
                  <a:pt x="204" y="170"/>
                </a:lnTo>
                <a:cubicBezTo>
                  <a:pt x="217" y="161"/>
                  <a:pt x="231" y="155"/>
                  <a:pt x="247" y="152"/>
                </a:cubicBezTo>
                <a:lnTo>
                  <a:pt x="247" y="112"/>
                </a:lnTo>
                <a:cubicBezTo>
                  <a:pt x="247" y="101"/>
                  <a:pt x="257" y="92"/>
                  <a:pt x="268" y="92"/>
                </a:cubicBezTo>
                <a:cubicBezTo>
                  <a:pt x="280" y="92"/>
                  <a:pt x="289" y="101"/>
                  <a:pt x="289" y="112"/>
                </a:cubicBezTo>
                <a:lnTo>
                  <a:pt x="289" y="152"/>
                </a:lnTo>
                <a:cubicBezTo>
                  <a:pt x="305" y="155"/>
                  <a:pt x="319" y="161"/>
                  <a:pt x="332" y="170"/>
                </a:cubicBezTo>
                <a:lnTo>
                  <a:pt x="360" y="142"/>
                </a:lnTo>
                <a:cubicBezTo>
                  <a:pt x="368" y="134"/>
                  <a:pt x="381" y="134"/>
                  <a:pt x="389" y="142"/>
                </a:cubicBezTo>
                <a:cubicBezTo>
                  <a:pt x="398" y="150"/>
                  <a:pt x="398" y="163"/>
                  <a:pt x="389" y="171"/>
                </a:cubicBezTo>
                <a:lnTo>
                  <a:pt x="362" y="199"/>
                </a:lnTo>
                <a:cubicBezTo>
                  <a:pt x="371" y="212"/>
                  <a:pt x="377" y="226"/>
                  <a:pt x="380" y="242"/>
                </a:cubicBezTo>
                <a:lnTo>
                  <a:pt x="419" y="242"/>
                </a:lnTo>
                <a:cubicBezTo>
                  <a:pt x="430" y="242"/>
                  <a:pt x="440" y="252"/>
                  <a:pt x="440" y="263"/>
                </a:cubicBezTo>
                <a:cubicBezTo>
                  <a:pt x="440" y="275"/>
                  <a:pt x="430" y="284"/>
                  <a:pt x="419" y="284"/>
                </a:cubicBezTo>
                <a:close/>
                <a:moveTo>
                  <a:pt x="340" y="263"/>
                </a:moveTo>
                <a:cubicBezTo>
                  <a:pt x="340" y="291"/>
                  <a:pt x="324" y="316"/>
                  <a:pt x="301" y="327"/>
                </a:cubicBezTo>
                <a:lnTo>
                  <a:pt x="301" y="359"/>
                </a:lnTo>
                <a:lnTo>
                  <a:pt x="235" y="359"/>
                </a:lnTo>
                <a:lnTo>
                  <a:pt x="235" y="327"/>
                </a:lnTo>
                <a:cubicBezTo>
                  <a:pt x="212" y="316"/>
                  <a:pt x="196" y="291"/>
                  <a:pt x="196" y="263"/>
                </a:cubicBezTo>
                <a:cubicBezTo>
                  <a:pt x="196" y="224"/>
                  <a:pt x="228" y="191"/>
                  <a:pt x="268" y="191"/>
                </a:cubicBezTo>
                <a:cubicBezTo>
                  <a:pt x="308" y="191"/>
                  <a:pt x="340" y="224"/>
                  <a:pt x="340" y="2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B4E53B-2B72-257F-3434-32992288486B}"/>
              </a:ext>
            </a:extLst>
          </p:cNvPr>
          <p:cNvSpPr txBox="1"/>
          <p:nvPr/>
        </p:nvSpPr>
        <p:spPr>
          <a:xfrm>
            <a:off x="4408370" y="6220056"/>
            <a:ext cx="68264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i="1" kern="100" dirty="0">
                <a:latin typeface="+mn-ea"/>
                <a:cs typeface="Times New Roman" panose="02020603050405020304" pitchFamily="18" charset="0"/>
              </a:rPr>
              <a:t>单比特的稳定性取决于“固有优势”与“环境噪声”的对抗</a:t>
            </a:r>
            <a:endParaRPr lang="zh-CN" altLang="en-US" sz="2000" i="1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148FDE-F7BB-C294-B07B-7CD5E8635E57}"/>
              </a:ext>
            </a:extLst>
          </p:cNvPr>
          <p:cNvSpPr txBox="1"/>
          <p:nvPr/>
        </p:nvSpPr>
        <p:spPr>
          <a:xfrm>
            <a:off x="437464" y="2261363"/>
            <a:ext cx="9409180" cy="373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① 单比特生成：固有延迟差决定赢家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• 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两条对称路径，信号同时出发</a:t>
            </a: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• 制造偏差导致一条路径固有延迟更小 → 总是先到</a:t>
            </a: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• 仲裁器输出固定的0或1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② 噪声与可靠性权衡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• 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运行时噪声（温度、电压）随机影响延迟</a:t>
            </a: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• 若固有延迟差 &gt; 噪声波动 → 高可靠</a:t>
            </a: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• 若两条路径几乎匹配（延迟差≈0） → 噪声可翻转结果，产生不稳定比特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2005D9-81DD-8777-49D3-1C04CC398F88}"/>
              </a:ext>
            </a:extLst>
          </p:cNvPr>
          <p:cNvSpPr txBox="1"/>
          <p:nvPr/>
        </p:nvSpPr>
        <p:spPr>
          <a:xfrm>
            <a:off x="330467" y="1328882"/>
            <a:ext cx="11531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chemeClr val="accent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仲裁器PUF</a:t>
            </a:r>
            <a:r>
              <a:rPr lang="en-US" altLang="zh-CN" sz="2400" b="1" kern="100" dirty="0">
                <a:solidFill>
                  <a:schemeClr val="accent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(Arbiter PUF)</a:t>
            </a:r>
          </a:p>
          <a:p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将纳米级延迟差异放大为可读取的0/1，并通过可配置路径支持海量挑战-响应对。</a:t>
            </a:r>
          </a:p>
        </p:txBody>
      </p:sp>
    </p:spTree>
    <p:extLst>
      <p:ext uri="{BB962C8B-B14F-4D97-AF65-F5344CB8AC3E}">
        <p14:creationId xmlns:p14="http://schemas.microsoft.com/office/powerpoint/2010/main" val="64798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CF81C-3713-2080-7FC7-3D1DF64E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D4530-6A93-8CB8-E130-9541B041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lt"/>
              </a:rPr>
              <a:t>2.6.2	</a:t>
            </a:r>
            <a:r>
              <a:rPr lang="zh-CN" altLang="en-US" dirty="0">
                <a:sym typeface="+mn-lt"/>
              </a:rPr>
              <a:t>基于延迟的</a:t>
            </a:r>
            <a:r>
              <a:rPr lang="en-US" altLang="zh-CN" dirty="0">
                <a:sym typeface="+mn-lt"/>
              </a:rPr>
              <a:t>PUF</a:t>
            </a:r>
            <a:endParaRPr lang="zh-CN" altLang="en-US" dirty="0">
              <a:sym typeface="+mn-lt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E80156-9BF8-9E64-3F04-FC034C8C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8</a:t>
            </a:fld>
            <a:endParaRPr lang="zh-CN" altLang="en-US" dirty="0">
              <a:sym typeface="+mn-lt"/>
            </a:endParaRPr>
          </a:p>
        </p:txBody>
      </p:sp>
      <p:sp>
        <p:nvSpPr>
          <p:cNvPr id="23" name="have-an-idea_65779">
            <a:extLst>
              <a:ext uri="{FF2B5EF4-FFF2-40B4-BE49-F238E27FC236}">
                <a16:creationId xmlns:a16="http://schemas.microsoft.com/office/drawing/2014/main" id="{4186BC4C-0B8B-020F-ED54-88BF52CAF05C}"/>
              </a:ext>
            </a:extLst>
          </p:cNvPr>
          <p:cNvSpPr>
            <a:spLocks noChangeAspect="1"/>
          </p:cNvSpPr>
          <p:nvPr/>
        </p:nvSpPr>
        <p:spPr bwMode="auto">
          <a:xfrm>
            <a:off x="5270035" y="2067890"/>
            <a:ext cx="311781" cy="324000"/>
          </a:xfrm>
          <a:custGeom>
            <a:avLst/>
            <a:gdLst>
              <a:gd name="T0" fmla="*/ 295 w 589"/>
              <a:gd name="T1" fmla="*/ 0 h 613"/>
              <a:gd name="T2" fmla="*/ 295 w 589"/>
              <a:gd name="T3" fmla="*/ 0 h 613"/>
              <a:gd name="T4" fmla="*/ 0 w 589"/>
              <a:gd name="T5" fmla="*/ 295 h 613"/>
              <a:gd name="T6" fmla="*/ 139 w 589"/>
              <a:gd name="T7" fmla="*/ 545 h 613"/>
              <a:gd name="T8" fmla="*/ 125 w 589"/>
              <a:gd name="T9" fmla="*/ 571 h 613"/>
              <a:gd name="T10" fmla="*/ 125 w 589"/>
              <a:gd name="T11" fmla="*/ 599 h 613"/>
              <a:gd name="T12" fmla="*/ 149 w 589"/>
              <a:gd name="T13" fmla="*/ 613 h 613"/>
              <a:gd name="T14" fmla="*/ 383 w 589"/>
              <a:gd name="T15" fmla="*/ 613 h 613"/>
              <a:gd name="T16" fmla="*/ 408 w 589"/>
              <a:gd name="T17" fmla="*/ 599 h 613"/>
              <a:gd name="T18" fmla="*/ 432 w 589"/>
              <a:gd name="T19" fmla="*/ 555 h 613"/>
              <a:gd name="T20" fmla="*/ 511 w 589"/>
              <a:gd name="T21" fmla="*/ 494 h 613"/>
              <a:gd name="T22" fmla="*/ 519 w 589"/>
              <a:gd name="T23" fmla="*/ 475 h 613"/>
              <a:gd name="T24" fmla="*/ 519 w 589"/>
              <a:gd name="T25" fmla="*/ 387 h 613"/>
              <a:gd name="T26" fmla="*/ 553 w 589"/>
              <a:gd name="T27" fmla="*/ 387 h 613"/>
              <a:gd name="T28" fmla="*/ 581 w 589"/>
              <a:gd name="T29" fmla="*/ 365 h 613"/>
              <a:gd name="T30" fmla="*/ 589 w 589"/>
              <a:gd name="T31" fmla="*/ 295 h 613"/>
              <a:gd name="T32" fmla="*/ 295 w 589"/>
              <a:gd name="T33" fmla="*/ 0 h 613"/>
              <a:gd name="T34" fmla="*/ 419 w 589"/>
              <a:gd name="T35" fmla="*/ 284 h 613"/>
              <a:gd name="T36" fmla="*/ 380 w 589"/>
              <a:gd name="T37" fmla="*/ 284 h 613"/>
              <a:gd name="T38" fmla="*/ 342 w 589"/>
              <a:gd name="T39" fmla="*/ 349 h 613"/>
              <a:gd name="T40" fmla="*/ 342 w 589"/>
              <a:gd name="T41" fmla="*/ 359 h 613"/>
              <a:gd name="T42" fmla="*/ 323 w 589"/>
              <a:gd name="T43" fmla="*/ 394 h 613"/>
              <a:gd name="T44" fmla="*/ 323 w 589"/>
              <a:gd name="T45" fmla="*/ 434 h 613"/>
              <a:gd name="T46" fmla="*/ 302 w 589"/>
              <a:gd name="T47" fmla="*/ 455 h 613"/>
              <a:gd name="T48" fmla="*/ 234 w 589"/>
              <a:gd name="T49" fmla="*/ 455 h 613"/>
              <a:gd name="T50" fmla="*/ 213 w 589"/>
              <a:gd name="T51" fmla="*/ 434 h 613"/>
              <a:gd name="T52" fmla="*/ 213 w 589"/>
              <a:gd name="T53" fmla="*/ 394 h 613"/>
              <a:gd name="T54" fmla="*/ 194 w 589"/>
              <a:gd name="T55" fmla="*/ 359 h 613"/>
              <a:gd name="T56" fmla="*/ 194 w 589"/>
              <a:gd name="T57" fmla="*/ 349 h 613"/>
              <a:gd name="T58" fmla="*/ 156 w 589"/>
              <a:gd name="T59" fmla="*/ 284 h 613"/>
              <a:gd name="T60" fmla="*/ 117 w 589"/>
              <a:gd name="T61" fmla="*/ 284 h 613"/>
              <a:gd name="T62" fmla="*/ 96 w 589"/>
              <a:gd name="T63" fmla="*/ 263 h 613"/>
              <a:gd name="T64" fmla="*/ 117 w 589"/>
              <a:gd name="T65" fmla="*/ 242 h 613"/>
              <a:gd name="T66" fmla="*/ 156 w 589"/>
              <a:gd name="T67" fmla="*/ 242 h 613"/>
              <a:gd name="T68" fmla="*/ 174 w 589"/>
              <a:gd name="T69" fmla="*/ 199 h 613"/>
              <a:gd name="T70" fmla="*/ 147 w 589"/>
              <a:gd name="T71" fmla="*/ 171 h 613"/>
              <a:gd name="T72" fmla="*/ 147 w 589"/>
              <a:gd name="T73" fmla="*/ 142 h 613"/>
              <a:gd name="T74" fmla="*/ 176 w 589"/>
              <a:gd name="T75" fmla="*/ 142 h 613"/>
              <a:gd name="T76" fmla="*/ 204 w 589"/>
              <a:gd name="T77" fmla="*/ 170 h 613"/>
              <a:gd name="T78" fmla="*/ 247 w 589"/>
              <a:gd name="T79" fmla="*/ 152 h 613"/>
              <a:gd name="T80" fmla="*/ 247 w 589"/>
              <a:gd name="T81" fmla="*/ 112 h 613"/>
              <a:gd name="T82" fmla="*/ 268 w 589"/>
              <a:gd name="T83" fmla="*/ 92 h 613"/>
              <a:gd name="T84" fmla="*/ 289 w 589"/>
              <a:gd name="T85" fmla="*/ 112 h 613"/>
              <a:gd name="T86" fmla="*/ 289 w 589"/>
              <a:gd name="T87" fmla="*/ 152 h 613"/>
              <a:gd name="T88" fmla="*/ 332 w 589"/>
              <a:gd name="T89" fmla="*/ 170 h 613"/>
              <a:gd name="T90" fmla="*/ 360 w 589"/>
              <a:gd name="T91" fmla="*/ 142 h 613"/>
              <a:gd name="T92" fmla="*/ 389 w 589"/>
              <a:gd name="T93" fmla="*/ 142 h 613"/>
              <a:gd name="T94" fmla="*/ 389 w 589"/>
              <a:gd name="T95" fmla="*/ 171 h 613"/>
              <a:gd name="T96" fmla="*/ 362 w 589"/>
              <a:gd name="T97" fmla="*/ 199 h 613"/>
              <a:gd name="T98" fmla="*/ 380 w 589"/>
              <a:gd name="T99" fmla="*/ 242 h 613"/>
              <a:gd name="T100" fmla="*/ 419 w 589"/>
              <a:gd name="T101" fmla="*/ 242 h 613"/>
              <a:gd name="T102" fmla="*/ 440 w 589"/>
              <a:gd name="T103" fmla="*/ 263 h 613"/>
              <a:gd name="T104" fmla="*/ 419 w 589"/>
              <a:gd name="T105" fmla="*/ 284 h 613"/>
              <a:gd name="T106" fmla="*/ 340 w 589"/>
              <a:gd name="T107" fmla="*/ 263 h 613"/>
              <a:gd name="T108" fmla="*/ 301 w 589"/>
              <a:gd name="T109" fmla="*/ 327 h 613"/>
              <a:gd name="T110" fmla="*/ 301 w 589"/>
              <a:gd name="T111" fmla="*/ 359 h 613"/>
              <a:gd name="T112" fmla="*/ 235 w 589"/>
              <a:gd name="T113" fmla="*/ 359 h 613"/>
              <a:gd name="T114" fmla="*/ 235 w 589"/>
              <a:gd name="T115" fmla="*/ 327 h 613"/>
              <a:gd name="T116" fmla="*/ 196 w 589"/>
              <a:gd name="T117" fmla="*/ 263 h 613"/>
              <a:gd name="T118" fmla="*/ 268 w 589"/>
              <a:gd name="T119" fmla="*/ 191 h 613"/>
              <a:gd name="T120" fmla="*/ 340 w 589"/>
              <a:gd name="T121" fmla="*/ 26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89" h="613">
                <a:moveTo>
                  <a:pt x="295" y="0"/>
                </a:moveTo>
                <a:lnTo>
                  <a:pt x="295" y="0"/>
                </a:lnTo>
                <a:cubicBezTo>
                  <a:pt x="132" y="0"/>
                  <a:pt x="0" y="132"/>
                  <a:pt x="0" y="295"/>
                </a:cubicBezTo>
                <a:cubicBezTo>
                  <a:pt x="0" y="398"/>
                  <a:pt x="53" y="491"/>
                  <a:pt x="139" y="545"/>
                </a:cubicBezTo>
                <a:lnTo>
                  <a:pt x="125" y="571"/>
                </a:lnTo>
                <a:cubicBezTo>
                  <a:pt x="120" y="580"/>
                  <a:pt x="120" y="591"/>
                  <a:pt x="125" y="599"/>
                </a:cubicBezTo>
                <a:cubicBezTo>
                  <a:pt x="130" y="608"/>
                  <a:pt x="139" y="613"/>
                  <a:pt x="149" y="613"/>
                </a:cubicBezTo>
                <a:lnTo>
                  <a:pt x="383" y="613"/>
                </a:lnTo>
                <a:cubicBezTo>
                  <a:pt x="393" y="613"/>
                  <a:pt x="403" y="608"/>
                  <a:pt x="408" y="599"/>
                </a:cubicBezTo>
                <a:lnTo>
                  <a:pt x="432" y="555"/>
                </a:lnTo>
                <a:cubicBezTo>
                  <a:pt x="462" y="540"/>
                  <a:pt x="488" y="519"/>
                  <a:pt x="511" y="494"/>
                </a:cubicBezTo>
                <a:cubicBezTo>
                  <a:pt x="516" y="489"/>
                  <a:pt x="519" y="482"/>
                  <a:pt x="519" y="475"/>
                </a:cubicBezTo>
                <a:lnTo>
                  <a:pt x="519" y="387"/>
                </a:lnTo>
                <a:lnTo>
                  <a:pt x="553" y="387"/>
                </a:lnTo>
                <a:cubicBezTo>
                  <a:pt x="566" y="387"/>
                  <a:pt x="578" y="378"/>
                  <a:pt x="581" y="365"/>
                </a:cubicBezTo>
                <a:cubicBezTo>
                  <a:pt x="587" y="342"/>
                  <a:pt x="589" y="318"/>
                  <a:pt x="589" y="295"/>
                </a:cubicBezTo>
                <a:cubicBezTo>
                  <a:pt x="589" y="132"/>
                  <a:pt x="457" y="0"/>
                  <a:pt x="295" y="0"/>
                </a:cubicBezTo>
                <a:close/>
                <a:moveTo>
                  <a:pt x="419" y="284"/>
                </a:moveTo>
                <a:lnTo>
                  <a:pt x="380" y="284"/>
                </a:lnTo>
                <a:cubicBezTo>
                  <a:pt x="375" y="310"/>
                  <a:pt x="362" y="333"/>
                  <a:pt x="342" y="349"/>
                </a:cubicBezTo>
                <a:lnTo>
                  <a:pt x="342" y="359"/>
                </a:lnTo>
                <a:cubicBezTo>
                  <a:pt x="342" y="374"/>
                  <a:pt x="334" y="387"/>
                  <a:pt x="323" y="394"/>
                </a:cubicBezTo>
                <a:lnTo>
                  <a:pt x="323" y="434"/>
                </a:lnTo>
                <a:cubicBezTo>
                  <a:pt x="323" y="446"/>
                  <a:pt x="313" y="455"/>
                  <a:pt x="302" y="455"/>
                </a:cubicBezTo>
                <a:lnTo>
                  <a:pt x="234" y="455"/>
                </a:lnTo>
                <a:cubicBezTo>
                  <a:pt x="223" y="455"/>
                  <a:pt x="213" y="446"/>
                  <a:pt x="213" y="434"/>
                </a:cubicBezTo>
                <a:lnTo>
                  <a:pt x="213" y="394"/>
                </a:lnTo>
                <a:cubicBezTo>
                  <a:pt x="202" y="387"/>
                  <a:pt x="194" y="374"/>
                  <a:pt x="194" y="359"/>
                </a:cubicBezTo>
                <a:lnTo>
                  <a:pt x="194" y="349"/>
                </a:lnTo>
                <a:cubicBezTo>
                  <a:pt x="174" y="333"/>
                  <a:pt x="161" y="310"/>
                  <a:pt x="156" y="284"/>
                </a:cubicBezTo>
                <a:lnTo>
                  <a:pt x="117" y="284"/>
                </a:lnTo>
                <a:cubicBezTo>
                  <a:pt x="106" y="284"/>
                  <a:pt x="96" y="275"/>
                  <a:pt x="96" y="263"/>
                </a:cubicBezTo>
                <a:cubicBezTo>
                  <a:pt x="96" y="252"/>
                  <a:pt x="106" y="242"/>
                  <a:pt x="117" y="242"/>
                </a:cubicBezTo>
                <a:lnTo>
                  <a:pt x="156" y="242"/>
                </a:lnTo>
                <a:cubicBezTo>
                  <a:pt x="159" y="226"/>
                  <a:pt x="166" y="212"/>
                  <a:pt x="174" y="199"/>
                </a:cubicBezTo>
                <a:lnTo>
                  <a:pt x="147" y="171"/>
                </a:lnTo>
                <a:cubicBezTo>
                  <a:pt x="139" y="163"/>
                  <a:pt x="139" y="150"/>
                  <a:pt x="147" y="142"/>
                </a:cubicBezTo>
                <a:cubicBezTo>
                  <a:pt x="155" y="134"/>
                  <a:pt x="168" y="134"/>
                  <a:pt x="176" y="142"/>
                </a:cubicBezTo>
                <a:lnTo>
                  <a:pt x="204" y="170"/>
                </a:lnTo>
                <a:cubicBezTo>
                  <a:pt x="217" y="161"/>
                  <a:pt x="231" y="155"/>
                  <a:pt x="247" y="152"/>
                </a:cubicBezTo>
                <a:lnTo>
                  <a:pt x="247" y="112"/>
                </a:lnTo>
                <a:cubicBezTo>
                  <a:pt x="247" y="101"/>
                  <a:pt x="257" y="92"/>
                  <a:pt x="268" y="92"/>
                </a:cubicBezTo>
                <a:cubicBezTo>
                  <a:pt x="280" y="92"/>
                  <a:pt x="289" y="101"/>
                  <a:pt x="289" y="112"/>
                </a:cubicBezTo>
                <a:lnTo>
                  <a:pt x="289" y="152"/>
                </a:lnTo>
                <a:cubicBezTo>
                  <a:pt x="305" y="155"/>
                  <a:pt x="319" y="161"/>
                  <a:pt x="332" y="170"/>
                </a:cubicBezTo>
                <a:lnTo>
                  <a:pt x="360" y="142"/>
                </a:lnTo>
                <a:cubicBezTo>
                  <a:pt x="368" y="134"/>
                  <a:pt x="381" y="134"/>
                  <a:pt x="389" y="142"/>
                </a:cubicBezTo>
                <a:cubicBezTo>
                  <a:pt x="398" y="150"/>
                  <a:pt x="398" y="163"/>
                  <a:pt x="389" y="171"/>
                </a:cubicBezTo>
                <a:lnTo>
                  <a:pt x="362" y="199"/>
                </a:lnTo>
                <a:cubicBezTo>
                  <a:pt x="371" y="212"/>
                  <a:pt x="377" y="226"/>
                  <a:pt x="380" y="242"/>
                </a:cubicBezTo>
                <a:lnTo>
                  <a:pt x="419" y="242"/>
                </a:lnTo>
                <a:cubicBezTo>
                  <a:pt x="430" y="242"/>
                  <a:pt x="440" y="252"/>
                  <a:pt x="440" y="263"/>
                </a:cubicBezTo>
                <a:cubicBezTo>
                  <a:pt x="440" y="275"/>
                  <a:pt x="430" y="284"/>
                  <a:pt x="419" y="284"/>
                </a:cubicBezTo>
                <a:close/>
                <a:moveTo>
                  <a:pt x="340" y="263"/>
                </a:moveTo>
                <a:cubicBezTo>
                  <a:pt x="340" y="291"/>
                  <a:pt x="324" y="316"/>
                  <a:pt x="301" y="327"/>
                </a:cubicBezTo>
                <a:lnTo>
                  <a:pt x="301" y="359"/>
                </a:lnTo>
                <a:lnTo>
                  <a:pt x="235" y="359"/>
                </a:lnTo>
                <a:lnTo>
                  <a:pt x="235" y="327"/>
                </a:lnTo>
                <a:cubicBezTo>
                  <a:pt x="212" y="316"/>
                  <a:pt x="196" y="291"/>
                  <a:pt x="196" y="263"/>
                </a:cubicBezTo>
                <a:cubicBezTo>
                  <a:pt x="196" y="224"/>
                  <a:pt x="228" y="191"/>
                  <a:pt x="268" y="191"/>
                </a:cubicBezTo>
                <a:cubicBezTo>
                  <a:pt x="308" y="191"/>
                  <a:pt x="340" y="224"/>
                  <a:pt x="340" y="2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59DDA4-3169-2C5B-DE1F-528A8396C426}"/>
              </a:ext>
            </a:extLst>
          </p:cNvPr>
          <p:cNvSpPr txBox="1"/>
          <p:nvPr/>
        </p:nvSpPr>
        <p:spPr>
          <a:xfrm>
            <a:off x="470769" y="2661007"/>
            <a:ext cx="11531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从单比特到多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CRP</a:t>
            </a:r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：可配置路径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AEA37C-ECCA-A422-11F4-115365FE569F}"/>
              </a:ext>
            </a:extLst>
          </p:cNvPr>
          <p:cNvSpPr txBox="1"/>
          <p:nvPr/>
        </p:nvSpPr>
        <p:spPr>
          <a:xfrm>
            <a:off x="3216794" y="5831025"/>
            <a:ext cx="6663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0" i="1" dirty="0">
                <a:solidFill>
                  <a:srgbClr val="0F1115"/>
                </a:solidFill>
                <a:effectLst/>
                <a:latin typeface="+mn-ea"/>
              </a:rPr>
              <a:t>其他延迟类：</a:t>
            </a:r>
            <a:endParaRPr lang="en-US" altLang="zh-CN" sz="2000" b="0" i="1" dirty="0">
              <a:solidFill>
                <a:srgbClr val="0F1115"/>
              </a:solidFill>
              <a:effectLst/>
              <a:latin typeface="+mn-ea"/>
            </a:endParaRPr>
          </a:p>
          <a:p>
            <a:r>
              <a:rPr lang="zh-CN" altLang="zh-CN" sz="2000" b="0" i="1" dirty="0">
                <a:solidFill>
                  <a:srgbClr val="0F1115"/>
                </a:solidFill>
                <a:effectLst/>
                <a:latin typeface="+mn-ea"/>
              </a:rPr>
              <a:t>环形振荡器PUF（比较多个振荡器的频率高低，原理类似）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DD183-B658-DE97-2013-2D7B890BA5A8}"/>
              </a:ext>
            </a:extLst>
          </p:cNvPr>
          <p:cNvSpPr txBox="1"/>
          <p:nvPr/>
        </p:nvSpPr>
        <p:spPr>
          <a:xfrm>
            <a:off x="470769" y="3122672"/>
            <a:ext cx="9409180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③ 从单比特到多CRP：可配置路径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• 通过Challenge比特串配置开关（多路复用器）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• 一组Challenge → 一条新路径 → 一个Response比特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• 多个Challenge → 一串Response → 构成设备指纹的CRP集合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B89C85-10B8-16FC-8E4E-89459410A01A}"/>
              </a:ext>
            </a:extLst>
          </p:cNvPr>
          <p:cNvSpPr txBox="1"/>
          <p:nvPr/>
        </p:nvSpPr>
        <p:spPr>
          <a:xfrm>
            <a:off x="470768" y="1326119"/>
            <a:ext cx="109255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chemeClr val="accent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仲裁器PUF</a:t>
            </a:r>
            <a:r>
              <a:rPr lang="en-US" altLang="zh-CN" sz="2400" b="1" kern="100" dirty="0">
                <a:solidFill>
                  <a:schemeClr val="accent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(Arbiter PUF)</a:t>
            </a:r>
          </a:p>
          <a:p>
            <a:r>
              <a:rPr lang="zh-CN" altLang="en-US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将纳米级延迟差异放大为可读取的0/1，并通过可配置路径支持海量挑战-响应对。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869A51-93E1-E18D-D28A-002ADBBB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371" y="2298937"/>
            <a:ext cx="5258051" cy="18508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7C38A27-185C-2BFC-258E-5EAB7A36174D}"/>
              </a:ext>
            </a:extLst>
          </p:cNvPr>
          <p:cNvSpPr txBox="1"/>
          <p:nvPr/>
        </p:nvSpPr>
        <p:spPr>
          <a:xfrm>
            <a:off x="7967311" y="4272882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图</a:t>
            </a:r>
            <a:r>
              <a:rPr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：</a:t>
            </a:r>
            <a:r>
              <a:rPr lang="zh-CN" altLang="zh-CN" sz="1600" dirty="0">
                <a:latin typeface="等线 Light" panose="02010600030101010101" pitchFamily="2" charset="-122"/>
                <a:ea typeface="等线 Light" panose="02010600030101010101" pitchFamily="2" charset="-122"/>
              </a:rPr>
              <a:t>多级MUX链 + 仲裁器的电路图</a:t>
            </a:r>
            <a:endParaRPr lang="zh-CN" altLang="en-US" sz="16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37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B03B1-387A-AED4-A970-72776016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15A697-AEAE-F226-8473-FF3F63DE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</a:rPr>
              <a:pPr/>
              <a:t>9</a:t>
            </a:fld>
            <a:endParaRPr lang="zh-CN" altLang="en-US" dirty="0">
              <a:latin typeface="Helvetica" pitchFamily="2" charset="0"/>
            </a:endParaRPr>
          </a:p>
        </p:txBody>
      </p:sp>
      <p:sp>
        <p:nvSpPr>
          <p:cNvPr id="5" name="Google Shape;365;p35">
            <a:extLst>
              <a:ext uri="{FF2B5EF4-FFF2-40B4-BE49-F238E27FC236}">
                <a16:creationId xmlns:a16="http://schemas.microsoft.com/office/drawing/2014/main" id="{3DE9522E-6EB1-0606-F0A9-EEE8C7342554}"/>
              </a:ext>
            </a:extLst>
          </p:cNvPr>
          <p:cNvSpPr txBox="1">
            <a:spLocks/>
          </p:cNvSpPr>
          <p:nvPr/>
        </p:nvSpPr>
        <p:spPr>
          <a:xfrm>
            <a:off x="482163" y="1317081"/>
            <a:ext cx="7035168" cy="722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zh-CN" sz="2400" dirty="0">
                <a:solidFill>
                  <a:schemeClr val="accent3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基于模拟特性的PUF——以电流-电压（I-V）为例</a:t>
            </a:r>
            <a:endParaRPr lang="en-US" altLang="zh-CN" sz="2400" kern="100" dirty="0">
              <a:solidFill>
                <a:schemeClr val="accent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841E735-99AE-F071-D8E3-E44F7908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lt"/>
              </a:rPr>
              <a:t>2.6.3	</a:t>
            </a:r>
            <a:r>
              <a:rPr lang="zh-CN" altLang="en-US" dirty="0">
                <a:sym typeface="+mn-lt"/>
              </a:rPr>
              <a:t>基于模拟特性的</a:t>
            </a:r>
            <a:r>
              <a:rPr lang="en-US" altLang="zh-CN" dirty="0">
                <a:sym typeface="+mn-lt"/>
              </a:rPr>
              <a:t>PUF</a:t>
            </a:r>
            <a:endParaRPr lang="zh-CN" altLang="en-US" dirty="0">
              <a:sym typeface="+mn-lt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0C7B3D4-0C48-E8EC-F4E5-F650D150D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38805"/>
              </p:ext>
            </p:extLst>
          </p:nvPr>
        </p:nvGraphicFramePr>
        <p:xfrm>
          <a:off x="1581752" y="2443066"/>
          <a:ext cx="9240252" cy="2793666"/>
        </p:xfrm>
        <a:graphic>
          <a:graphicData uri="http://schemas.openxmlformats.org/drawingml/2006/table">
            <a:tbl>
              <a:tblPr/>
              <a:tblGrid>
                <a:gridCol w="3047404">
                  <a:extLst>
                    <a:ext uri="{9D8B030D-6E8A-4147-A177-3AD203B41FA5}">
                      <a16:colId xmlns:a16="http://schemas.microsoft.com/office/drawing/2014/main" val="981928075"/>
                    </a:ext>
                  </a:extLst>
                </a:gridCol>
                <a:gridCol w="3096424">
                  <a:extLst>
                    <a:ext uri="{9D8B030D-6E8A-4147-A177-3AD203B41FA5}">
                      <a16:colId xmlns:a16="http://schemas.microsoft.com/office/drawing/2014/main" val="3217833290"/>
                    </a:ext>
                  </a:extLst>
                </a:gridCol>
                <a:gridCol w="3096424">
                  <a:extLst>
                    <a:ext uri="{9D8B030D-6E8A-4147-A177-3AD203B41FA5}">
                      <a16:colId xmlns:a16="http://schemas.microsoft.com/office/drawing/2014/main" val="4070905839"/>
                    </a:ext>
                  </a:extLst>
                </a:gridCol>
              </a:tblGrid>
              <a:tr h="49703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b="1" dirty="0">
                          <a:effectLst/>
                          <a:latin typeface="quote-cjk-patch"/>
                        </a:rPr>
                        <a:t>原理</a:t>
                      </a:r>
                      <a:endParaRPr lang="zh-C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b="1" dirty="0">
                          <a:effectLst/>
                          <a:latin typeface="quote-cjk-patch"/>
                        </a:rPr>
                        <a:t>工作模式</a:t>
                      </a:r>
                      <a:endParaRPr lang="zh-C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b="1" dirty="0">
                          <a:effectLst/>
                          <a:latin typeface="quote-cjk-patch"/>
                        </a:rPr>
                        <a:t>优势与挑战</a:t>
                      </a:r>
                      <a:endParaRPr lang="zh-C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54645"/>
                  </a:ext>
                </a:extLst>
              </a:tr>
              <a:tr h="11483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制造偏差 → 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阈值电压VTH、跨导gm随机变化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挑战：偏置电压（模拟量）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优势：无缝集成标准CMOS工艺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478710"/>
                  </a:ext>
                </a:extLst>
              </a:tr>
              <a:tr h="114831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相同偏置下，不同芯片的电流/电压输出不同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响应：测量电流/电压，经比较器/ADC量化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挑战：对温度、噪声敏感，需校准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75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F88C33-82A4-401F-B548-53FEAC07F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38593"/>
              </p:ext>
            </p:extLst>
          </p:nvPr>
        </p:nvGraphicFramePr>
        <p:xfrm>
          <a:off x="839449" y="1154243"/>
          <a:ext cx="10650576" cy="5036693"/>
        </p:xfrm>
        <a:graphic>
          <a:graphicData uri="http://schemas.openxmlformats.org/drawingml/2006/table">
            <a:tbl>
              <a:tblPr firstRow="1" bandRow="1">
                <a:effectLst>
                  <a:outerShdw blurRad="177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303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4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</a:rPr>
                        <a:t>可重构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</a:rPr>
                        <a:t>PUF</a:t>
                      </a: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</a:rPr>
                        <a:t>（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</a:rPr>
                        <a:t>SOT‑MRAM</a:t>
                      </a:r>
                      <a:r>
                        <a:rPr lang="zh-CN" alt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</a:rPr>
                        <a:t>）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虚拟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PUF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VPUF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量子效应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PUF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基于自旋轨道转矩磁随机存储器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用神经网络模拟物理随机性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利用隧穿电流、随机电报噪声等量子现象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芯片可在不同场景下动态重构指纹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在软件层面生成设备指纹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天然具有不可预测性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有效应对老化、环境漂移问题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适合资源极度受限的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IoT</a:t>
                      </a: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设备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可作为</a:t>
                      </a:r>
                      <a:r>
                        <a:rPr lang="en-US" altLang="zh-CN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I-V PUF</a:t>
                      </a: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的高级扩展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可看作“</a:t>
                      </a:r>
                      <a:r>
                        <a:rPr lang="en-US" altLang="zh-CN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PUF</a:t>
                      </a:r>
                      <a:r>
                        <a:rPr lang="zh-CN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的远程修复”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结合轻量级加密对抗模型克隆攻击</a:t>
                      </a: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思源黑体 CN Regular"/>
                        </a:defRPr>
                      </a:lvl9pPr>
                    </a:lstStyle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00614" marR="100614" marT="50308" marB="50308"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5F398B-E5F7-4A52-B104-6EF616D8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pPr/>
              <a:t>10</a:t>
            </a:fld>
            <a:endParaRPr lang="zh-CN" altLang="en-US"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CE7CE88-9951-F6E2-CEB6-3A1ED685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lt"/>
              </a:rPr>
              <a:t>2.6.3	</a:t>
            </a:r>
            <a:r>
              <a:rPr lang="zh-CN" altLang="en-US" dirty="0">
                <a:sym typeface="+mn-lt"/>
              </a:rPr>
              <a:t>其他实现与前沿拓展</a:t>
            </a:r>
          </a:p>
        </p:txBody>
      </p:sp>
    </p:spTree>
    <p:extLst>
      <p:ext uri="{BB962C8B-B14F-4D97-AF65-F5344CB8AC3E}">
        <p14:creationId xmlns:p14="http://schemas.microsoft.com/office/powerpoint/2010/main" val="115883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对话气泡: 椭圆形 21">
            <a:extLst>
              <a:ext uri="{FF2B5EF4-FFF2-40B4-BE49-F238E27FC236}">
                <a16:creationId xmlns:a16="http://schemas.microsoft.com/office/drawing/2014/main" id="{54D5AAF4-337C-4338-8850-1666FC7CC3ED}"/>
              </a:ext>
            </a:extLst>
          </p:cNvPr>
          <p:cNvSpPr/>
          <p:nvPr/>
        </p:nvSpPr>
        <p:spPr>
          <a:xfrm>
            <a:off x="12284074" y="1612893"/>
            <a:ext cx="876300" cy="698954"/>
          </a:xfrm>
          <a:prstGeom prst="wedgeEllipseCallout">
            <a:avLst>
              <a:gd name="adj1" fmla="val -20833"/>
              <a:gd name="adj2" fmla="val 75933"/>
            </a:avLst>
          </a:prstGeom>
          <a:noFill/>
          <a:ln>
            <a:solidFill>
              <a:schemeClr val="bg1">
                <a:alpha val="1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CD724E9-DF65-4225-8ECD-E0363566E4B8}"/>
              </a:ext>
            </a:extLst>
          </p:cNvPr>
          <p:cNvGrpSpPr/>
          <p:nvPr/>
        </p:nvGrpSpPr>
        <p:grpSpPr>
          <a:xfrm>
            <a:off x="3735624" y="2105561"/>
            <a:ext cx="4720753" cy="2646878"/>
            <a:chOff x="3626414" y="2137083"/>
            <a:chExt cx="4720753" cy="264687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73DA7CB-0DA9-4B7D-917F-89485E16F993}"/>
                </a:ext>
              </a:extLst>
            </p:cNvPr>
            <p:cNvSpPr txBox="1"/>
            <p:nvPr/>
          </p:nvSpPr>
          <p:spPr>
            <a:xfrm>
              <a:off x="3626414" y="2137083"/>
              <a:ext cx="1840568" cy="2646878"/>
            </a:xfrm>
            <a:prstGeom prst="rect">
              <a:avLst/>
            </a:prstGeom>
            <a:noFill/>
            <a:effectLst/>
            <a:scene3d>
              <a:camera prst="perspectiveRight">
                <a:rot lat="0" lon="20699999" rev="0"/>
              </a:camera>
              <a:lightRig rig="soft" dir="t"/>
            </a:scene3d>
            <a:sp3d/>
          </p:spPr>
          <p:txBody>
            <a:bodyPr wrap="none" rtlCol="0">
              <a:spAutoFit/>
              <a:sp3d>
                <a:contourClr>
                  <a:schemeClr val="bg1"/>
                </a:contourClr>
              </a:sp3d>
            </a:bodyPr>
            <a:lstStyle/>
            <a:p>
              <a:r>
                <a:rPr lang="en-US" altLang="zh-CN" sz="16600" b="1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Q</a:t>
              </a:r>
              <a:endParaRPr lang="zh-CN" altLang="en-US" sz="166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F9A62D6-7881-41BE-BB4E-8B789312E248}"/>
                </a:ext>
              </a:extLst>
            </p:cNvPr>
            <p:cNvSpPr txBox="1"/>
            <p:nvPr/>
          </p:nvSpPr>
          <p:spPr>
            <a:xfrm>
              <a:off x="6625221" y="2137083"/>
              <a:ext cx="1721946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b="1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A</a:t>
              </a:r>
              <a:endParaRPr lang="zh-CN" altLang="en-US" sz="166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8529BA5-3675-4B20-AF0D-9C2B86B1F96F}"/>
                </a:ext>
              </a:extLst>
            </p:cNvPr>
            <p:cNvGrpSpPr/>
            <p:nvPr/>
          </p:nvGrpSpPr>
          <p:grpSpPr>
            <a:xfrm>
              <a:off x="5542002" y="2519155"/>
              <a:ext cx="1210588" cy="1882735"/>
              <a:chOff x="5542002" y="2605948"/>
              <a:chExt cx="1210588" cy="1882735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8B9B525-AAEA-48AE-83A0-3689671C94A8}"/>
                  </a:ext>
                </a:extLst>
              </p:cNvPr>
              <p:cNvSpPr txBox="1"/>
              <p:nvPr/>
            </p:nvSpPr>
            <p:spPr>
              <a:xfrm>
                <a:off x="5624948" y="3165244"/>
                <a:ext cx="92525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lt"/>
                  </a:rPr>
                  <a:t>&amp;</a:t>
                </a:r>
                <a:endParaRPr lang="zh-CN" altLang="en-US" sz="8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EB98D2D-D4EF-4F42-BBFA-224BF1D6C1D9}"/>
                  </a:ext>
                </a:extLst>
              </p:cNvPr>
              <p:cNvSpPr txBox="1"/>
              <p:nvPr/>
            </p:nvSpPr>
            <p:spPr>
              <a:xfrm>
                <a:off x="5542002" y="2605948"/>
                <a:ext cx="12105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000" dirty="0">
                    <a:solidFill>
                      <a:schemeClr val="accent1"/>
                    </a:solidFill>
                    <a:cs typeface="+mn-ea"/>
                    <a:sym typeface="+mn-lt"/>
                  </a:rPr>
                  <a:t>问答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84658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ncg3nh5f">
      <a:majorFont>
        <a:latin typeface="Microsoft YaHei" panose="020F0302020204030204"/>
        <a:ea typeface="Microsoft YaHei"/>
        <a:cs typeface=""/>
      </a:majorFont>
      <a:minorFont>
        <a:latin typeface="Microsoft YaHei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34025</TotalTime>
  <Words>1107</Words>
  <Application>Microsoft Office PowerPoint</Application>
  <PresentationFormat>宽屏</PresentationFormat>
  <Paragraphs>135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quote-cjk-patch</vt:lpstr>
      <vt:lpstr>等线</vt:lpstr>
      <vt:lpstr>等线 Light</vt:lpstr>
      <vt:lpstr>宋体</vt:lpstr>
      <vt:lpstr>Microsoft YaHei</vt:lpstr>
      <vt:lpstr>Microsoft YaHei</vt:lpstr>
      <vt:lpstr>Arial</vt:lpstr>
      <vt:lpstr>Helvetica</vt:lpstr>
      <vt:lpstr>Montserrat</vt:lpstr>
      <vt:lpstr>Symbol</vt:lpstr>
      <vt:lpstr>Office 主题​​</vt:lpstr>
      <vt:lpstr>1_OfficePLUS</vt:lpstr>
      <vt:lpstr>2.1 PUF的灵感来源</vt:lpstr>
      <vt:lpstr>2.2 区分两种随机性</vt:lpstr>
      <vt:lpstr>2.3 PUF的工作原理</vt:lpstr>
      <vt:lpstr>2.4 PUF的关键优势</vt:lpstr>
      <vt:lpstr>2.5 三个关键指标</vt:lpstr>
      <vt:lpstr>2.6.1 基于存储器的PUF</vt:lpstr>
      <vt:lpstr>2.6.2 基于延迟的PUF</vt:lpstr>
      <vt:lpstr>2.6.2 基于延迟的PUF</vt:lpstr>
      <vt:lpstr>2.6.3 基于模拟特性的PUF</vt:lpstr>
      <vt:lpstr>2.6.3 其他实现与前沿拓展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zizhuo wang</cp:lastModifiedBy>
  <cp:revision>2964</cp:revision>
  <dcterms:created xsi:type="dcterms:W3CDTF">2018-12-16T05:38:48Z</dcterms:created>
  <dcterms:modified xsi:type="dcterms:W3CDTF">2026-05-13T12:50:03Z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