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2" r:id="rId1"/>
    <p:sldMasterId id="2147483674" r:id="rId2"/>
  </p:sldMasterIdLst>
  <p:notesMasterIdLst>
    <p:notesMasterId r:id="rId1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kinsoku lang="zh-CN" invalStChars="!%),.:;?]}¨·ˇˉ་―‖’”…‰∶、。〃々〉》」』】〕〗！＂＇％），．：；？］｀｜｝～￠" invalEndChars="([{·‘“〈《「『【〔〖（．［｛￡￥"/>
  <p:defaultTextStyle>
    <a:defPPr>
      <a:defRPr lang="zh-CN"/>
    </a:defPPr>
    <a:lvl1pPr marL="0" indent="0" algn="l" defTabSz="914400" eaLnBrk="0" fontAlgn="auto" latinLnBrk="0" hangingPunct="0">
      <a:buNone/>
      <a:defRPr sz="1800" kern="1200">
        <a:solidFill>
          <a:schemeClr val="tx1"/>
        </a:solidFill>
        <a:latin typeface="Droid Sans" charset="0"/>
        <a:ea typeface="Droid Sans" charset="0"/>
        <a:cs typeface="Droid Sans" charset="0"/>
      </a:defRPr>
    </a:lvl1pPr>
    <a:lvl2pPr marL="457200" indent="0" algn="l" defTabSz="914400" eaLnBrk="0" fontAlgn="auto" latinLnBrk="0" hangingPunct="0">
      <a:buNone/>
      <a:defRPr sz="1800" kern="1200">
        <a:solidFill>
          <a:schemeClr val="tx1"/>
        </a:solidFill>
        <a:latin typeface="Droid Sans" charset="0"/>
        <a:ea typeface="Droid Sans" charset="0"/>
        <a:cs typeface="Droid Sans" charset="0"/>
      </a:defRPr>
    </a:lvl2pPr>
    <a:lvl3pPr marL="914400" indent="0" algn="l" defTabSz="914400" eaLnBrk="0" fontAlgn="auto" latinLnBrk="0" hangingPunct="0">
      <a:buNone/>
      <a:defRPr sz="1800" kern="1200">
        <a:solidFill>
          <a:schemeClr val="tx1"/>
        </a:solidFill>
        <a:latin typeface="Droid Sans" charset="0"/>
        <a:ea typeface="Droid Sans" charset="0"/>
        <a:cs typeface="Droid Sans" charset="0"/>
      </a:defRPr>
    </a:lvl3pPr>
    <a:lvl4pPr marL="1371600" indent="0" algn="l" defTabSz="914400" eaLnBrk="0" fontAlgn="auto" latinLnBrk="0" hangingPunct="0">
      <a:buNone/>
      <a:defRPr sz="1800" kern="1200">
        <a:solidFill>
          <a:schemeClr val="tx1"/>
        </a:solidFill>
        <a:latin typeface="Droid Sans" charset="0"/>
        <a:ea typeface="Droid Sans" charset="0"/>
        <a:cs typeface="Droid Sans" charset="0"/>
      </a:defRPr>
    </a:lvl4pPr>
    <a:lvl5pPr marL="1828800" indent="0" algn="l" defTabSz="914400" eaLnBrk="0" fontAlgn="auto" latinLnBrk="0" hangingPunct="0">
      <a:buNone/>
      <a:defRPr sz="1800" kern="1200">
        <a:solidFill>
          <a:schemeClr val="tx1"/>
        </a:solidFill>
        <a:latin typeface="Droid Sans" charset="0"/>
        <a:ea typeface="Droid Sans" charset="0"/>
        <a:cs typeface="Droid Sans" charset="0"/>
      </a:defRPr>
    </a:lvl5pPr>
    <a:lvl6pPr marL="2286000" indent="0" algn="l" defTabSz="914400" eaLnBrk="0" fontAlgn="auto" latinLnBrk="0" hangingPunct="0">
      <a:buNone/>
      <a:defRPr sz="1800" kern="1200">
        <a:solidFill>
          <a:schemeClr val="tx1"/>
        </a:solidFill>
        <a:latin typeface="Droid Sans" charset="0"/>
        <a:ea typeface="Droid Sans" charset="0"/>
        <a:cs typeface="Droid Sans" charset="0"/>
      </a:defRPr>
    </a:lvl6pPr>
    <a:lvl7pPr marL="2743200" indent="0" algn="l" defTabSz="914400" eaLnBrk="0" fontAlgn="auto" latinLnBrk="0" hangingPunct="0">
      <a:buNone/>
      <a:defRPr sz="1800" kern="1200">
        <a:solidFill>
          <a:schemeClr val="tx1"/>
        </a:solidFill>
        <a:latin typeface="Droid Sans" charset="0"/>
        <a:ea typeface="Droid Sans" charset="0"/>
        <a:cs typeface="Droid Sans" charset="0"/>
      </a:defRPr>
    </a:lvl7pPr>
    <a:lvl8pPr marL="3200400" indent="0" algn="l" defTabSz="914400" eaLnBrk="0" fontAlgn="auto" latinLnBrk="0" hangingPunct="0">
      <a:buNone/>
      <a:defRPr sz="1800" kern="1200">
        <a:solidFill>
          <a:schemeClr val="tx1"/>
        </a:solidFill>
        <a:latin typeface="Droid Sans" charset="0"/>
        <a:ea typeface="Droid Sans" charset="0"/>
        <a:cs typeface="Droid Sans" charset="0"/>
      </a:defRPr>
    </a:lvl8pPr>
    <a:lvl9pPr marL="3200400" indent="0" algn="l" defTabSz="914400" eaLnBrk="0" fontAlgn="auto" latinLnBrk="0" hangingPunct="0">
      <a:buNone/>
      <a:defRPr sz="1800" kern="1200">
        <a:solidFill>
          <a:schemeClr val="tx1"/>
        </a:solidFill>
        <a:latin typeface="Droid Sans" charset="0"/>
        <a:ea typeface="Droid Sans" charset="0"/>
        <a:cs typeface="Droid Sans" charset="0"/>
      </a:defRPr>
    </a:lvl9pPr>
  </p:defaultTextStyle>
  <p:extLst>
    <p:ext uri="{EFAFB233-063F-42B5-8137-9DF3F51BA10A}">
      <p15:sldGuideLst xmlns:p15="http://schemas.microsoft.com/office/powerpoint/2012/main">
        <p15:guide id="1" orient="horz" pos="2272">
          <p15:clr>
            <a:srgbClr val="A4A3A4"/>
          </p15:clr>
        </p15:guide>
        <p15:guide id="2" orient="horz" pos="648">
          <p15:clr>
            <a:srgbClr val="A4A3A4"/>
          </p15:clr>
        </p15:guide>
        <p15:guide id="3" orient="horz" pos="728">
          <p15:clr>
            <a:srgbClr val="A4A3A4"/>
          </p15:clr>
        </p15:guide>
        <p15:guide id="4" orient="horz" pos="3952">
          <p15:clr>
            <a:srgbClr val="A4A3A4"/>
          </p15:clr>
        </p15:guide>
        <p15:guide id="5" orient="horz" pos="3832">
          <p15:clr>
            <a:srgbClr val="A4A3A4"/>
          </p15:clr>
        </p15:guide>
        <p15:guide id="6" pos="3840">
          <p15:clr>
            <a:srgbClr val="A4A3A4"/>
          </p15:clr>
        </p15:guide>
        <p15:guide id="7" pos="1048">
          <p15:clr>
            <a:srgbClr val="A4A3A4"/>
          </p15:clr>
        </p15:guide>
        <p15:guide id="8" pos="662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57" autoAdjust="0"/>
    <p:restoredTop sz="99500" autoAdjust="0"/>
  </p:normalViewPr>
  <p:slideViewPr>
    <p:cSldViewPr>
      <p:cViewPr varScale="1">
        <p:scale>
          <a:sx n="66" d="100"/>
          <a:sy n="66" d="100"/>
        </p:scale>
        <p:origin x="168" y="44"/>
      </p:cViewPr>
      <p:guideLst>
        <p:guide orient="horz" pos="2272"/>
        <p:guide orient="horz" pos="648"/>
        <p:guide orient="horz" pos="728"/>
        <p:guide orient="horz" pos="3952"/>
        <p:guide orient="horz" pos="3832"/>
        <p:guide pos="3840"/>
        <p:guide pos="1048"/>
        <p:guide pos="662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p:scale>
          <a:sx n="84" d="100"/>
          <a:sy n="84" d="100"/>
        </p:scale>
        <p:origin x="0" y="0"/>
      </p:cViewPr>
      <p:guideLst/>
    </p:cSldViewPr>
  </p:notesViewPr>
  <p:gridSpacing cx="72010" cy="7201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fld id="{CAD2D6BD-DE1B-4B5F-8B41-2702339687B9}" type="datetime1">
              <a:rPr lang="zh-CN" altLang="en-US" sz="1200">
                <a:latin typeface="等线" charset="0"/>
                <a:ea typeface="等线" charset="0"/>
                <a:cs typeface="等线" charset="0"/>
              </a:rPr>
              <a:t>2026/6/9</a:t>
            </a:fld>
            <a:endParaRPr lang="zh-CN" altLang="en-US" sz="1200">
              <a:latin typeface="等线" charset="0"/>
              <a:ea typeface="等线" charset="0"/>
              <a:cs typeface="等线" charset="0"/>
            </a:endParaRPr>
          </a:p>
        </p:txBody>
      </p:sp>
      <p:sp>
        <p:nvSpPr>
          <p:cNvPr id="10" name="Text box"/>
          <p:cNvSpPr>
            <a:spLocks noGrp="1"/>
          </p:cNvSpPr>
          <p:nvPr>
            <p:ph type="hdr"/>
          </p:nvPr>
        </p:nvSpPr>
        <p:spPr>
          <a:xfrm>
            <a:off x="0" y="0"/>
            <a:ext cx="2971799"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l"/>
            <a:endParaRPr lang="zh-CN" altLang="en-US" sz="1200">
              <a:latin typeface="等线" charset="0"/>
              <a:ea typeface="等线" charset="0"/>
              <a:cs typeface="等线" charset="0"/>
            </a:endParaRPr>
          </a:p>
        </p:txBody>
      </p:sp>
      <p:sp>
        <p:nvSpPr>
          <p:cNvPr id="12" name="Object"/>
          <p:cNvSpPr>
            <a:spLocks noGrp="1" noRot="1" noChangeAspect="1"/>
          </p:cNvSpPr>
          <p:nvPr>
            <p:ph type="sldImg" idx="2"/>
          </p:nvPr>
        </p:nvSpPr>
        <p:spPr>
          <a:xfrm>
            <a:off x="685800" y="1143000"/>
            <a:ext cx="5486400" cy="3086100"/>
          </a:xfrm>
          <a:prstGeom prst="rect">
            <a:avLst/>
          </a:prstGeom>
          <a:noFill/>
          <a:ln w="12700" cap="flat" cmpd="sng">
            <a:solidFill>
              <a:srgbClr val="000000"/>
            </a:solidFill>
            <a:prstDash val="solid"/>
            <a:round/>
          </a:ln>
        </p:spPr>
      </p:sp>
      <p:sp>
        <p:nvSpPr>
          <p:cNvPr id="13" name="Text box"/>
          <p:cNvSpPr>
            <a:spLocks noGrp="1"/>
          </p:cNvSpPr>
          <p:nvPr>
            <p:ph type="body" idx="3"/>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zh-CN" altLang="en-US"/>
              <a:t>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p>
        </p:txBody>
      </p:sp>
      <p:sp>
        <p:nvSpPr>
          <p:cNvPr id="14" name="Text box"/>
          <p:cNvSpPr>
            <a:spLocks noGrp="1"/>
          </p:cNvSpPr>
          <p:nvPr>
            <p:ph type="ftr" idx="4"/>
          </p:nvPr>
        </p:nvSpPr>
        <p:spPr>
          <a:xfrm>
            <a:off x="0" y="8685213"/>
            <a:ext cx="2971799"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l"/>
            <a:endParaRPr lang="zh-CN" altLang="en-US" sz="1200">
              <a:latin typeface="等线" charset="0"/>
              <a:ea typeface="等线" charset="0"/>
              <a:cs typeface="等线" charset="0"/>
            </a:endParaRPr>
          </a:p>
        </p:txBody>
      </p:sp>
    </p:spTree>
    <p:extLst>
      <p:ext uri="{BB962C8B-B14F-4D97-AF65-F5344CB8AC3E}">
        <p14:creationId xmlns:p14="http://schemas.microsoft.com/office/powerpoint/2010/main" val="933436935"/>
      </p:ext>
    </p:extLst>
  </p:cSld>
  <p:clrMap bg1="lt1" tx1="dk1" bg2="lt2" tx2="dk2" accent1="accent1" accent2="accent2" accent3="accent3" accent4="accent4" accent5="accent5" accent6="accent6" hlink="hlink" folHlink="folHlink"/>
  <p:hf/>
  <p:notesStyle>
    <a:lvl1pPr marL="0" indent="0" algn="l" defTabSz="914400" eaLnBrk="0" fontAlgn="auto" latinLnBrk="0" hangingPunct="0">
      <a:lnSpc>
        <a:spcPct val="100000"/>
      </a:lnSpc>
      <a:spcBef>
        <a:spcPts val="0"/>
      </a:spcBef>
      <a:spcAft>
        <a:spcPts val="0"/>
      </a:spcAft>
      <a:buNone/>
      <a:defRPr sz="1200" b="0" i="0" u="none" strike="noStrike" kern="1200" cap="none" spc="0" baseline="0">
        <a:solidFill>
          <a:schemeClr val="tx1"/>
        </a:solidFill>
        <a:latin typeface="等线" charset="0"/>
        <a:ea typeface="等线" charset="0"/>
        <a:cs typeface="等线" charset="0"/>
      </a:defRPr>
    </a:lvl1pPr>
    <a:lvl2pPr marL="457200" indent="0" algn="l" defTabSz="914400" eaLnBrk="0" fontAlgn="auto" latinLnBrk="0" hangingPunct="0">
      <a:lnSpc>
        <a:spcPct val="100000"/>
      </a:lnSpc>
      <a:spcBef>
        <a:spcPts val="0"/>
      </a:spcBef>
      <a:spcAft>
        <a:spcPts val="0"/>
      </a:spcAft>
      <a:buNone/>
      <a:defRPr sz="1200" b="0" i="0" u="none" strike="noStrike" kern="1200" cap="none" spc="0" baseline="0">
        <a:solidFill>
          <a:schemeClr val="tx1"/>
        </a:solidFill>
        <a:latin typeface="等线" charset="0"/>
        <a:ea typeface="等线" charset="0"/>
        <a:cs typeface="等线" charset="0"/>
      </a:defRPr>
    </a:lvl2pPr>
    <a:lvl3pPr marL="914400" indent="0" algn="l" defTabSz="914400" eaLnBrk="0" fontAlgn="auto" latinLnBrk="0" hangingPunct="0">
      <a:lnSpc>
        <a:spcPct val="100000"/>
      </a:lnSpc>
      <a:spcBef>
        <a:spcPts val="0"/>
      </a:spcBef>
      <a:spcAft>
        <a:spcPts val="0"/>
      </a:spcAft>
      <a:buNone/>
      <a:defRPr sz="1200" b="0" i="0" u="none" strike="noStrike" kern="1200" cap="none" spc="0" baseline="0">
        <a:solidFill>
          <a:schemeClr val="tx1"/>
        </a:solidFill>
        <a:latin typeface="等线" charset="0"/>
        <a:ea typeface="等线" charset="0"/>
        <a:cs typeface="等线" charset="0"/>
      </a:defRPr>
    </a:lvl3pPr>
    <a:lvl4pPr marL="1371600" indent="0" algn="l" defTabSz="914400" eaLnBrk="0" fontAlgn="auto" latinLnBrk="0" hangingPunct="0">
      <a:lnSpc>
        <a:spcPct val="100000"/>
      </a:lnSpc>
      <a:spcBef>
        <a:spcPts val="0"/>
      </a:spcBef>
      <a:spcAft>
        <a:spcPts val="0"/>
      </a:spcAft>
      <a:buNone/>
      <a:defRPr sz="1200" b="0" i="0" u="none" strike="noStrike" kern="1200" cap="none" spc="0" baseline="0">
        <a:solidFill>
          <a:schemeClr val="tx1"/>
        </a:solidFill>
        <a:latin typeface="等线" charset="0"/>
        <a:ea typeface="等线" charset="0"/>
        <a:cs typeface="等线" charset="0"/>
      </a:defRPr>
    </a:lvl4pPr>
    <a:lvl5pPr marL="1828800" indent="0" algn="l" defTabSz="914400" eaLnBrk="0" fontAlgn="auto" latinLnBrk="0" hangingPunct="0">
      <a:lnSpc>
        <a:spcPct val="100000"/>
      </a:lnSpc>
      <a:spcBef>
        <a:spcPts val="0"/>
      </a:spcBef>
      <a:spcAft>
        <a:spcPts val="0"/>
      </a:spcAft>
      <a:buNone/>
      <a:defRPr sz="1200" b="0" i="0" u="none" strike="noStrike" kern="1200" cap="none" spc="0" baseline="0">
        <a:solidFill>
          <a:schemeClr val="tx1"/>
        </a:solidFill>
        <a:latin typeface="等线" charset="0"/>
        <a:ea typeface="等线" charset="0"/>
        <a:cs typeface="等线" charset="0"/>
      </a:defRPr>
    </a:lvl5pPr>
    <a:lvl6pPr marL="2286000" indent="0" algn="l" defTabSz="914400" eaLnBrk="0" fontAlgn="auto" latinLnBrk="0" hangingPunct="0">
      <a:lnSpc>
        <a:spcPct val="100000"/>
      </a:lnSpc>
      <a:spcBef>
        <a:spcPts val="0"/>
      </a:spcBef>
      <a:spcAft>
        <a:spcPts val="0"/>
      </a:spcAft>
      <a:buNone/>
      <a:defRPr sz="1200" b="0" i="0" u="none" strike="noStrike" kern="1200" cap="none" spc="0" baseline="0">
        <a:solidFill>
          <a:schemeClr val="tx1"/>
        </a:solidFill>
        <a:latin typeface="等线" charset="0"/>
        <a:ea typeface="等线" charset="0"/>
        <a:cs typeface="等线" charset="0"/>
      </a:defRPr>
    </a:lvl6pPr>
    <a:lvl7pPr marL="2743200" indent="0" algn="l" defTabSz="914400" eaLnBrk="0" fontAlgn="auto" latinLnBrk="0" hangingPunct="0">
      <a:lnSpc>
        <a:spcPct val="100000"/>
      </a:lnSpc>
      <a:spcBef>
        <a:spcPts val="0"/>
      </a:spcBef>
      <a:spcAft>
        <a:spcPts val="0"/>
      </a:spcAft>
      <a:buNone/>
      <a:defRPr sz="1200" b="0" i="0" u="none" strike="noStrike" kern="1200" cap="none" spc="0" baseline="0">
        <a:solidFill>
          <a:schemeClr val="tx1"/>
        </a:solidFill>
        <a:latin typeface="等线" charset="0"/>
        <a:ea typeface="等线" charset="0"/>
        <a:cs typeface="等线" charset="0"/>
      </a:defRPr>
    </a:lvl7pPr>
    <a:lvl8pPr marL="3200400" indent="0" algn="l" defTabSz="914400" eaLnBrk="0" fontAlgn="auto" latinLnBrk="0" hangingPunct="0">
      <a:lnSpc>
        <a:spcPct val="100000"/>
      </a:lnSpc>
      <a:spcBef>
        <a:spcPts val="0"/>
      </a:spcBef>
      <a:spcAft>
        <a:spcPts val="0"/>
      </a:spcAft>
      <a:buNone/>
      <a:defRPr sz="1200" b="0" i="0" u="none" strike="noStrike" kern="1200" cap="none" spc="0" baseline="0">
        <a:solidFill>
          <a:schemeClr val="tx1"/>
        </a:solidFill>
        <a:latin typeface="等线" charset="0"/>
        <a:ea typeface="等线" charset="0"/>
        <a:cs typeface="等线" charset="0"/>
      </a:defRPr>
    </a:lvl8pPr>
    <a:lvl9pPr marL="3200400" indent="0" algn="l" defTabSz="914400" eaLnBrk="0" fontAlgn="auto" latinLnBrk="0" hangingPunct="0">
      <a:lnSpc>
        <a:spcPct val="100000"/>
      </a:lnSpc>
      <a:spcBef>
        <a:spcPts val="0"/>
      </a:spcBef>
      <a:spcAft>
        <a:spcPts val="0"/>
      </a:spcAft>
      <a:buNone/>
      <a:defRPr sz="1200" b="0" i="0" u="none" strike="noStrike" kern="1200" cap="none" spc="0" baseline="0">
        <a:solidFill>
          <a:schemeClr val="tx1"/>
        </a:solidFill>
        <a:latin typeface="等线" charset="0"/>
        <a:ea typeface="等线" charset="0"/>
        <a:cs typeface="等线" charset="0"/>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www.officeplus.cn/p/51/102751.shtml" TargetMode="External"/><Relationship Id="rId7" Type="http://schemas.openxmlformats.org/officeDocument/2006/relationships/hyperlink" Target="https://zhuanlan.zhihu.com/p/335298500" TargetMode="External"/><Relationship Id="rId2" Type="http://schemas.openxmlformats.org/officeDocument/2006/relationships/slide" Target="../slides/slide1.xml"/><Relationship Id="rId1" Type="http://schemas.openxmlformats.org/officeDocument/2006/relationships/notesMaster" Target="../notesMasters/notesMaster1.xml"/><Relationship Id="rId6" Type="http://schemas.openxmlformats.org/officeDocument/2006/relationships/hyperlink" Target="https://weibo.com/p/1005052284144087/photos?type=photo" TargetMode="External"/><Relationship Id="rId5" Type="http://schemas.openxmlformats.org/officeDocument/2006/relationships/hyperlink" Target="https://www.seu.edu.cn/bsxtwxw/main.htm" TargetMode="External"/><Relationship Id="rId4" Type="http://schemas.openxmlformats.org/officeDocument/2006/relationships/hyperlink" Target="https://mp.weixin.qq.com/mp/profile_ext?action=home&amp;__biz=MzA4MzM3Mzc3Ng==&amp;scene=124#wechat_redirect"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24"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a:t>
            </a:fld>
            <a:endParaRPr lang="zh-CN" altLang="en-US" sz="1200">
              <a:latin typeface="等线" charset="0"/>
              <a:ea typeface="等线" charset="0"/>
              <a:cs typeface="等线" charset="0"/>
            </a:endParaRPr>
          </a:p>
        </p:txBody>
      </p:sp>
      <p:sp>
        <p:nvSpPr>
          <p:cNvPr id="25"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6"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marL="285750" indent="-285750">
              <a:lnSpc>
                <a:spcPct val="150000"/>
              </a:lnSpc>
              <a:buFont typeface="Arial" pitchFamily="34" charset="0"/>
              <a:buChar char="•"/>
            </a:pPr>
            <a:r>
              <a:rPr lang="zh-CN" altLang="en-US">
                <a:cs typeface="等线" charset="0"/>
                <a:sym typeface="等线" charset="0"/>
              </a:rPr>
              <a:t>本模板基于“</a:t>
            </a:r>
            <a:r>
              <a:rPr lang="zh-CN" altLang="en-US">
                <a:hlinkClick r:id="rId3"/>
              </a:rPr>
              <a:t>中国科学院大学</a:t>
            </a:r>
            <a:r>
              <a:rPr lang="en-US" altLang="zh-CN">
                <a:hlinkClick r:id="rId3"/>
              </a:rPr>
              <a:t>-</a:t>
            </a:r>
            <a:r>
              <a:rPr lang="zh-CN" altLang="en-US">
                <a:hlinkClick r:id="rId3"/>
              </a:rPr>
              <a:t>路人丁</a:t>
            </a:r>
            <a:r>
              <a:rPr lang="en-US" altLang="zh-CN">
                <a:hlinkClick r:id="rId3"/>
              </a:rPr>
              <a:t>-PPT</a:t>
            </a:r>
            <a:r>
              <a:rPr lang="zh-CN" altLang="en-US">
                <a:hlinkClick r:id="rId3"/>
              </a:rPr>
              <a:t>模板</a:t>
            </a:r>
            <a:r>
              <a:rPr lang="en-US" altLang="zh-CN"/>
              <a:t>”魔改而成，著作权归该作者所有。</a:t>
            </a:r>
          </a:p>
          <a:p>
            <a:pPr marL="285750" indent="-285750">
              <a:lnSpc>
                <a:spcPct val="150000"/>
              </a:lnSpc>
              <a:buFont typeface="Arial" pitchFamily="34" charset="0"/>
              <a:buChar char="•"/>
            </a:pPr>
            <a:r>
              <a:rPr lang="zh-CN" altLang="en-US"/>
              <a:t>本模板中使用的东南大学校徽、校标文字组合、校训文字等素材来自于微信公众号“</a:t>
            </a:r>
            <a:r>
              <a:rPr lang="zh-CN" altLang="en-US">
                <a:hlinkClick r:id="rId4"/>
              </a:rPr>
              <a:t>金木屋</a:t>
            </a:r>
            <a:r>
              <a:rPr lang="en-US" altLang="zh-CN"/>
              <a:t>”。</a:t>
            </a:r>
          </a:p>
          <a:p>
            <a:pPr marL="285750" indent="-285750">
              <a:lnSpc>
                <a:spcPct val="150000"/>
              </a:lnSpc>
              <a:buFont typeface="Arial" pitchFamily="34" charset="0"/>
              <a:buChar char="•"/>
            </a:pPr>
            <a:r>
              <a:rPr lang="zh-CN" altLang="en-US"/>
              <a:t>本模板的视觉设计参考了“</a:t>
            </a:r>
            <a:r>
              <a:rPr lang="zh-CN" altLang="en-US">
                <a:hlinkClick r:id="rId5"/>
              </a:rPr>
              <a:t>东南大学视觉识别系统</a:t>
            </a:r>
            <a:r>
              <a:rPr lang="en-US" altLang="zh-CN"/>
              <a:t>”。</a:t>
            </a:r>
          </a:p>
          <a:p>
            <a:pPr marL="285750" indent="-285750">
              <a:lnSpc>
                <a:spcPct val="150000"/>
              </a:lnSpc>
              <a:buFont typeface="Arial" pitchFamily="34" charset="0"/>
              <a:buChar char="•"/>
            </a:pPr>
            <a:r>
              <a:rPr lang="zh-CN" altLang="en-US"/>
              <a:t>人物介绍页头像素材来自 </a:t>
            </a:r>
            <a:r>
              <a:rPr lang="zh-CN" altLang="en-US">
                <a:hlinkClick r:id="rId6"/>
              </a:rPr>
              <a:t>小肥柴</a:t>
            </a:r>
            <a:r>
              <a:rPr lang="zh-CN" altLang="en-US"/>
              <a:t>。</a:t>
            </a:r>
            <a:endParaRPr lang="en-US" altLang="zh-CN"/>
          </a:p>
          <a:p>
            <a:pPr marL="285750" indent="-285750">
              <a:lnSpc>
                <a:spcPct val="150000"/>
              </a:lnSpc>
              <a:buFont typeface="Arial" pitchFamily="34" charset="0"/>
              <a:buChar char="•"/>
            </a:pPr>
            <a:endParaRPr lang="en-US" altLang="zh-CN" sz="800"/>
          </a:p>
          <a:p>
            <a:pPr marL="285750" indent="-285750">
              <a:lnSpc>
                <a:spcPct val="150000"/>
              </a:lnSpc>
              <a:buFont typeface="Arial" pitchFamily="34" charset="0"/>
              <a:buChar char="•"/>
            </a:pPr>
            <a:r>
              <a:rPr lang="zh-CN" altLang="en-US"/>
              <a:t>本模板力求简洁，布局合理，主次分明。以学术风为设计理念，适用于学术报告与论文答辩等相关应用场景。模板未使用任何动画效果。</a:t>
            </a:r>
            <a:endParaRPr lang="en-US" altLang="zh-CN"/>
          </a:p>
          <a:p>
            <a:pPr marL="285750" indent="-285750">
              <a:lnSpc>
                <a:spcPct val="150000"/>
              </a:lnSpc>
              <a:buFont typeface="Arial" pitchFamily="34" charset="0"/>
              <a:buChar char="•"/>
            </a:pPr>
            <a:r>
              <a:rPr lang="zh-CN" altLang="en-US"/>
              <a:t>您仅可以以个人非商业用途使用本</a:t>
            </a:r>
            <a:r>
              <a:rPr lang="en-US" altLang="zh-CN"/>
              <a:t>PPT</a:t>
            </a:r>
            <a:r>
              <a:rPr lang="zh-CN" altLang="en-US"/>
              <a:t>模板，不可将信息内容的全部或部分用以出售，或以出租、出借、转让、分销、发布等其他任何方式供其他人使用。</a:t>
            </a:r>
            <a:endParaRPr lang="en-US" altLang="zh-CN"/>
          </a:p>
          <a:p>
            <a:pPr marL="285750" indent="-285750">
              <a:lnSpc>
                <a:spcPct val="150000"/>
              </a:lnSpc>
              <a:buFont typeface="Arial" pitchFamily="34" charset="0"/>
              <a:buChar char="•"/>
            </a:pPr>
            <a:endParaRPr lang="en-US" altLang="zh-CN" sz="800"/>
          </a:p>
          <a:p>
            <a:pPr marL="285750" indent="-285750">
              <a:lnSpc>
                <a:spcPct val="150000"/>
              </a:lnSpc>
              <a:buFont typeface="Arial" pitchFamily="34" charset="0"/>
              <a:buChar char="•"/>
            </a:pPr>
            <a:r>
              <a:rPr lang="zh-CN" altLang="en-US"/>
              <a:t>欢迎 </a:t>
            </a:r>
            <a:r>
              <a:rPr lang="zh-CN" altLang="en-US">
                <a:hlinkClick r:id="rId7"/>
              </a:rPr>
              <a:t>持续关注东南大学止于至善学术风</a:t>
            </a:r>
            <a:r>
              <a:rPr lang="en-US" altLang="zh-CN">
                <a:hlinkClick r:id="rId7"/>
              </a:rPr>
              <a:t> PPT </a:t>
            </a:r>
            <a:r>
              <a:rPr lang="zh-CN" altLang="en-US">
                <a:hlinkClick r:id="rId7"/>
              </a:rPr>
              <a:t>模板</a:t>
            </a:r>
            <a:r>
              <a:rPr lang="zh-CN" altLang="en-US"/>
              <a:t> （</a:t>
            </a:r>
            <a:r>
              <a:rPr lang="en-US" altLang="zh-CN" sz="1200" kern="1200">
                <a:solidFill>
                  <a:schemeClr val="tx1"/>
                </a:solidFill>
                <a:latin typeface="等线" charset="0"/>
                <a:ea typeface="等线" charset="0"/>
                <a:cs typeface="等线" charset="0"/>
              </a:rPr>
              <a:t>https://zhuanlan.zhihu.com/p/335298500</a:t>
            </a:r>
            <a:r>
              <a:rPr lang="zh-CN" altLang="en-US"/>
              <a:t>）后续的功能优化及多语言更新版本。</a:t>
            </a:r>
            <a:endParaRPr lang="en-US" altLang="zh-CN"/>
          </a:p>
          <a:p>
            <a:pPr marL="285750" indent="-285750">
              <a:lnSpc>
                <a:spcPct val="150000"/>
              </a:lnSpc>
              <a:buFont typeface="Arial" pitchFamily="34" charset="0"/>
              <a:buChar char="•"/>
            </a:pPr>
            <a:r>
              <a:rPr lang="zh-CN" altLang="en-US"/>
              <a:t>最后，祝汇报顺利，马到成功！</a:t>
            </a:r>
            <a:endParaRPr lang="en-US" altLang="zh-CN"/>
          </a:p>
          <a:p>
            <a:pPr marL="285750" indent="-285750">
              <a:lnSpc>
                <a:spcPct val="150000"/>
              </a:lnSpc>
              <a:buFont typeface="Arial" pitchFamily="34" charset="0"/>
              <a:buChar char="•"/>
            </a:pPr>
            <a:endParaRPr lang="en-US" altLang="zh-CN"/>
          </a:p>
          <a:p>
            <a:pPr marL="285750" indent="-285750" algn="l" eaLnBrk="0" fontAlgn="auto" latinLnBrk="0" hangingPunct="0">
              <a:lnSpc>
                <a:spcPct val="150000"/>
              </a:lnSpc>
              <a:spcBef>
                <a:spcPts val="0"/>
              </a:spcBef>
              <a:spcAft>
                <a:spcPts val="0"/>
              </a:spcAft>
              <a:buSzPct val="100000"/>
              <a:buFont typeface="Arial" pitchFamily="34" charset="0"/>
              <a:buChar char="•"/>
            </a:pPr>
            <a:r>
              <a:rPr lang="en-US" altLang="zh-CN">
                <a:latin typeface="等线" charset="0"/>
                <a:cs typeface="Arial" pitchFamily="34" charset="0"/>
              </a:rPr>
              <a:t>Version: (2021) v1.5-cn.</a:t>
            </a:r>
            <a:endParaRPr lang="zh-CN" altLang="en-US">
              <a:latin typeface="等线" charset="0"/>
              <a:cs typeface="Arial" pitchFamily="34" charset="0"/>
            </a:endParaRPr>
          </a:p>
        </p:txBody>
      </p:sp>
      <p:sp>
        <p:nvSpPr>
          <p:cNvPr id="27"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a:t>
            </a:fld>
            <a:endParaRPr lang="zh-CN" altLang="en-US"/>
          </a:p>
        </p:txBody>
      </p:sp>
    </p:spTree>
    <p:extLst>
      <p:ext uri="{BB962C8B-B14F-4D97-AF65-F5344CB8AC3E}">
        <p14:creationId xmlns:p14="http://schemas.microsoft.com/office/powerpoint/2010/main" val="18087411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2</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44"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45"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46"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2</a:t>
            </a:fld>
            <a:endParaRPr lang="zh-CN" altLang="en-US" sz="1200">
              <a:latin typeface="等线" charset="0"/>
              <a:ea typeface="等线" charset="0"/>
              <a:cs typeface="等线" charset="0"/>
            </a:endParaRPr>
          </a:p>
        </p:txBody>
      </p:sp>
    </p:spTree>
    <p:extLst>
      <p:ext uri="{BB962C8B-B14F-4D97-AF65-F5344CB8AC3E}">
        <p14:creationId xmlns:p14="http://schemas.microsoft.com/office/powerpoint/2010/main" val="14794560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3</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85"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3</a:t>
            </a:fld>
            <a:endParaRPr lang="zh-CN" altLang="en-US" sz="1200">
              <a:latin typeface="等线" charset="0"/>
              <a:ea typeface="等线" charset="0"/>
              <a:cs typeface="等线" charset="0"/>
            </a:endParaRPr>
          </a:p>
        </p:txBody>
      </p:sp>
      <p:sp>
        <p:nvSpPr>
          <p:cNvPr id="86"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87"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88"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3</a:t>
            </a:fld>
            <a:endParaRPr lang="zh-CN" altLang="en-US"/>
          </a:p>
        </p:txBody>
      </p:sp>
    </p:spTree>
    <p:extLst>
      <p:ext uri="{BB962C8B-B14F-4D97-AF65-F5344CB8AC3E}">
        <p14:creationId xmlns:p14="http://schemas.microsoft.com/office/powerpoint/2010/main" val="10498462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4</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108"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4</a:t>
            </a:fld>
            <a:endParaRPr lang="zh-CN" altLang="en-US" sz="1200">
              <a:latin typeface="等线" charset="0"/>
              <a:ea typeface="等线" charset="0"/>
              <a:cs typeface="等线" charset="0"/>
            </a:endParaRPr>
          </a:p>
        </p:txBody>
      </p:sp>
      <p:sp>
        <p:nvSpPr>
          <p:cNvPr id="109"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10"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111"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4</a:t>
            </a:fld>
            <a:endParaRPr lang="zh-CN" altLang="en-US"/>
          </a:p>
        </p:txBody>
      </p:sp>
    </p:spTree>
    <p:extLst>
      <p:ext uri="{BB962C8B-B14F-4D97-AF65-F5344CB8AC3E}">
        <p14:creationId xmlns:p14="http://schemas.microsoft.com/office/powerpoint/2010/main" val="10930958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5</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139"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5</a:t>
            </a:fld>
            <a:endParaRPr lang="zh-CN" altLang="en-US" sz="1200">
              <a:latin typeface="等线" charset="0"/>
              <a:ea typeface="等线" charset="0"/>
              <a:cs typeface="等线" charset="0"/>
            </a:endParaRPr>
          </a:p>
        </p:txBody>
      </p:sp>
      <p:sp>
        <p:nvSpPr>
          <p:cNvPr id="140"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41"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142"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5</a:t>
            </a:fld>
            <a:endParaRPr lang="zh-CN" altLang="en-US"/>
          </a:p>
        </p:txBody>
      </p:sp>
    </p:spTree>
    <p:extLst>
      <p:ext uri="{BB962C8B-B14F-4D97-AF65-F5344CB8AC3E}">
        <p14:creationId xmlns:p14="http://schemas.microsoft.com/office/powerpoint/2010/main" val="8315082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6</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169"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6</a:t>
            </a:fld>
            <a:endParaRPr lang="zh-CN" altLang="en-US" sz="1200">
              <a:latin typeface="等线" charset="0"/>
              <a:ea typeface="等线" charset="0"/>
              <a:cs typeface="等线" charset="0"/>
            </a:endParaRPr>
          </a:p>
        </p:txBody>
      </p:sp>
      <p:sp>
        <p:nvSpPr>
          <p:cNvPr id="170" name="Object"/>
          <p:cNvSpPr>
            <a:spLocks noGrp="1" noRot="1" noChangeAspect="1"/>
          </p:cNvSpPr>
          <p:nvPr>
            <p:ph type="sldImg" idx="2"/>
          </p:nvPr>
        </p:nvSpPr>
        <p:spPr>
          <a:xfrm>
            <a:off x="685800" y="1143000"/>
            <a:ext cx="5486400" cy="3086100"/>
          </a:xfrm>
          <a:prstGeom prst="rect">
            <a:avLst/>
          </a:prstGeom>
          <a:noFill/>
          <a:ln w="12700" cap="flat" cmpd="sng">
            <a:noFill/>
            <a:prstDash val="solid"/>
            <a:miter/>
          </a:ln>
        </p:spPr>
      </p:sp>
      <p:sp>
        <p:nvSpPr>
          <p:cNvPr id="171" name="Text box"/>
          <p:cNvSpPr>
            <a:spLocks noGrp="1"/>
          </p:cNvSpPr>
          <p:nvPr>
            <p:ph type="body" idx="3"/>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Tree>
    <p:extLst>
      <p:ext uri="{BB962C8B-B14F-4D97-AF65-F5344CB8AC3E}">
        <p14:creationId xmlns:p14="http://schemas.microsoft.com/office/powerpoint/2010/main" val="21051916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7</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190"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7</a:t>
            </a:fld>
            <a:endParaRPr lang="zh-CN" altLang="en-US" sz="1200">
              <a:latin typeface="等线" charset="0"/>
              <a:ea typeface="等线" charset="0"/>
              <a:cs typeface="等线" charset="0"/>
            </a:endParaRPr>
          </a:p>
        </p:txBody>
      </p:sp>
      <p:sp>
        <p:nvSpPr>
          <p:cNvPr id="191"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192"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193"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7</a:t>
            </a:fld>
            <a:endParaRPr lang="zh-CN" altLang="en-US"/>
          </a:p>
        </p:txBody>
      </p:sp>
    </p:spTree>
    <p:extLst>
      <p:ext uri="{BB962C8B-B14F-4D97-AF65-F5344CB8AC3E}">
        <p14:creationId xmlns:p14="http://schemas.microsoft.com/office/powerpoint/2010/main" val="1129913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8</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208"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09"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10"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8</a:t>
            </a:fld>
            <a:endParaRPr lang="zh-CN" altLang="en-US" sz="1200">
              <a:latin typeface="等线" charset="0"/>
              <a:ea typeface="等线" charset="0"/>
              <a:cs typeface="等线" charset="0"/>
            </a:endParaRPr>
          </a:p>
        </p:txBody>
      </p:sp>
    </p:spTree>
    <p:extLst>
      <p:ext uri="{BB962C8B-B14F-4D97-AF65-F5344CB8AC3E}">
        <p14:creationId xmlns:p14="http://schemas.microsoft.com/office/powerpoint/2010/main" val="576266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9</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216"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17"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18"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9</a:t>
            </a:fld>
            <a:endParaRPr lang="zh-CN" altLang="en-US" sz="1200">
              <a:latin typeface="等线" charset="0"/>
              <a:ea typeface="等线" charset="0"/>
              <a:cs typeface="等线" charset="0"/>
            </a:endParaRPr>
          </a:p>
        </p:txBody>
      </p:sp>
    </p:spTree>
    <p:extLst>
      <p:ext uri="{BB962C8B-B14F-4D97-AF65-F5344CB8AC3E}">
        <p14:creationId xmlns:p14="http://schemas.microsoft.com/office/powerpoint/2010/main" val="1747854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10</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226"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27"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28"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10</a:t>
            </a:fld>
            <a:endParaRPr lang="zh-CN" altLang="en-US" sz="1200">
              <a:latin typeface="等线" charset="0"/>
              <a:ea typeface="等线" charset="0"/>
              <a:cs typeface="等线" charset="0"/>
            </a:endParaRPr>
          </a:p>
        </p:txBody>
      </p:sp>
    </p:spTree>
    <p:extLst>
      <p:ext uri="{BB962C8B-B14F-4D97-AF65-F5344CB8AC3E}">
        <p14:creationId xmlns:p14="http://schemas.microsoft.com/office/powerpoint/2010/main" val="14062466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11</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237"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11</a:t>
            </a:fld>
            <a:endParaRPr lang="zh-CN" altLang="en-US" sz="1200">
              <a:latin typeface="等线" charset="0"/>
              <a:ea typeface="等线" charset="0"/>
              <a:cs typeface="等线" charset="0"/>
            </a:endParaRPr>
          </a:p>
        </p:txBody>
      </p:sp>
      <p:sp>
        <p:nvSpPr>
          <p:cNvPr id="238"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39"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40"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11</a:t>
            </a:fld>
            <a:endParaRPr lang="zh-CN" altLang="en-US"/>
          </a:p>
        </p:txBody>
      </p:sp>
    </p:spTree>
    <p:extLst>
      <p:ext uri="{BB962C8B-B14F-4D97-AF65-F5344CB8AC3E}">
        <p14:creationId xmlns:p14="http://schemas.microsoft.com/office/powerpoint/2010/main" val="1625822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12</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260"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12</a:t>
            </a:fld>
            <a:endParaRPr lang="zh-CN" altLang="en-US" sz="1200">
              <a:latin typeface="等线" charset="0"/>
              <a:ea typeface="等线" charset="0"/>
              <a:cs typeface="等线" charset="0"/>
            </a:endParaRPr>
          </a:p>
        </p:txBody>
      </p:sp>
      <p:sp>
        <p:nvSpPr>
          <p:cNvPr id="261"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62"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63"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12</a:t>
            </a:fld>
            <a:endParaRPr lang="zh-CN" altLang="en-US"/>
          </a:p>
        </p:txBody>
      </p:sp>
    </p:spTree>
    <p:extLst>
      <p:ext uri="{BB962C8B-B14F-4D97-AF65-F5344CB8AC3E}">
        <p14:creationId xmlns:p14="http://schemas.microsoft.com/office/powerpoint/2010/main" val="3970820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13</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285"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13</a:t>
            </a:fld>
            <a:endParaRPr lang="zh-CN" altLang="en-US" sz="1200">
              <a:latin typeface="等线" charset="0"/>
              <a:ea typeface="等线" charset="0"/>
              <a:cs typeface="等线" charset="0"/>
            </a:endParaRPr>
          </a:p>
        </p:txBody>
      </p:sp>
      <p:sp>
        <p:nvSpPr>
          <p:cNvPr id="286"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87"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88"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fld id="{CAD2D6BD-DE1B-4B5F-8B41-2702339687B9}" type="slidenum">
              <a:rPr lang="en-US" altLang="zh-CN" sz="1800" b="0" i="0" u="none" strike="noStrike" kern="1200" cap="none" spc="0" baseline="0">
                <a:solidFill>
                  <a:schemeClr val="tx1"/>
                </a:solidFill>
                <a:latin typeface="Droid Sans" charset="0"/>
                <a:ea typeface="Droid Sans" charset="0"/>
                <a:cs typeface="Lucida Sans" charset="0"/>
              </a:rPr>
              <a:t>13</a:t>
            </a:fld>
            <a:endParaRPr lang="zh-CN" altLang="en-US"/>
          </a:p>
        </p:txBody>
      </p:sp>
    </p:spTree>
    <p:extLst>
      <p:ext uri="{BB962C8B-B14F-4D97-AF65-F5344CB8AC3E}">
        <p14:creationId xmlns:p14="http://schemas.microsoft.com/office/powerpoint/2010/main" val="42135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ext box"/>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14</a:t>
            </a:fld>
            <a:endParaRPr lang="zh-CN" altLang="en-US" sz="1200">
              <a:latin typeface="等线" charset="0"/>
              <a:ea typeface="等线" charset="0"/>
              <a:cs typeface="等线" charset="0"/>
            </a:endParaRPr>
          </a:p>
        </p:txBody>
      </p:sp>
      <p:sp>
        <p:nvSpPr>
          <p:cNvPr id="11" name="Text box"/>
          <p:cNvSpPr>
            <a:spLocks noGrp="1"/>
          </p:cNvSpPr>
          <p:nvPr>
            <p:ph type="dt" idx="1"/>
          </p:nvPr>
        </p:nvSpPr>
        <p:spPr>
          <a:xfrm>
            <a:off x="3884613" y="0"/>
            <a:ext cx="2971800" cy="458787"/>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pPr algn="r"/>
            <a:endParaRPr lang="zh-CN" altLang="en-US" sz="1200">
              <a:latin typeface="等线" charset="0"/>
              <a:ea typeface="等线" charset="0"/>
              <a:cs typeface="等线" charset="0"/>
            </a:endParaRPr>
          </a:p>
        </p:txBody>
      </p:sp>
      <p:sp>
        <p:nvSpPr>
          <p:cNvPr id="293" name="Object"/>
          <p:cNvSpPr>
            <a:spLocks noGrp="1" noRot="1" noChangeAspect="1"/>
          </p:cNvSpPr>
          <p:nvPr>
            <p:ph type="sldImg"/>
          </p:nvPr>
        </p:nvSpPr>
        <p:spPr>
          <a:xfrm>
            <a:off x="685800" y="1143000"/>
            <a:ext cx="5486400" cy="3086100"/>
          </a:xfrm>
          <a:prstGeom prst="rect">
            <a:avLst/>
          </a:prstGeom>
          <a:noFill/>
          <a:ln w="12700" cap="flat" cmpd="sng">
            <a:noFill/>
            <a:prstDash val="solid"/>
            <a:miter/>
          </a:ln>
        </p:spPr>
      </p:sp>
      <p:sp>
        <p:nvSpPr>
          <p:cNvPr id="294" name="Text box"/>
          <p:cNvSpPr>
            <a:spLocks noGrp="1"/>
          </p:cNvSpPr>
          <p:nvPr>
            <p:ph type="body" idx="1"/>
          </p:nvPr>
        </p:nvSpPr>
        <p:spPr>
          <a:xfrm>
            <a:off x="685800" y="4400550"/>
            <a:ext cx="5486400" cy="3600450"/>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endParaRPr lang="zh-CN" altLang="en-US"/>
          </a:p>
        </p:txBody>
      </p:sp>
      <p:sp>
        <p:nvSpPr>
          <p:cNvPr id="295" name="Rectangles"/>
          <p:cNvSpPr>
            <a:spLocks noGrp="1"/>
          </p:cNvSpPr>
          <p:nvPr>
            <p:ph type="sldNum" idx="5"/>
          </p:nvPr>
        </p:nvSpPr>
        <p:spPr>
          <a:xfrm>
            <a:off x="3884613" y="8685213"/>
            <a:ext cx="2971800" cy="458787"/>
          </a:xfrm>
          <a:prstGeom prst="rect">
            <a:avLst/>
          </a:prstGeom>
          <a:noFill/>
          <a:ln w="12700" cap="flat" cmpd="sng">
            <a:noFill/>
            <a:prstDash val="solid"/>
            <a:miter/>
          </a:ln>
        </p:spPr>
        <p:txBody>
          <a:bodyPr vert="horz" wrap="square" lIns="91440" tIns="45720" rIns="91440" bIns="45720" anchor="b"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等线" charset="0"/>
                <a:ea typeface="等线" charset="0"/>
                <a:cs typeface="等线" charset="0"/>
              </a:rPr>
              <a:t>14</a:t>
            </a:fld>
            <a:endParaRPr lang="zh-CN" altLang="en-US" sz="1200">
              <a:latin typeface="等线" charset="0"/>
              <a:ea typeface="等线" charset="0"/>
              <a:cs typeface="等线" charset="0"/>
            </a:endParaRPr>
          </a:p>
        </p:txBody>
      </p:sp>
    </p:spTree>
    <p:extLst>
      <p:ext uri="{BB962C8B-B14F-4D97-AF65-F5344CB8AC3E}">
        <p14:creationId xmlns:p14="http://schemas.microsoft.com/office/powerpoint/2010/main" val="853531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612614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326156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282162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436953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a:t>单击此处编辑母版标题样式</a:t>
            </a:r>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8" name="Text box"/>
          <p:cNvSpPr>
            <a:spLocks noGrp="1"/>
          </p:cNvSpPr>
          <p:nvPr>
            <p:ph type="ftr" sz="quarter" idx="11"/>
          </p:nvPr>
        </p:nvSpPr>
        <p:spPr/>
        <p:txBody>
          <a:bodyPr/>
          <a:lstStyle/>
          <a:p>
            <a:endParaRPr lang="zh-CN" altLang="en-US"/>
          </a:p>
        </p:txBody>
      </p:sp>
      <p:sp>
        <p:nvSpPr>
          <p:cNvPr id="9"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972074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4" name="Text box"/>
          <p:cNvSpPr>
            <a:spLocks noGrp="1"/>
          </p:cNvSpPr>
          <p:nvPr>
            <p:ph type="ftr" sz="quarter" idx="11"/>
          </p:nvPr>
        </p:nvSpPr>
        <p:spPr/>
        <p:txBody>
          <a:bodyPr/>
          <a:lstStyle/>
          <a:p>
            <a:endParaRPr lang="zh-CN" altLang="en-US"/>
          </a:p>
        </p:txBody>
      </p:sp>
      <p:sp>
        <p:nvSpPr>
          <p:cNvPr id="5"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9548592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3" name="Text box"/>
          <p:cNvSpPr>
            <a:spLocks noGrp="1"/>
          </p:cNvSpPr>
          <p:nvPr>
            <p:ph type="ftr" sz="quarter" idx="11"/>
          </p:nvPr>
        </p:nvSpPr>
        <p:spPr/>
        <p:txBody>
          <a:bodyPr/>
          <a:lstStyle/>
          <a:p>
            <a:endParaRPr lang="zh-CN" altLang="en-US"/>
          </a:p>
        </p:txBody>
      </p:sp>
      <p:sp>
        <p:nvSpPr>
          <p:cNvPr id="4"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21450750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732977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6" name="Text box"/>
          <p:cNvSpPr>
            <a:spLocks noGrp="1"/>
          </p:cNvSpPr>
          <p:nvPr>
            <p:ph type="ftr" sz="quarter" idx="11"/>
          </p:nvPr>
        </p:nvSpPr>
        <p:spPr/>
        <p:txBody>
          <a:bodyPr/>
          <a:lstStyle/>
          <a:p>
            <a:endParaRPr lang="zh-CN" altLang="en-US"/>
          </a:p>
        </p:txBody>
      </p:sp>
      <p:sp>
        <p:nvSpPr>
          <p:cNvPr id="7"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189669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7783967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dt" sz="half" idx="10"/>
          </p:nvPr>
        </p:nvSpPr>
        <p:spPr/>
        <p:txBody>
          <a:bodyPr/>
          <a:lstStyle/>
          <a:p>
            <a:fld id="{72514870-5082-4025-BC8A-5E070B8EB77D}" type="datetimeFigureOut">
              <a:rPr lang="zh-CN" altLang="en-US" smtClean="0"/>
              <a:t>2026/6/9</a:t>
            </a:fld>
            <a:endParaRPr lang="zh-CN" altLang="en-US"/>
          </a:p>
        </p:txBody>
      </p:sp>
      <p:sp>
        <p:nvSpPr>
          <p:cNvPr id="5" name="Text box"/>
          <p:cNvSpPr>
            <a:spLocks noGrp="1"/>
          </p:cNvSpPr>
          <p:nvPr>
            <p:ph type="ftr" sz="quarter" idx="11"/>
          </p:nvPr>
        </p:nvSpPr>
        <p:spPr/>
        <p:txBody>
          <a:bodyPr/>
          <a:lstStyle/>
          <a:p>
            <a:endParaRPr lang="zh-CN" altLang="en-US"/>
          </a:p>
        </p:txBody>
      </p:sp>
      <p:sp>
        <p:nvSpPr>
          <p:cNvPr id="6" name="Text box"/>
          <p:cNvSpPr>
            <a:spLocks noGrp="1"/>
          </p:cNvSpPr>
          <p:nvPr>
            <p:ph type="sldNum" sz="quarter" idx="12"/>
          </p:nvPr>
        </p:nvSpPr>
        <p:spPr/>
        <p:txBody>
          <a:bodyPr/>
          <a:lstStyle/>
          <a:p>
            <a:fld id="{3E00D155-3BB6-43CF-9AC4-BC63A66E74A9}" type="slidenum">
              <a:rPr lang="zh-CN" altLang="en-US" smtClean="0"/>
              <a:t>‹#›</a:t>
            </a:fld>
            <a:endParaRPr lang="zh-CN" altLang="en-US"/>
          </a:p>
        </p:txBody>
      </p:sp>
    </p:spTree>
    <p:extLst>
      <p:ext uri="{BB962C8B-B14F-4D97-AF65-F5344CB8AC3E}">
        <p14:creationId xmlns:p14="http://schemas.microsoft.com/office/powerpoint/2010/main" val="1404816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20" name="Oval"/>
          <p:cNvSpPr>
            <a:spLocks/>
          </p:cNvSpPr>
          <p:nvPr/>
        </p:nvSpPr>
        <p:spPr>
          <a:xfrm>
            <a:off x="4749800" y="-4572000"/>
            <a:ext cx="1168398" cy="811213"/>
          </a:xfrm>
          <a:prstGeom prst="ellipse">
            <a:avLst/>
          </a:prstGeom>
          <a:noFill/>
          <a:ln w="12700" cap="flat" cmpd="sng">
            <a:solidFill>
              <a:srgbClr val="FF0000"/>
            </a:solidFill>
            <a:prstDash val="solid"/>
            <a:round/>
          </a:ln>
        </p:spPr>
      </p:sp>
      <p:sp>
        <p:nvSpPr>
          <p:cNvPr id="19" name="Oval"/>
          <p:cNvSpPr>
            <a:spLocks/>
          </p:cNvSpPr>
          <p:nvPr/>
        </p:nvSpPr>
        <p:spPr>
          <a:xfrm>
            <a:off x="4572000" y="9093200"/>
            <a:ext cx="1168399" cy="811212"/>
          </a:xfrm>
          <a:prstGeom prst="ellipse">
            <a:avLst/>
          </a:prstGeom>
          <a:noFill/>
          <a:ln w="12700" cap="flat" cmpd="sng">
            <a:solidFill>
              <a:srgbClr val="FF0000"/>
            </a:solidFill>
            <a:prstDash val="solid"/>
            <a:round/>
          </a:ln>
        </p:spPr>
      </p:sp>
      <p:sp>
        <p:nvSpPr>
          <p:cNvPr id="15" name="Oval"/>
          <p:cNvSpPr>
            <a:spLocks/>
          </p:cNvSpPr>
          <p:nvPr/>
        </p:nvSpPr>
        <p:spPr>
          <a:xfrm>
            <a:off x="4749800" y="-4572000"/>
            <a:ext cx="1168398" cy="811213"/>
          </a:xfrm>
          <a:prstGeom prst="ellipse">
            <a:avLst/>
          </a:prstGeom>
          <a:noFill/>
          <a:ln w="12700" cap="flat" cmpd="sng">
            <a:solidFill>
              <a:srgbClr val="FF0000"/>
            </a:solidFill>
            <a:prstDash val="solid"/>
            <a:round/>
          </a:ln>
        </p:spPr>
      </p:sp>
      <p:sp>
        <p:nvSpPr>
          <p:cNvPr id="16" name="Oval"/>
          <p:cNvSpPr>
            <a:spLocks/>
          </p:cNvSpPr>
          <p:nvPr/>
        </p:nvSpPr>
        <p:spPr>
          <a:xfrm>
            <a:off x="4572000" y="9093200"/>
            <a:ext cx="1168399" cy="811212"/>
          </a:xfrm>
          <a:prstGeom prst="ellipse">
            <a:avLst/>
          </a:prstGeom>
          <a:noFill/>
          <a:ln w="12700" cap="flat" cmpd="sng">
            <a:solidFill>
              <a:srgbClr val="FF0000"/>
            </a:solidFill>
            <a:prstDash val="solid"/>
            <a:round/>
          </a:ln>
        </p:spPr>
      </p:sp>
      <p:sp>
        <p:nvSpPr>
          <p:cNvPr id="17" name="五边形"/>
          <p:cNvSpPr>
            <a:spLocks/>
          </p:cNvSpPr>
          <p:nvPr/>
        </p:nvSpPr>
        <p:spPr>
          <a:xfrm rot="5400000">
            <a:off x="-1070579" y="2025798"/>
            <a:ext cx="6858002" cy="2806406"/>
          </a:xfrm>
          <a:prstGeom prst="homePlate">
            <a:avLst>
              <a:gd name="adj" fmla="val 32221"/>
            </a:avLst>
          </a:prstGeom>
          <a:solidFill>
            <a:schemeClr val="accent1"/>
          </a:solidFill>
          <a:ln w="12700" cap="flat" cmpd="sng">
            <a:noFill/>
            <a:prstDash val="solid"/>
            <a:round/>
          </a:ln>
        </p:spPr>
      </p:sp>
      <p:pic>
        <p:nvPicPr>
          <p:cNvPr id="18" name="Images"/>
          <p:cNvPicPr>
            <a:picLocks/>
          </p:cNvPicPr>
          <p:nvPr/>
        </p:nvPicPr>
        <p:blipFill>
          <a:blip r:embed="rId2" cstate="print"/>
          <a:stretch>
            <a:fillRect/>
          </a:stretch>
        </p:blipFill>
        <p:spPr>
          <a:xfrm>
            <a:off x="1193142" y="2263721"/>
            <a:ext cx="2330560" cy="2330560"/>
          </a:xfrm>
          <a:prstGeom prst="rect">
            <a:avLst/>
          </a:prstGeom>
          <a:noFill/>
          <a:ln w="12700" cap="flat" cmpd="sng">
            <a:noFill/>
            <a:prstDash val="solid"/>
            <a:miter/>
          </a:ln>
        </p:spPr>
      </p:pic>
    </p:spTree>
    <p:extLst>
      <p:ext uri="{BB962C8B-B14F-4D97-AF65-F5344CB8AC3E}">
        <p14:creationId xmlns:p14="http://schemas.microsoft.com/office/powerpoint/2010/main" val="1405932088"/>
      </p:ext>
    </p:extLst>
  </p:cSld>
  <p:clrMapOvr>
    <a:masterClrMapping/>
  </p:clrMapOvr>
  <p:hf sldNum="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37" name="Oval"/>
          <p:cNvSpPr>
            <a:spLocks/>
          </p:cNvSpPr>
          <p:nvPr/>
        </p:nvSpPr>
        <p:spPr>
          <a:xfrm>
            <a:off x="4749800" y="-4572000"/>
            <a:ext cx="1168398" cy="811213"/>
          </a:xfrm>
          <a:prstGeom prst="ellipse">
            <a:avLst/>
          </a:prstGeom>
          <a:noFill/>
          <a:ln w="12700" cap="flat" cmpd="sng">
            <a:solidFill>
              <a:srgbClr val="FF0000"/>
            </a:solidFill>
            <a:prstDash val="solid"/>
            <a:round/>
          </a:ln>
        </p:spPr>
      </p:sp>
      <p:sp>
        <p:nvSpPr>
          <p:cNvPr id="36" name="Oval"/>
          <p:cNvSpPr>
            <a:spLocks/>
          </p:cNvSpPr>
          <p:nvPr/>
        </p:nvSpPr>
        <p:spPr>
          <a:xfrm>
            <a:off x="4572000" y="9093200"/>
            <a:ext cx="1168399" cy="811212"/>
          </a:xfrm>
          <a:prstGeom prst="ellipse">
            <a:avLst/>
          </a:prstGeom>
          <a:noFill/>
          <a:ln w="12700" cap="flat" cmpd="sng">
            <a:solidFill>
              <a:srgbClr val="FF0000"/>
            </a:solidFill>
            <a:prstDash val="solid"/>
            <a:round/>
          </a:ln>
        </p:spPr>
      </p:sp>
      <p:sp>
        <p:nvSpPr>
          <p:cNvPr id="28" name="Oval"/>
          <p:cNvSpPr>
            <a:spLocks/>
          </p:cNvSpPr>
          <p:nvPr/>
        </p:nvSpPr>
        <p:spPr>
          <a:xfrm>
            <a:off x="4749800" y="-4572000"/>
            <a:ext cx="1168398" cy="811213"/>
          </a:xfrm>
          <a:prstGeom prst="ellipse">
            <a:avLst/>
          </a:prstGeom>
          <a:noFill/>
          <a:ln w="12700" cap="flat" cmpd="sng">
            <a:solidFill>
              <a:srgbClr val="FF0000"/>
            </a:solidFill>
            <a:prstDash val="solid"/>
            <a:round/>
          </a:ln>
        </p:spPr>
      </p:sp>
      <p:sp>
        <p:nvSpPr>
          <p:cNvPr id="29" name="Oval"/>
          <p:cNvSpPr>
            <a:spLocks/>
          </p:cNvSpPr>
          <p:nvPr/>
        </p:nvSpPr>
        <p:spPr>
          <a:xfrm>
            <a:off x="4572000" y="9093200"/>
            <a:ext cx="1168399" cy="811212"/>
          </a:xfrm>
          <a:prstGeom prst="ellipse">
            <a:avLst/>
          </a:prstGeom>
          <a:noFill/>
          <a:ln w="12700" cap="flat" cmpd="sng">
            <a:solidFill>
              <a:srgbClr val="FF0000"/>
            </a:solidFill>
            <a:prstDash val="solid"/>
            <a:round/>
          </a:ln>
        </p:spPr>
      </p:sp>
      <p:sp>
        <p:nvSpPr>
          <p:cNvPr id="30" name="Straight line"/>
          <p:cNvSpPr>
            <a:spLocks/>
          </p:cNvSpPr>
          <p:nvPr/>
        </p:nvSpPr>
        <p:spPr>
          <a:xfrm>
            <a:off x="660400" y="6238240"/>
            <a:ext cx="10858500" cy="0"/>
          </a:xfrm>
          <a:prstGeom prst="line">
            <a:avLst/>
          </a:prstGeom>
          <a:noFill/>
          <a:ln w="3175" cap="rnd" cmpd="sng">
            <a:solidFill>
              <a:srgbClr val="BFBFBF">
                <a:alpha val="47000"/>
              </a:srgbClr>
            </a:solidFill>
            <a:prstDash val="solid"/>
            <a:round/>
          </a:ln>
        </p:spPr>
      </p:sp>
      <p:sp>
        <p:nvSpPr>
          <p:cNvPr id="31" name="Text box"/>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rPr>
              <a:t>‹#›</a:t>
            </a:fld>
            <a:endParaRPr lang="zh-CN" altLang="en-US" sz="1200">
              <a:solidFill>
                <a:schemeClr val="tx1"/>
              </a:solidFill>
              <a:latin typeface="Microsoft YaHei" charset="0"/>
              <a:ea typeface="Microsoft YaHei" charset="0"/>
              <a:cs typeface="Microsoft YaHei" charset="0"/>
            </a:endParaRPr>
          </a:p>
        </p:txBody>
      </p:sp>
      <p:sp>
        <p:nvSpPr>
          <p:cNvPr id="32" name="曲线"/>
          <p:cNvSpPr>
            <a:spLocks/>
          </p:cNvSpPr>
          <p:nvPr/>
        </p:nvSpPr>
        <p:spPr>
          <a:xfrm rot="5400000">
            <a:off x="93484" y="218081"/>
            <a:ext cx="1133343" cy="494119"/>
          </a:xfrm>
          <a:custGeom>
            <a:avLst/>
            <a:gdLst>
              <a:gd name="T1" fmla="*/ 0 w 21600"/>
              <a:gd name="T2" fmla="*/ 0 h 21600"/>
              <a:gd name="T3" fmla="*/ 21600 w 21600"/>
              <a:gd name="T4" fmla="*/ 21600 h 21600"/>
            </a:gdLst>
            <a:ahLst/>
            <a:cxnLst/>
            <a:rect l="T1" t="T2" r="T3" b="T4"/>
            <a:pathLst>
              <a:path w="21600" h="21600">
                <a:moveTo>
                  <a:pt x="0" y="0"/>
                </a:moveTo>
                <a:lnTo>
                  <a:pt x="17749" y="0"/>
                </a:lnTo>
                <a:lnTo>
                  <a:pt x="21600" y="10799"/>
                </a:lnTo>
                <a:lnTo>
                  <a:pt x="17749" y="21599"/>
                </a:lnTo>
                <a:lnTo>
                  <a:pt x="17749" y="21600"/>
                </a:lnTo>
                <a:lnTo>
                  <a:pt x="0" y="21600"/>
                </a:lnTo>
                <a:close/>
              </a:path>
            </a:pathLst>
          </a:custGeom>
          <a:solidFill>
            <a:schemeClr val="accent1"/>
          </a:solidFill>
          <a:ln cap="flat" cmpd="sng">
            <a:noFill/>
            <a:prstDash val="solid"/>
            <a:round/>
          </a:ln>
        </p:spPr>
      </p:sp>
      <p:sp>
        <p:nvSpPr>
          <p:cNvPr id="33"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r>
              <a:rPr lang="zh-CN" altLang="en-US" sz="3600">
                <a:solidFill>
                  <a:schemeClr val="accent1"/>
                </a:solidFill>
              </a:rPr>
              <a:t>单击此处编辑母版标题样式</a:t>
            </a:r>
          </a:p>
        </p:txBody>
      </p:sp>
      <p:pic>
        <p:nvPicPr>
          <p:cNvPr id="34" name="Images"/>
          <p:cNvPicPr>
            <a:picLocks/>
          </p:cNvPicPr>
          <p:nvPr/>
        </p:nvPicPr>
        <p:blipFill>
          <a:blip r:embed="rId2" cstate="print"/>
          <a:stretch>
            <a:fillRect/>
          </a:stretch>
        </p:blipFill>
        <p:spPr>
          <a:xfrm>
            <a:off x="744128" y="6420491"/>
            <a:ext cx="958361" cy="236837"/>
          </a:xfrm>
          <a:prstGeom prst="rect">
            <a:avLst/>
          </a:prstGeom>
          <a:noFill/>
          <a:ln w="12700" cap="flat" cmpd="sng">
            <a:noFill/>
            <a:prstDash val="solid"/>
            <a:miter/>
          </a:ln>
        </p:spPr>
      </p:pic>
      <p:pic>
        <p:nvPicPr>
          <p:cNvPr id="35" name="Images"/>
          <p:cNvPicPr>
            <a:picLocks/>
          </p:cNvPicPr>
          <p:nvPr/>
        </p:nvPicPr>
        <p:blipFill>
          <a:blip r:embed="rId3" cstate="print"/>
          <a:stretch>
            <a:fillRect/>
          </a:stretch>
        </p:blipFill>
        <p:spPr>
          <a:xfrm>
            <a:off x="9966201" y="381027"/>
            <a:ext cx="1552699" cy="494974"/>
          </a:xfrm>
          <a:prstGeom prst="rect">
            <a:avLst/>
          </a:prstGeom>
          <a:noFill/>
          <a:ln w="12700" cap="flat" cmpd="sng">
            <a:noFill/>
            <a:prstDash val="solid"/>
            <a:miter/>
          </a:ln>
        </p:spPr>
      </p:pic>
    </p:spTree>
    <p:extLst>
      <p:ext uri="{BB962C8B-B14F-4D97-AF65-F5344CB8AC3E}">
        <p14:creationId xmlns:p14="http://schemas.microsoft.com/office/powerpoint/2010/main" val="985987168"/>
      </p:ext>
    </p:extLst>
  </p:cSld>
  <p:clrMapOvr>
    <a:masterClrMapping/>
  </p:clrMapOvr>
  <p:hf sldNum="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56" name="Oval"/>
          <p:cNvSpPr>
            <a:spLocks/>
          </p:cNvSpPr>
          <p:nvPr/>
        </p:nvSpPr>
        <p:spPr>
          <a:xfrm>
            <a:off x="4749800" y="-4572000"/>
            <a:ext cx="1168398" cy="811213"/>
          </a:xfrm>
          <a:prstGeom prst="ellipse">
            <a:avLst/>
          </a:prstGeom>
          <a:noFill/>
          <a:ln w="12700" cap="flat" cmpd="sng">
            <a:solidFill>
              <a:srgbClr val="FF0000"/>
            </a:solidFill>
            <a:prstDash val="solid"/>
            <a:round/>
          </a:ln>
        </p:spPr>
      </p:sp>
      <p:sp>
        <p:nvSpPr>
          <p:cNvPr id="55" name="Oval"/>
          <p:cNvSpPr>
            <a:spLocks/>
          </p:cNvSpPr>
          <p:nvPr/>
        </p:nvSpPr>
        <p:spPr>
          <a:xfrm>
            <a:off x="4572000" y="9093200"/>
            <a:ext cx="1168399" cy="811212"/>
          </a:xfrm>
          <a:prstGeom prst="ellipse">
            <a:avLst/>
          </a:prstGeom>
          <a:noFill/>
          <a:ln w="12700" cap="flat" cmpd="sng">
            <a:solidFill>
              <a:srgbClr val="FF0000"/>
            </a:solidFill>
            <a:prstDash val="solid"/>
            <a:round/>
          </a:ln>
        </p:spPr>
      </p:sp>
      <p:sp>
        <p:nvSpPr>
          <p:cNvPr id="47" name="Oval"/>
          <p:cNvSpPr>
            <a:spLocks/>
          </p:cNvSpPr>
          <p:nvPr/>
        </p:nvSpPr>
        <p:spPr>
          <a:xfrm>
            <a:off x="4749800" y="-4572000"/>
            <a:ext cx="1168398" cy="811213"/>
          </a:xfrm>
          <a:prstGeom prst="ellipse">
            <a:avLst/>
          </a:prstGeom>
          <a:noFill/>
          <a:ln w="12700" cap="flat" cmpd="sng">
            <a:solidFill>
              <a:srgbClr val="FF0000"/>
            </a:solidFill>
            <a:prstDash val="solid"/>
            <a:round/>
          </a:ln>
        </p:spPr>
      </p:sp>
      <p:sp>
        <p:nvSpPr>
          <p:cNvPr id="48" name="Oval"/>
          <p:cNvSpPr>
            <a:spLocks/>
          </p:cNvSpPr>
          <p:nvPr/>
        </p:nvSpPr>
        <p:spPr>
          <a:xfrm>
            <a:off x="4572000" y="9093200"/>
            <a:ext cx="1168399" cy="811212"/>
          </a:xfrm>
          <a:prstGeom prst="ellipse">
            <a:avLst/>
          </a:prstGeom>
          <a:noFill/>
          <a:ln w="12700" cap="flat" cmpd="sng">
            <a:solidFill>
              <a:srgbClr val="FF0000"/>
            </a:solidFill>
            <a:prstDash val="solid"/>
            <a:round/>
          </a:ln>
        </p:spPr>
      </p:sp>
      <p:sp>
        <p:nvSpPr>
          <p:cNvPr id="49" name="Straight line"/>
          <p:cNvSpPr>
            <a:spLocks/>
          </p:cNvSpPr>
          <p:nvPr/>
        </p:nvSpPr>
        <p:spPr>
          <a:xfrm>
            <a:off x="660400" y="6238240"/>
            <a:ext cx="10858500" cy="0"/>
          </a:xfrm>
          <a:prstGeom prst="line">
            <a:avLst/>
          </a:prstGeom>
          <a:noFill/>
          <a:ln w="3175" cap="rnd" cmpd="sng">
            <a:solidFill>
              <a:srgbClr val="BFBFBF">
                <a:alpha val="47000"/>
              </a:srgbClr>
            </a:solidFill>
            <a:prstDash val="solid"/>
            <a:round/>
          </a:ln>
        </p:spPr>
      </p:sp>
      <p:sp>
        <p:nvSpPr>
          <p:cNvPr id="50" name="曲线"/>
          <p:cNvSpPr>
            <a:spLocks/>
          </p:cNvSpPr>
          <p:nvPr/>
        </p:nvSpPr>
        <p:spPr>
          <a:xfrm rot="5400000">
            <a:off x="93484" y="218081"/>
            <a:ext cx="1133343" cy="494119"/>
          </a:xfrm>
          <a:custGeom>
            <a:avLst/>
            <a:gdLst>
              <a:gd name="T1" fmla="*/ 0 w 21600"/>
              <a:gd name="T2" fmla="*/ 0 h 21600"/>
              <a:gd name="T3" fmla="*/ 21600 w 21600"/>
              <a:gd name="T4" fmla="*/ 21600 h 21600"/>
            </a:gdLst>
            <a:ahLst/>
            <a:cxnLst/>
            <a:rect l="T1" t="T2" r="T3" b="T4"/>
            <a:pathLst>
              <a:path w="21600" h="21600">
                <a:moveTo>
                  <a:pt x="0" y="0"/>
                </a:moveTo>
                <a:lnTo>
                  <a:pt x="17749" y="0"/>
                </a:lnTo>
                <a:lnTo>
                  <a:pt x="21600" y="10799"/>
                </a:lnTo>
                <a:lnTo>
                  <a:pt x="17749" y="21599"/>
                </a:lnTo>
                <a:lnTo>
                  <a:pt x="17749" y="21600"/>
                </a:lnTo>
                <a:lnTo>
                  <a:pt x="0" y="21600"/>
                </a:lnTo>
                <a:close/>
              </a:path>
            </a:pathLst>
          </a:custGeom>
          <a:solidFill>
            <a:schemeClr val="accent1"/>
          </a:solidFill>
          <a:ln cap="flat" cmpd="sng">
            <a:noFill/>
            <a:prstDash val="solid"/>
            <a:round/>
          </a:ln>
        </p:spPr>
      </p:sp>
      <p:sp>
        <p:nvSpPr>
          <p:cNvPr id="51" name="Text box"/>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rPr>
              <a:t>‹#›</a:t>
            </a:fld>
            <a:endParaRPr lang="zh-CN" altLang="en-US" sz="1200">
              <a:solidFill>
                <a:schemeClr val="tx1"/>
              </a:solidFill>
              <a:latin typeface="Microsoft YaHei" charset="0"/>
              <a:ea typeface="Microsoft YaHei" charset="0"/>
              <a:cs typeface="Microsoft YaHei" charset="0"/>
            </a:endParaRPr>
          </a:p>
        </p:txBody>
      </p:sp>
      <p:pic>
        <p:nvPicPr>
          <p:cNvPr id="52" name="Images"/>
          <p:cNvPicPr>
            <a:picLocks/>
          </p:cNvPicPr>
          <p:nvPr/>
        </p:nvPicPr>
        <p:blipFill>
          <a:blip r:embed="rId2" cstate="print"/>
          <a:stretch>
            <a:fillRect/>
          </a:stretch>
        </p:blipFill>
        <p:spPr>
          <a:xfrm>
            <a:off x="744128" y="6420491"/>
            <a:ext cx="958361" cy="236837"/>
          </a:xfrm>
          <a:prstGeom prst="rect">
            <a:avLst/>
          </a:prstGeom>
          <a:noFill/>
          <a:ln w="12700" cap="flat" cmpd="sng">
            <a:noFill/>
            <a:prstDash val="solid"/>
            <a:miter/>
          </a:ln>
        </p:spPr>
      </p:pic>
      <p:pic>
        <p:nvPicPr>
          <p:cNvPr id="53" name="Images"/>
          <p:cNvPicPr>
            <a:picLocks/>
          </p:cNvPicPr>
          <p:nvPr/>
        </p:nvPicPr>
        <p:blipFill>
          <a:blip r:embed="rId3" cstate="print"/>
          <a:stretch>
            <a:fillRect/>
          </a:stretch>
        </p:blipFill>
        <p:spPr>
          <a:xfrm>
            <a:off x="9966201" y="381027"/>
            <a:ext cx="1552699" cy="494974"/>
          </a:xfrm>
          <a:prstGeom prst="rect">
            <a:avLst/>
          </a:prstGeom>
          <a:noFill/>
          <a:ln w="12700" cap="flat" cmpd="sng">
            <a:noFill/>
            <a:prstDash val="solid"/>
            <a:miter/>
          </a:ln>
        </p:spPr>
      </p:pic>
      <p:sp>
        <p:nvSpPr>
          <p:cNvPr id="54"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r>
              <a:rPr lang="zh-CN" altLang="en-US" sz="3600">
                <a:solidFill>
                  <a:schemeClr val="accent1"/>
                </a:solidFill>
              </a:rPr>
              <a:t>单击此处编辑母版标题样式</a:t>
            </a:r>
          </a:p>
        </p:txBody>
      </p:sp>
    </p:spTree>
    <p:extLst>
      <p:ext uri="{BB962C8B-B14F-4D97-AF65-F5344CB8AC3E}">
        <p14:creationId xmlns:p14="http://schemas.microsoft.com/office/powerpoint/2010/main" val="134212530"/>
      </p:ext>
    </p:extLst>
  </p:cSld>
  <p:clrMapOvr>
    <a:masterClrMapping/>
  </p:clrMapOvr>
  <p:hf sldNum="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ext box"/>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Text box"/>
          <p:cNvSpPr>
            <a:spLocks noGrp="1"/>
          </p:cNvSpPr>
          <p:nvPr>
            <p:ph type="subTitle" idx="1"/>
          </p:nvPr>
        </p:nvSpPr>
        <p:spPr>
          <a:xfrm>
            <a:off x="1828800" y="3886199"/>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Tree>
    <p:extLst>
      <p:ext uri="{BB962C8B-B14F-4D97-AF65-F5344CB8AC3E}">
        <p14:creationId xmlns:p14="http://schemas.microsoft.com/office/powerpoint/2010/main" val="6246260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8184011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ext box"/>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Text box"/>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9262780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3728344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lvl1pPr>
              <a:defRPr/>
            </a:lvl1pPr>
          </a:lstStyle>
          <a:p>
            <a:r>
              <a:rPr lang="zh-CN" altLang="en-US"/>
              <a:t>单击此处编辑母版标题样式</a:t>
            </a:r>
          </a:p>
        </p:txBody>
      </p:sp>
      <p:sp>
        <p:nvSpPr>
          <p:cNvPr id="3" name="Text box"/>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Text box"/>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Text box"/>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Text box"/>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665098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8399511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30611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ext box"/>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Text box"/>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Text box"/>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81942224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ext box"/>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Text box"/>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Text box"/>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0786768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Text box"/>
          <p:cNvSpPr>
            <a:spLocks noGrp="1"/>
          </p:cNvSpPr>
          <p:nvPr>
            <p:ph type="title"/>
          </p:nvPr>
        </p:nvSpPr>
        <p:spPr/>
        <p:txBody>
          <a:bodyPr/>
          <a:lstStyle/>
          <a:p>
            <a:r>
              <a:rPr lang="zh-CN" altLang="en-US"/>
              <a:t>单击此处编辑母版标题样式</a:t>
            </a:r>
          </a:p>
        </p:txBody>
      </p:sp>
      <p:sp>
        <p:nvSpPr>
          <p:cNvPr id="3" name="Text box"/>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6624811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Text box"/>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Text box"/>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53151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 box"/>
          <p:cNvSpPr>
            <a:spLocks noGrp="1"/>
          </p:cNvSpPr>
          <p:nvPr>
            <p:ph type="title"/>
          </p:nvPr>
        </p:nvSpPr>
        <p:spPr>
          <a:xfrm>
            <a:off x="660400" y="217487"/>
            <a:ext cx="10858500" cy="811211"/>
          </a:xfrm>
          <a:prstGeom prst="rect">
            <a:avLst/>
          </a:prstGeom>
          <a:noFill/>
          <a:ln w="12700" cap="flat" cmpd="sng">
            <a:noFill/>
            <a:prstDash val="solid"/>
            <a:miter/>
          </a:ln>
        </p:spPr>
        <p:txBody>
          <a:bodyPr vert="horz" wrap="square" lIns="0" tIns="0" rIns="0" bIns="0" anchor="ctr" anchorCtr="0">
            <a:prstTxWarp prst="textNoShape">
              <a:avLst/>
            </a:prstTxWarp>
          </a:bodyPr>
          <a:lstStyle/>
          <a:p>
            <a:r>
              <a:rPr lang="zh-CN" altLang="en-US"/>
              <a:t>单击此处编辑母版标题样式</a:t>
            </a:r>
          </a:p>
        </p:txBody>
      </p:sp>
      <p:sp>
        <p:nvSpPr>
          <p:cNvPr id="3" name="Text box"/>
          <p:cNvSpPr>
            <a:spLocks noGrp="1"/>
          </p:cNvSpPr>
          <p:nvPr>
            <p:ph type="body" idx="1"/>
          </p:nvPr>
        </p:nvSpPr>
        <p:spPr>
          <a:xfrm>
            <a:off x="660400" y="1130300"/>
            <a:ext cx="10858500" cy="5003799"/>
          </a:xfrm>
          <a:prstGeom prst="rect">
            <a:avLst/>
          </a:prstGeom>
          <a:noFill/>
          <a:ln w="12700" cap="flat" cmpd="sng">
            <a:noFill/>
            <a:prstDash val="solid"/>
            <a:miter/>
          </a:ln>
        </p:spPr>
        <p:txBody>
          <a:bodyPr vert="horz" wrap="square" lIns="91440" tIns="45720" rIns="91440" bIns="45720" anchor="t" anchorCtr="0">
            <a:prstTxWarp prst="textNoShape">
              <a:avLst/>
            </a:prstTxWarp>
          </a:bodyPr>
          <a:lstStyle/>
          <a:p>
            <a:r>
              <a:rPr lang="zh-CN" altLang="en-US"/>
              <a:t>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p>
        </p:txBody>
      </p:sp>
      <p:sp>
        <p:nvSpPr>
          <p:cNvPr id="4" name="Text box"/>
          <p:cNvSpPr>
            <a:spLocks noGrp="1"/>
          </p:cNvSpPr>
          <p:nvPr>
            <p:ph type="dt" idx="2"/>
          </p:nvPr>
        </p:nvSpPr>
        <p:spPr>
          <a:xfrm>
            <a:off x="660400"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l"/>
            <a:r>
              <a:rPr lang="en-US" altLang="zh-CN" sz="1200">
                <a:solidFill>
                  <a:srgbClr val="898989"/>
                </a:solidFill>
                <a:latin typeface="Microsoft YaHei" charset="0"/>
                <a:ea typeface="Microsoft YaHei" charset="0"/>
                <a:cs typeface="Microsoft YaHei" charset="0"/>
              </a:rPr>
              <a:t>Date/Time</a:t>
            </a:r>
            <a:endParaRPr lang="zh-CN" altLang="en-US" sz="1200">
              <a:solidFill>
                <a:srgbClr val="898989"/>
              </a:solidFill>
              <a:latin typeface="Microsoft YaHei" charset="0"/>
              <a:ea typeface="Microsoft YaHei" charset="0"/>
              <a:cs typeface="Microsoft YaHei" charset="0"/>
            </a:endParaRPr>
          </a:p>
        </p:txBody>
      </p:sp>
      <p:sp>
        <p:nvSpPr>
          <p:cNvPr id="5" name="Text box"/>
          <p:cNvSpPr>
            <a:spLocks noGrp="1"/>
          </p:cNvSpPr>
          <p:nvPr>
            <p:ph type="ftr" idx="3"/>
          </p:nvPr>
        </p:nvSpPr>
        <p:spPr>
          <a:xfrm>
            <a:off x="4038600" y="6356349"/>
            <a:ext cx="41148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ctr"/>
            <a:endParaRPr lang="zh-CN" altLang="en-US" sz="1200">
              <a:solidFill>
                <a:srgbClr val="898989"/>
              </a:solidFill>
              <a:latin typeface="Microsoft YaHei" charset="0"/>
              <a:ea typeface="Microsoft YaHei" charset="0"/>
              <a:cs typeface="Microsoft YaHei" charset="0"/>
            </a:endParaRPr>
          </a:p>
        </p:txBody>
      </p:sp>
      <p:sp>
        <p:nvSpPr>
          <p:cNvPr id="6" name="Text box"/>
          <p:cNvSpPr>
            <a:spLocks noGrp="1"/>
          </p:cNvSpPr>
          <p:nvPr>
            <p:ph type="sldNum" idx="4"/>
          </p:nvPr>
        </p:nvSpPr>
        <p:spPr>
          <a:xfrm>
            <a:off x="8775700"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algn="r"/>
            <a:fld id="{CAD2D6BD-DE1B-4B5F-8B41-2702339687B9}" type="slidenum">
              <a:rPr lang="en-US" altLang="zh-CN" sz="1200" b="0" i="0" u="none" strike="noStrike" kern="1200" cap="none" spc="0" baseline="0">
                <a:solidFill>
                  <a:srgbClr val="898989"/>
                </a:solidFill>
                <a:latin typeface="Microsoft YaHei" charset="0"/>
                <a:ea typeface="Microsoft YaHei" charset="0"/>
                <a:cs typeface="Microsoft YaHei" charset="0"/>
              </a:rPr>
              <a:t>‹#›</a:t>
            </a:fld>
            <a:endParaRPr lang="zh-CN" altLang="en-US" sz="1200">
              <a:solidFill>
                <a:srgbClr val="898989"/>
              </a:solidFill>
              <a:latin typeface="Microsoft YaHei" charset="0"/>
              <a:ea typeface="Microsoft YaHei" charset="0"/>
              <a:cs typeface="Microsoft YaHei" charset="0"/>
            </a:endParaRPr>
          </a:p>
        </p:txBody>
      </p:sp>
      <p:sp>
        <p:nvSpPr>
          <p:cNvPr id="7" name="Oval"/>
          <p:cNvSpPr>
            <a:spLocks/>
          </p:cNvSpPr>
          <p:nvPr/>
        </p:nvSpPr>
        <p:spPr>
          <a:xfrm>
            <a:off x="4749800" y="-4572000"/>
            <a:ext cx="1168398" cy="811213"/>
          </a:xfrm>
          <a:prstGeom prst="ellipse">
            <a:avLst/>
          </a:prstGeom>
          <a:noFill/>
          <a:ln w="12700" cap="flat" cmpd="sng">
            <a:solidFill>
              <a:srgbClr val="FF0000"/>
            </a:solidFill>
            <a:prstDash val="solid"/>
            <a:round/>
          </a:ln>
        </p:spPr>
      </p:sp>
      <p:sp>
        <p:nvSpPr>
          <p:cNvPr id="8" name="Oval"/>
          <p:cNvSpPr>
            <a:spLocks/>
          </p:cNvSpPr>
          <p:nvPr/>
        </p:nvSpPr>
        <p:spPr>
          <a:xfrm>
            <a:off x="4572000" y="9093200"/>
            <a:ext cx="1168399" cy="811212"/>
          </a:xfrm>
          <a:prstGeom prst="ellipse">
            <a:avLst/>
          </a:prstGeom>
          <a:noFill/>
          <a:ln w="12700" cap="flat" cmpd="sng">
            <a:solidFill>
              <a:srgbClr val="FF0000"/>
            </a:solidFill>
            <a:prstDash val="solid"/>
            <a:round/>
          </a:ln>
        </p:spPr>
      </p:sp>
    </p:spTree>
    <p:extLst>
      <p:ext uri="{BB962C8B-B14F-4D97-AF65-F5344CB8AC3E}">
        <p14:creationId xmlns:p14="http://schemas.microsoft.com/office/powerpoint/2010/main" val="1553040730"/>
      </p:ext>
    </p:extLst>
  </p:cSld>
  <p:clrMap bg1="lt1" tx1="dk1" bg2="lt2" tx2="dk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lvl1pPr algn="l" defTabSz="914400" eaLnBrk="0" fontAlgn="auto" latinLnBrk="0" hangingPunct="0">
        <a:lnSpc>
          <a:spcPct val="90000"/>
        </a:lnSpc>
        <a:spcBef>
          <a:spcPct val="0"/>
        </a:spcBef>
        <a:buNone/>
        <a:defRPr sz="3200" kern="1200">
          <a:solidFill>
            <a:schemeClr val="tx1"/>
          </a:solidFill>
          <a:latin typeface="微软雅黑" pitchFamily="34" charset="-122"/>
          <a:ea typeface="微软雅黑" pitchFamily="34" charset="-122"/>
          <a:cs typeface="Microsoft YaHei" charset="0"/>
        </a:defRPr>
      </a:lvl1pPr>
    </p:titleStyle>
    <p:bodyStyle>
      <a:lvl1pPr marL="228600" indent="-228600" algn="l" defTabSz="914400" eaLnBrk="0" fontAlgn="auto" latinLnBrk="0" hangingPunct="0">
        <a:lnSpc>
          <a:spcPct val="90000"/>
        </a:lnSpc>
        <a:spcBef>
          <a:spcPts val="1000"/>
        </a:spcBef>
        <a:buFont typeface="Arial" pitchFamily="34" charset="0"/>
        <a:buChar char="•"/>
        <a:defRPr sz="2800" kern="1200">
          <a:solidFill>
            <a:schemeClr val="tx1"/>
          </a:solidFill>
          <a:latin typeface="Microsoft YaHei" charset="0"/>
          <a:ea typeface="Microsoft YaHei" charset="0"/>
          <a:cs typeface="Microsoft YaHei" charset="0"/>
        </a:defRPr>
      </a:lvl1pPr>
      <a:lvl2pPr marL="685800" indent="-228600" algn="l" defTabSz="914400" eaLnBrk="0" fontAlgn="auto" latinLnBrk="0" hangingPunct="0">
        <a:lnSpc>
          <a:spcPct val="90000"/>
        </a:lnSpc>
        <a:spcBef>
          <a:spcPts val="500"/>
        </a:spcBef>
        <a:buFont typeface="Arial" pitchFamily="34" charset="0"/>
        <a:buChar char="•"/>
        <a:defRPr sz="2400" kern="1200">
          <a:solidFill>
            <a:schemeClr val="tx1"/>
          </a:solidFill>
          <a:latin typeface="Microsoft YaHei" charset="0"/>
          <a:ea typeface="Microsoft YaHei" charset="0"/>
          <a:cs typeface="Microsoft YaHei" charset="0"/>
        </a:defRPr>
      </a:lvl2pPr>
      <a:lvl3pPr marL="1143000" indent="-228600" algn="l" defTabSz="914400" eaLnBrk="0" fontAlgn="auto" latinLnBrk="0" hangingPunct="0">
        <a:lnSpc>
          <a:spcPct val="90000"/>
        </a:lnSpc>
        <a:spcBef>
          <a:spcPts val="500"/>
        </a:spcBef>
        <a:buFont typeface="Arial" pitchFamily="34" charset="0"/>
        <a:buChar char="•"/>
        <a:defRPr sz="2000" kern="1200">
          <a:solidFill>
            <a:schemeClr val="tx1"/>
          </a:solidFill>
          <a:latin typeface="Microsoft YaHei" charset="0"/>
          <a:ea typeface="Microsoft YaHei" charset="0"/>
          <a:cs typeface="Microsoft YaHei" charset="0"/>
        </a:defRPr>
      </a:lvl3pPr>
      <a:lvl4pPr marL="16002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Microsoft YaHei" charset="0"/>
          <a:ea typeface="Microsoft YaHei" charset="0"/>
          <a:cs typeface="Microsoft YaHei" charset="0"/>
        </a:defRPr>
      </a:lvl4pPr>
      <a:lvl5pPr marL="20574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Microsoft YaHei" charset="0"/>
          <a:ea typeface="Microsoft YaHei" charset="0"/>
          <a:cs typeface="Microsoft YaHei" charset="0"/>
        </a:defRPr>
      </a:lvl5pPr>
      <a:lvl6pPr marL="25146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Microsoft YaHei" charset="0"/>
          <a:ea typeface="Microsoft YaHei" charset="0"/>
          <a:cs typeface="Microsoft YaHei" charset="0"/>
        </a:defRPr>
      </a:lvl6pPr>
      <a:lvl7pPr marL="29718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Microsoft YaHei" charset="0"/>
          <a:ea typeface="Microsoft YaHei" charset="0"/>
          <a:cs typeface="Microsoft YaHei" charset="0"/>
        </a:defRPr>
      </a:lvl7pPr>
      <a:lvl8pPr marL="34290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Microsoft YaHei" charset="0"/>
          <a:ea typeface="Microsoft YaHei" charset="0"/>
          <a:cs typeface="Microsoft YaHei" charset="0"/>
        </a:defRPr>
      </a:lvl8pPr>
      <a:lvl9pPr marL="34290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Microsoft YaHei" charset="0"/>
          <a:ea typeface="Microsoft YaHei" charset="0"/>
          <a:cs typeface="Microsoft YaHei"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22591"/>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l" defTabSz="914400" eaLnBrk="0" fontAlgn="auto" latinLnBrk="0" hangingPunct="0">
        <a:lnSpc>
          <a:spcPct val="90000"/>
        </a:lnSpc>
        <a:spcBef>
          <a:spcPct val="0"/>
        </a:spcBef>
        <a:buNone/>
        <a:defRPr sz="4400" kern="1200">
          <a:solidFill>
            <a:schemeClr val="tx1"/>
          </a:solidFill>
          <a:latin typeface="Century Gothic" charset="0"/>
          <a:ea typeface="宋体" charset="0"/>
          <a:cs typeface="Century Gothic" charset="0"/>
        </a:defRPr>
      </a:lvl1pPr>
    </p:titleStyle>
    <p:bodyStyle>
      <a:lvl1pPr marL="228600" indent="-228600" algn="l" defTabSz="914400" eaLnBrk="0" fontAlgn="auto" latinLnBrk="0" hangingPunct="0">
        <a:lnSpc>
          <a:spcPct val="90000"/>
        </a:lnSpc>
        <a:spcBef>
          <a:spcPts val="1000"/>
        </a:spcBef>
        <a:buFont typeface="Arial" pitchFamily="34" charset="0"/>
        <a:buChar char="•"/>
        <a:defRPr sz="2800" kern="1200">
          <a:solidFill>
            <a:schemeClr val="tx1"/>
          </a:solidFill>
          <a:latin typeface="Century Gothic" charset="0"/>
          <a:ea typeface="宋体" charset="0"/>
          <a:cs typeface="Century Gothic" charset="0"/>
        </a:defRPr>
      </a:lvl1pPr>
      <a:lvl2pPr marL="685800" indent="-228600" algn="l" defTabSz="914400" eaLnBrk="0" fontAlgn="auto" latinLnBrk="0" hangingPunct="0">
        <a:lnSpc>
          <a:spcPct val="90000"/>
        </a:lnSpc>
        <a:spcBef>
          <a:spcPts val="500"/>
        </a:spcBef>
        <a:buFont typeface="Arial" pitchFamily="34" charset="0"/>
        <a:buChar char="•"/>
        <a:defRPr sz="2400" kern="1200">
          <a:solidFill>
            <a:schemeClr val="tx1"/>
          </a:solidFill>
          <a:latin typeface="Century Gothic" charset="0"/>
          <a:ea typeface="宋体" charset="0"/>
          <a:cs typeface="Century Gothic" charset="0"/>
        </a:defRPr>
      </a:lvl2pPr>
      <a:lvl3pPr marL="1143000" indent="-228600" algn="l" defTabSz="914400" eaLnBrk="0" fontAlgn="auto" latinLnBrk="0" hangingPunct="0">
        <a:lnSpc>
          <a:spcPct val="90000"/>
        </a:lnSpc>
        <a:spcBef>
          <a:spcPts val="500"/>
        </a:spcBef>
        <a:buFont typeface="Arial" pitchFamily="34" charset="0"/>
        <a:buChar char="•"/>
        <a:defRPr sz="2000" kern="1200">
          <a:solidFill>
            <a:schemeClr val="tx1"/>
          </a:solidFill>
          <a:latin typeface="Century Gothic" charset="0"/>
          <a:ea typeface="宋体" charset="0"/>
          <a:cs typeface="Century Gothic" charset="0"/>
        </a:defRPr>
      </a:lvl3pPr>
      <a:lvl4pPr marL="16002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Century Gothic" charset="0"/>
          <a:ea typeface="宋体" charset="0"/>
          <a:cs typeface="Century Gothic" charset="0"/>
        </a:defRPr>
      </a:lvl4pPr>
      <a:lvl5pPr marL="20574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Century Gothic" charset="0"/>
          <a:ea typeface="宋体" charset="0"/>
          <a:cs typeface="Century Gothic" charset="0"/>
        </a:defRPr>
      </a:lvl5pPr>
      <a:lvl6pPr marL="25146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Century Gothic" charset="0"/>
          <a:ea typeface="宋体" charset="0"/>
          <a:cs typeface="Century Gothic" charset="0"/>
        </a:defRPr>
      </a:lvl6pPr>
      <a:lvl7pPr marL="29718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Century Gothic" charset="0"/>
          <a:ea typeface="宋体" charset="0"/>
          <a:cs typeface="Century Gothic" charset="0"/>
        </a:defRPr>
      </a:lvl7pPr>
      <a:lvl8pPr marL="34290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Century Gothic" charset="0"/>
          <a:ea typeface="宋体" charset="0"/>
          <a:cs typeface="Century Gothic" charset="0"/>
        </a:defRPr>
      </a:lvl8pPr>
      <a:lvl9pPr marL="3429000" indent="-228600" algn="l" defTabSz="914400" eaLnBrk="0" fontAlgn="auto" latinLnBrk="0" hangingPunct="0">
        <a:lnSpc>
          <a:spcPct val="90000"/>
        </a:lnSpc>
        <a:spcBef>
          <a:spcPts val="500"/>
        </a:spcBef>
        <a:buFont typeface="Arial" pitchFamily="34" charset="0"/>
        <a:buChar char="•"/>
        <a:defRPr sz="1800" kern="1200">
          <a:solidFill>
            <a:schemeClr val="tx1"/>
          </a:solidFill>
          <a:latin typeface="Century Gothic" charset="0"/>
          <a:ea typeface="宋体" charset="0"/>
          <a:cs typeface="Century Gothic"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4.xml"/><Relationship Id="rId6" Type="http://schemas.openxmlformats.org/officeDocument/2006/relationships/image" Target="../media/image8.jp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4.xml"/><Relationship Id="rId6" Type="http://schemas.openxmlformats.org/officeDocument/2006/relationships/image" Target="../media/image11.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8.png"/><Relationship Id="rId5" Type="http://schemas.openxmlformats.org/officeDocument/2006/relationships/image" Target="../media/image6.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0.xml"/><Relationship Id="rId1" Type="http://schemas.openxmlformats.org/officeDocument/2006/relationships/slideLayout" Target="../slideLayouts/slideLayout14.xml"/><Relationship Id="rId4" Type="http://schemas.openxmlformats.org/officeDocument/2006/relationships/image" Target="../media/image21.jp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s"/>
          <p:cNvSpPr>
            <a:spLocks/>
          </p:cNvSpPr>
          <p:nvPr/>
        </p:nvSpPr>
        <p:spPr>
          <a:xfrm>
            <a:off x="3863689" y="908650"/>
            <a:ext cx="8134591" cy="2736380"/>
          </a:xfrm>
          <a:prstGeom prst="rect">
            <a:avLst/>
          </a:prstGeom>
          <a:noFill/>
          <a:ln w="12700" cap="flat" cmpd="sng">
            <a:noFill/>
            <a:prstDash val="solid"/>
            <a:miter/>
          </a:ln>
        </p:spPr>
        <p:txBody>
          <a:bodyPr vert="horz" wrap="square" lIns="0" tIns="45720" rIns="0" bIns="45720" anchor="ctr" anchorCtr="0">
            <a:prstTxWarp prst="textNoShape">
              <a:avLst/>
            </a:prstTxWarp>
          </a:bodyPr>
          <a:lstStyle/>
          <a:p>
            <a:pPr marL="0" indent="0" algn="ctr" eaLnBrk="0" latinLnBrk="0" hangingPunct="0">
              <a:lnSpc>
                <a:spcPct val="100000"/>
              </a:lnSpc>
              <a:spcBef>
                <a:spcPts val="1000"/>
              </a:spcBef>
              <a:spcAft>
                <a:spcPts val="0"/>
              </a:spcAft>
              <a:buNone/>
            </a:pPr>
            <a:r>
              <a:rPr lang="zh-CN" altLang="en-US" sz="4800" b="1" i="0" u="none" strike="noStrike" kern="1200" cap="none" spc="0" baseline="0" dirty="0">
                <a:solidFill>
                  <a:schemeClr val="accent1"/>
                </a:solidFill>
                <a:latin typeface="Microsoft YaHei" charset="0"/>
                <a:ea typeface="Microsoft YaHei" charset="0"/>
                <a:cs typeface="Microsoft YaHei" charset="0"/>
                <a:sym typeface="Microsoft YaHei" charset="0"/>
              </a:rPr>
              <a:t>物理不可克隆函数（</a:t>
            </a:r>
            <a:r>
              <a:rPr lang="en-US" altLang="zh-CN" sz="4800" b="1" i="0" u="none" strike="noStrike" kern="1200" cap="none" spc="0" baseline="0" dirty="0">
                <a:solidFill>
                  <a:schemeClr val="accent1"/>
                </a:solidFill>
                <a:latin typeface="Microsoft YaHei" charset="0"/>
                <a:ea typeface="Microsoft YaHei" charset="0"/>
                <a:cs typeface="Microsoft YaHei" charset="0"/>
                <a:sym typeface="Microsoft YaHei" charset="0"/>
              </a:rPr>
              <a:t>PUF</a:t>
            </a:r>
            <a:r>
              <a:rPr lang="zh-CN" altLang="en-US" sz="4800" b="1" i="0" u="none" strike="noStrike" kern="1200" cap="none" spc="0" baseline="0" dirty="0">
                <a:solidFill>
                  <a:schemeClr val="accent1"/>
                </a:solidFill>
                <a:latin typeface="Microsoft YaHei" charset="0"/>
                <a:ea typeface="Microsoft YaHei" charset="0"/>
                <a:cs typeface="Microsoft YaHei" charset="0"/>
                <a:sym typeface="Microsoft YaHei" charset="0"/>
              </a:rPr>
              <a:t>）</a:t>
            </a:r>
            <a:endParaRPr lang="en-US" altLang="zh-CN" sz="4800" b="1" i="0" u="none" strike="noStrike" kern="1200" cap="none" spc="0" baseline="0" dirty="0">
              <a:solidFill>
                <a:schemeClr val="accent1"/>
              </a:solidFill>
              <a:latin typeface="Microsoft YaHei" charset="0"/>
              <a:ea typeface="Microsoft YaHei" charset="0"/>
              <a:cs typeface="Microsoft YaHei" charset="0"/>
              <a:sym typeface="Microsoft YaHei" charset="0"/>
            </a:endParaRPr>
          </a:p>
          <a:p>
            <a:pPr marL="0" indent="0" algn="ctr" eaLnBrk="0" latinLnBrk="0" hangingPunct="0">
              <a:lnSpc>
                <a:spcPct val="100000"/>
              </a:lnSpc>
              <a:spcBef>
                <a:spcPts val="1000"/>
              </a:spcBef>
              <a:spcAft>
                <a:spcPts val="0"/>
              </a:spcAft>
              <a:buNone/>
            </a:pPr>
            <a:r>
              <a:rPr lang="zh-CN" altLang="en-US" sz="4800" b="1" dirty="0">
                <a:solidFill>
                  <a:schemeClr val="accent1"/>
                </a:solidFill>
                <a:latin typeface="Microsoft YaHei" charset="0"/>
                <a:ea typeface="Microsoft YaHei" charset="0"/>
                <a:cs typeface="Microsoft YaHei" charset="0"/>
                <a:sym typeface="Microsoft YaHei" charset="0"/>
              </a:rPr>
              <a:t>在芯片内生安全架构中的</a:t>
            </a:r>
            <a:endParaRPr lang="en-US" altLang="zh-CN" sz="4800" b="1" dirty="0">
              <a:solidFill>
                <a:schemeClr val="accent1"/>
              </a:solidFill>
              <a:latin typeface="Microsoft YaHei" charset="0"/>
              <a:ea typeface="Microsoft YaHei" charset="0"/>
              <a:cs typeface="Microsoft YaHei" charset="0"/>
              <a:sym typeface="Microsoft YaHei" charset="0"/>
            </a:endParaRPr>
          </a:p>
          <a:p>
            <a:pPr marL="0" indent="0" algn="ctr" eaLnBrk="0" latinLnBrk="0" hangingPunct="0">
              <a:lnSpc>
                <a:spcPct val="100000"/>
              </a:lnSpc>
              <a:spcBef>
                <a:spcPts val="1000"/>
              </a:spcBef>
              <a:spcAft>
                <a:spcPts val="0"/>
              </a:spcAft>
              <a:buNone/>
            </a:pPr>
            <a:r>
              <a:rPr lang="zh-CN" altLang="en-US" sz="4800" b="1" dirty="0">
                <a:solidFill>
                  <a:schemeClr val="accent1"/>
                </a:solidFill>
                <a:latin typeface="Microsoft YaHei" charset="0"/>
                <a:ea typeface="Microsoft YaHei" charset="0"/>
                <a:cs typeface="Microsoft YaHei" charset="0"/>
                <a:sym typeface="Microsoft YaHei" charset="0"/>
              </a:rPr>
              <a:t>角色和应用讨论</a:t>
            </a:r>
            <a:endParaRPr lang="zh-CN" altLang="en-US" sz="4800" b="1" i="0" u="none" strike="noStrike" kern="1200" cap="none" spc="0" baseline="0" dirty="0">
              <a:solidFill>
                <a:schemeClr val="accent1"/>
              </a:solidFill>
              <a:latin typeface="Microsoft YaHei" charset="0"/>
              <a:ea typeface="Microsoft YaHei" charset="0"/>
              <a:cs typeface="Microsoft YaHei" charset="0"/>
              <a:sym typeface="Microsoft YaHei" charset="0"/>
            </a:endParaRPr>
          </a:p>
        </p:txBody>
      </p:sp>
      <p:sp>
        <p:nvSpPr>
          <p:cNvPr id="22" name="Rectangles"/>
          <p:cNvSpPr>
            <a:spLocks/>
          </p:cNvSpPr>
          <p:nvPr/>
        </p:nvSpPr>
        <p:spPr>
          <a:xfrm>
            <a:off x="4253865" y="4034790"/>
            <a:ext cx="3103880" cy="2526030"/>
          </a:xfrm>
          <a:prstGeom prst="rect">
            <a:avLst/>
          </a:prstGeom>
          <a:noFill/>
          <a:ln w="12700" cap="flat" cmpd="sng">
            <a:noFill/>
            <a:prstDash val="solid"/>
            <a:miter/>
          </a:ln>
        </p:spPr>
        <p:txBody>
          <a:bodyPr vert="horz" wrap="square" lIns="0" tIns="45720" rIns="0" bIns="45720" anchor="t" anchorCtr="0">
            <a:prstTxWarp prst="textNoShape">
              <a:avLst/>
            </a:prstTxWarp>
          </a:bodyPr>
          <a:lstStyle/>
          <a:p>
            <a:pPr marL="0" indent="0" algn="l">
              <a:lnSpc>
                <a:spcPct val="129000"/>
              </a:lnSpc>
              <a:spcBef>
                <a:spcPts val="0"/>
              </a:spcBef>
              <a:spcAft>
                <a:spcPts val="0"/>
              </a:spcAft>
              <a:buNone/>
            </a:pPr>
            <a:r>
              <a:rPr lang="zh-CN" altLang="en-US" sz="2000" b="0" i="0" u="none" strike="noStrike" kern="1200" cap="none" spc="0" baseline="0" dirty="0">
                <a:solidFill>
                  <a:schemeClr val="accent1"/>
                </a:solidFill>
                <a:latin typeface="Microsoft YaHei" charset="0"/>
                <a:ea typeface="Microsoft YaHei" charset="0"/>
                <a:cs typeface="Microsoft YaHei" charset="0"/>
                <a:sym typeface="Microsoft YaHei" charset="0"/>
              </a:rPr>
              <a:t>小组成员：</a:t>
            </a:r>
            <a:endParaRPr lang="en-US" altLang="zh-CN" sz="2000" b="0" i="0" u="none" strike="noStrike" kern="1200" cap="none" spc="0" baseline="0" dirty="0">
              <a:solidFill>
                <a:schemeClr val="accent1"/>
              </a:solidFill>
              <a:latin typeface="Microsoft YaHei" charset="0"/>
              <a:ea typeface="Microsoft YaHei" charset="0"/>
              <a:cs typeface="Microsoft YaHei" charset="0"/>
              <a:sym typeface="Microsoft YaHei" charset="0"/>
            </a:endParaRPr>
          </a:p>
          <a:p>
            <a:pPr marL="0" indent="0" algn="l">
              <a:lnSpc>
                <a:spcPct val="129000"/>
              </a:lnSpc>
              <a:spcBef>
                <a:spcPts val="0"/>
              </a:spcBef>
              <a:spcAft>
                <a:spcPts val="0"/>
              </a:spcAft>
              <a:buNone/>
            </a:pPr>
            <a:r>
              <a:rPr lang="en-US" altLang="zh-CN" sz="2000" b="0" i="0" u="none" strike="noStrike" kern="1200" cap="none" spc="0" baseline="0" dirty="0">
                <a:solidFill>
                  <a:schemeClr val="accent1"/>
                </a:solidFill>
                <a:latin typeface="Microsoft YaHei" charset="0"/>
                <a:ea typeface="Microsoft YaHei" charset="0"/>
                <a:cs typeface="Microsoft YaHei" charset="0"/>
              </a:rPr>
              <a:t>57123210邓迪升</a:t>
            </a:r>
          </a:p>
          <a:p>
            <a:pPr marL="0" indent="0" algn="l">
              <a:lnSpc>
                <a:spcPct val="129000"/>
              </a:lnSpc>
              <a:spcBef>
                <a:spcPts val="0"/>
              </a:spcBef>
              <a:spcAft>
                <a:spcPts val="0"/>
              </a:spcAft>
              <a:buNone/>
            </a:pPr>
            <a:r>
              <a:rPr lang="en-US" altLang="zh-CN" sz="2000" b="0" i="0" u="none" strike="noStrike" kern="1200" cap="none" spc="0" baseline="0" dirty="0">
                <a:solidFill>
                  <a:schemeClr val="accent1"/>
                </a:solidFill>
                <a:latin typeface="Microsoft YaHei" charset="0"/>
                <a:ea typeface="Microsoft YaHei" charset="0"/>
                <a:cs typeface="Microsoft YaHei" charset="0"/>
              </a:rPr>
              <a:t>57123242王子卓</a:t>
            </a:r>
          </a:p>
          <a:p>
            <a:pPr marL="0" indent="0" algn="l">
              <a:lnSpc>
                <a:spcPct val="129000"/>
              </a:lnSpc>
              <a:spcBef>
                <a:spcPts val="0"/>
              </a:spcBef>
              <a:spcAft>
                <a:spcPts val="0"/>
              </a:spcAft>
              <a:buNone/>
            </a:pPr>
            <a:r>
              <a:rPr lang="en-US" altLang="zh-CN" sz="2000" b="0" i="0" u="none" strike="noStrike" kern="1200" cap="none" spc="0" baseline="0" dirty="0">
                <a:solidFill>
                  <a:schemeClr val="accent1"/>
                </a:solidFill>
                <a:latin typeface="Microsoft YaHei" charset="0"/>
                <a:ea typeface="Microsoft YaHei" charset="0"/>
                <a:cs typeface="Microsoft YaHei" charset="0"/>
              </a:rPr>
              <a:t>57123207潘震</a:t>
            </a:r>
            <a:r>
              <a:rPr lang="zh-CN" altLang="en-US" sz="2000" b="0" i="0" u="none" strike="noStrike" kern="1200" cap="none" spc="0" baseline="0" dirty="0">
                <a:solidFill>
                  <a:schemeClr val="accent1"/>
                </a:solidFill>
                <a:latin typeface="Microsoft YaHei" charset="0"/>
                <a:ea typeface="Microsoft YaHei" charset="0"/>
                <a:cs typeface="Microsoft YaHei" charset="0"/>
              </a:rPr>
              <a:t>明</a:t>
            </a:r>
            <a:endParaRPr lang="en-US" altLang="zh-CN" sz="2000" b="0" i="0" u="none" strike="noStrike" kern="1200" cap="none" spc="0" baseline="0" dirty="0">
              <a:solidFill>
                <a:schemeClr val="accent1"/>
              </a:solidFill>
              <a:latin typeface="Microsoft YaHei" charset="0"/>
              <a:ea typeface="Microsoft YaHei" charset="0"/>
              <a:cs typeface="Microsoft YaHei" charset="0"/>
            </a:endParaRPr>
          </a:p>
          <a:p>
            <a:pPr marL="0" indent="0" algn="l">
              <a:lnSpc>
                <a:spcPct val="129000"/>
              </a:lnSpc>
              <a:spcBef>
                <a:spcPts val="0"/>
              </a:spcBef>
              <a:spcAft>
                <a:spcPts val="0"/>
              </a:spcAft>
              <a:buNone/>
            </a:pPr>
            <a:r>
              <a:rPr lang="zh-CN" altLang="en-US" sz="2000" b="0" i="0" u="none" strike="noStrike" kern="1200" cap="none" spc="0" baseline="0" dirty="0">
                <a:solidFill>
                  <a:schemeClr val="accent1"/>
                </a:solidFill>
                <a:latin typeface="Microsoft YaHei" charset="0"/>
                <a:ea typeface="Microsoft YaHei" charset="0"/>
                <a:cs typeface="Microsoft YaHei" charset="0"/>
              </a:rPr>
              <a:t>汇报日期：</a:t>
            </a:r>
            <a:endParaRPr lang="en-US" altLang="zh-CN" sz="2000" b="0" i="0" u="none" strike="noStrike" kern="1200" cap="none" spc="0" baseline="0" dirty="0">
              <a:solidFill>
                <a:schemeClr val="accent1"/>
              </a:solidFill>
              <a:latin typeface="Microsoft YaHei" charset="0"/>
              <a:ea typeface="Microsoft YaHei" charset="0"/>
              <a:cs typeface="Microsoft YaHei" charset="0"/>
            </a:endParaRPr>
          </a:p>
          <a:p>
            <a:pPr marL="0" indent="0" algn="l">
              <a:lnSpc>
                <a:spcPct val="129000"/>
              </a:lnSpc>
              <a:spcBef>
                <a:spcPts val="0"/>
              </a:spcBef>
              <a:spcAft>
                <a:spcPts val="0"/>
              </a:spcAft>
              <a:buNone/>
            </a:pPr>
            <a:r>
              <a:rPr lang="en-US" altLang="zh-CN" sz="2000" b="0" i="0" u="none" strike="noStrike" kern="1200" cap="none" spc="0" baseline="0" dirty="0">
                <a:solidFill>
                  <a:schemeClr val="accent1"/>
                </a:solidFill>
                <a:latin typeface="Microsoft YaHei" charset="0"/>
                <a:ea typeface="Microsoft YaHei" charset="0"/>
                <a:cs typeface="Microsoft YaHei" charset="0"/>
              </a:rPr>
              <a:t>2026.6.9</a:t>
            </a:r>
            <a:endParaRPr lang="zh-CN" altLang="en-US" sz="2000" b="0" i="0" u="none" strike="noStrike" kern="1200" cap="none" spc="0" baseline="0" dirty="0">
              <a:solidFill>
                <a:schemeClr val="accent1"/>
              </a:solidFill>
              <a:latin typeface="Microsoft YaHei" charset="0"/>
              <a:ea typeface="Microsoft YaHei" charset="0"/>
              <a:cs typeface="Microsoft YaHei" charset="0"/>
              <a:sym typeface="Microsoft YaHei" charset="0"/>
            </a:endParaRPr>
          </a:p>
        </p:txBody>
      </p:sp>
      <p:sp>
        <p:nvSpPr>
          <p:cNvPr id="23" name="Straight line"/>
          <p:cNvSpPr>
            <a:spLocks/>
          </p:cNvSpPr>
          <p:nvPr/>
        </p:nvSpPr>
        <p:spPr>
          <a:xfrm>
            <a:off x="4166625" y="4160520"/>
            <a:ext cx="2539" cy="1911985"/>
          </a:xfrm>
          <a:prstGeom prst="line">
            <a:avLst/>
          </a:prstGeom>
          <a:noFill/>
          <a:ln w="50800" cap="flat" cmpd="thickThin">
            <a:solidFill>
              <a:srgbClr val="505122"/>
            </a:solidFill>
            <a:prstDash val="solid"/>
            <a:round/>
          </a:ln>
        </p:spPr>
      </p:sp>
    </p:spTree>
    <p:extLst>
      <p:ext uri="{BB962C8B-B14F-4D97-AF65-F5344CB8AC3E}">
        <p14:creationId xmlns:p14="http://schemas.microsoft.com/office/powerpoint/2010/main" val="10055516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Helvetica" pitchFamily="2" charset="0"/>
                <a:ea typeface="Microsoft YaHei" charset="0"/>
                <a:cs typeface="Microsoft YaHei" charset="0"/>
              </a:rPr>
              <a:t>2</a:t>
            </a:fld>
            <a:endParaRPr lang="zh-CN" altLang="en-US" sz="1200" b="0" i="0" u="none" strike="noStrike" kern="1200" cap="none" spc="0" baseline="0">
              <a:solidFill>
                <a:schemeClr val="tx1"/>
              </a:solidFill>
              <a:latin typeface="Helvetica" pitchFamily="2" charset="0"/>
              <a:ea typeface="Microsoft YaHei" charset="0"/>
              <a:cs typeface="Microsoft YaHei" charset="0"/>
            </a:endParaRPr>
          </a:p>
        </p:txBody>
      </p:sp>
      <p:sp>
        <p:nvSpPr>
          <p:cNvPr id="39" name="Rectangles"/>
          <p:cNvSpPr>
            <a:spLocks/>
          </p:cNvSpPr>
          <p:nvPr/>
        </p:nvSpPr>
        <p:spPr>
          <a:xfrm>
            <a:off x="949705" y="1240578"/>
            <a:ext cx="3978000" cy="722100"/>
          </a:xfrm>
          <a:prstGeom prst="rect">
            <a:avLst/>
          </a:prstGeom>
          <a:noFill/>
          <a:ln w="12700" cap="flat" cmpd="sng">
            <a:noFill/>
            <a:prstDash val="solid"/>
            <a:miter/>
          </a:ln>
        </p:spPr>
        <p:txBody>
          <a:bodyPr vert="horz" wrap="square" lIns="91425" tIns="91425" rIns="91425" bIns="91425" anchor="ctr" anchorCtr="0">
            <a:prstTxWarp prst="textNoShape">
              <a:avLst/>
            </a:prstTxWarp>
          </a:bodyPr>
          <a:lstStyle/>
          <a:p>
            <a:pPr marL="0" indent="0" algn="l" eaLnBrk="0" latinLnBrk="0" hangingPunct="0">
              <a:lnSpc>
                <a:spcPct val="90000"/>
              </a:lnSpc>
              <a:spcBef>
                <a:spcPts val="0"/>
              </a:spcBef>
              <a:spcAft>
                <a:spcPts val="0"/>
              </a:spcAft>
              <a:buNone/>
            </a:pPr>
            <a:r>
              <a:rPr lang="zh-CN" altLang="en-US" sz="2800" b="0" i="0" u="none" strike="noStrike" kern="1200" cap="none" spc="0" baseline="0">
                <a:solidFill>
                  <a:schemeClr val="accent5"/>
                </a:solidFill>
                <a:latin typeface="Helvetica" pitchFamily="2" charset="0"/>
                <a:ea typeface="微软雅黑" pitchFamily="34" charset="-122"/>
                <a:cs typeface="Microsoft YaHei" charset="0"/>
              </a:rPr>
              <a:t>从缺陷到芯片“指纹”</a:t>
            </a:r>
          </a:p>
        </p:txBody>
      </p:sp>
      <p:sp>
        <p:nvSpPr>
          <p:cNvPr id="40" name="Rectangles"/>
          <p:cNvSpPr>
            <a:spLocks/>
          </p:cNvSpPr>
          <p:nvPr/>
        </p:nvSpPr>
        <p:spPr>
          <a:xfrm>
            <a:off x="506943" y="1932927"/>
            <a:ext cx="6065810" cy="2974165"/>
          </a:xfrm>
          <a:prstGeom prst="rect">
            <a:avLst/>
          </a:prstGeom>
          <a:noFill/>
          <a:ln w="12700" cap="flat" cmpd="sng">
            <a:noFill/>
            <a:prstDash val="solid"/>
            <a:miter/>
          </a:ln>
        </p:spPr>
        <p:txBody>
          <a:bodyPr vert="horz" wrap="square" lIns="91425" tIns="91425" rIns="91425" bIns="91425" anchor="t" anchorCtr="0">
            <a:prstTxWarp prst="textNoShape">
              <a:avLst/>
            </a:prstTxWarp>
          </a:bodyPr>
          <a:lstStyle/>
          <a:p>
            <a:pPr marL="228600" indent="-228600" algn="l" eaLnBrk="0" latinLnBrk="0" hangingPunct="0">
              <a:lnSpc>
                <a:spcPct val="90000"/>
              </a:lnSpc>
              <a:spcBef>
                <a:spcPts val="1000"/>
              </a:spcBef>
              <a:spcAft>
                <a:spcPts val="0"/>
              </a:spcAft>
              <a:buFont typeface="Arial" pitchFamily="34" charset="0"/>
              <a:buChar char="•"/>
            </a:pPr>
            <a:r>
              <a:rPr lang="zh-CN" altLang="en-US" sz="2200" b="0" i="0" u="none" strike="noStrike" kern="1200" cap="none" spc="0" baseline="0">
                <a:solidFill>
                  <a:schemeClr val="tx1"/>
                </a:solidFill>
                <a:latin typeface="Helvetica" pitchFamily="2" charset="0"/>
                <a:ea typeface="Microsoft YaHei" charset="0"/>
                <a:cs typeface="Microsoft YaHei" charset="0"/>
              </a:rPr>
              <a:t>芯片制造是一个极其精密的纳米级工艺，但任何制造过程都不可能完美</a:t>
            </a:r>
            <a:endParaRPr lang="en-US" altLang="zh-CN" sz="2200" b="0" i="0" u="none" strike="noStrike" kern="1200" cap="none" spc="0" baseline="0">
              <a:solidFill>
                <a:schemeClr val="tx1"/>
              </a:solidFill>
              <a:latin typeface="Helvetica" pitchFamily="2" charset="0"/>
              <a:ea typeface="Microsoft YaHei" charset="0"/>
              <a:cs typeface="Microsoft YaHei" charset="0"/>
            </a:endParaRPr>
          </a:p>
          <a:p>
            <a:pPr marL="228600" indent="-228600" algn="l" eaLnBrk="0" latinLnBrk="0" hangingPunct="0">
              <a:lnSpc>
                <a:spcPct val="90000"/>
              </a:lnSpc>
              <a:spcBef>
                <a:spcPts val="1000"/>
              </a:spcBef>
              <a:spcAft>
                <a:spcPts val="0"/>
              </a:spcAft>
              <a:buFont typeface="Arial" pitchFamily="34" charset="0"/>
              <a:buChar char="•"/>
            </a:pPr>
            <a:r>
              <a:rPr lang="zh-CN" altLang="en-US" sz="2200" b="0" i="0" u="none" strike="noStrike" kern="1200" cap="none" spc="0" baseline="0">
                <a:solidFill>
                  <a:schemeClr val="tx1"/>
                </a:solidFill>
                <a:latin typeface="Helvetica" pitchFamily="2" charset="0"/>
                <a:ea typeface="Microsoft YaHei" charset="0"/>
                <a:cs typeface="Microsoft YaHei" charset="0"/>
              </a:rPr>
              <a:t>每条产线上，每一片晶圆、每一颗芯片之间都会出现纳米量级的随机物理偏差：</a:t>
            </a:r>
            <a:endParaRPr lang="en-US" altLang="zh-CN" sz="2200" b="0" i="0" u="none" strike="noStrike" kern="1200" cap="none" spc="0" baseline="0">
              <a:solidFill>
                <a:schemeClr val="tx1"/>
              </a:solidFill>
              <a:latin typeface="Helvetica" pitchFamily="2" charset="0"/>
              <a:ea typeface="Microsoft YaHei" charset="0"/>
              <a:cs typeface="Microsoft YaHei" charset="0"/>
            </a:endParaRPr>
          </a:p>
          <a:p>
            <a:pPr marL="457200" lvl="1" indent="-292100" algn="l" eaLnBrk="0" latinLnBrk="0" hangingPunct="0">
              <a:lnSpc>
                <a:spcPct val="120000"/>
              </a:lnSpc>
              <a:spcBef>
                <a:spcPts val="0"/>
              </a:spcBef>
              <a:spcAft>
                <a:spcPts val="0"/>
              </a:spcAft>
              <a:buSzPts val="1000"/>
              <a:buFont typeface="Montserrat" charset="0"/>
              <a:buChar char="■"/>
            </a:pPr>
            <a:r>
              <a:rPr lang="zh-CN" altLang="en-US" sz="2200" b="0" i="0" u="none" strike="noStrike" kern="1200" cap="none" spc="0" baseline="0">
                <a:solidFill>
                  <a:schemeClr val="tx1"/>
                </a:solidFill>
                <a:latin typeface="宋体" charset="0"/>
                <a:ea typeface="宋体" charset="0"/>
                <a:cs typeface="Microsoft YaHei" charset="0"/>
              </a:rPr>
              <a:t>晶体管阈值电压的微小离散</a:t>
            </a:r>
            <a:endParaRPr lang="en-US" altLang="zh-CN" sz="2200" b="0" i="0" u="none" strike="noStrike" kern="1200" cap="none" spc="0" baseline="0">
              <a:solidFill>
                <a:schemeClr val="tx1"/>
              </a:solidFill>
              <a:latin typeface="宋体" charset="0"/>
              <a:ea typeface="宋体" charset="0"/>
              <a:cs typeface="Microsoft YaHei" charset="0"/>
            </a:endParaRPr>
          </a:p>
          <a:p>
            <a:pPr marL="457200" lvl="1" indent="-292100" algn="l" eaLnBrk="0" latinLnBrk="0" hangingPunct="0">
              <a:lnSpc>
                <a:spcPct val="120000"/>
              </a:lnSpc>
              <a:spcBef>
                <a:spcPts val="0"/>
              </a:spcBef>
              <a:spcAft>
                <a:spcPts val="0"/>
              </a:spcAft>
              <a:buSzPts val="1000"/>
              <a:buFont typeface="Montserrat" charset="0"/>
              <a:buChar char="■"/>
            </a:pPr>
            <a:r>
              <a:rPr lang="zh-CN" altLang="en-US" sz="2200" b="0" i="0" u="none" strike="noStrike" kern="1200" cap="none" spc="0" baseline="0">
                <a:solidFill>
                  <a:schemeClr val="tx1"/>
                </a:solidFill>
                <a:latin typeface="宋体" charset="0"/>
                <a:ea typeface="宋体" charset="0"/>
                <a:cs typeface="Microsoft YaHei" charset="0"/>
              </a:rPr>
              <a:t>金属连线宽度的细微波动</a:t>
            </a:r>
            <a:endParaRPr lang="en-US" altLang="zh-CN" sz="2200" b="0" i="0" u="none" strike="noStrike" kern="1200" cap="none" spc="0" baseline="0">
              <a:solidFill>
                <a:schemeClr val="tx1"/>
              </a:solidFill>
              <a:latin typeface="宋体" charset="0"/>
              <a:ea typeface="宋体" charset="0"/>
              <a:cs typeface="Microsoft YaHei" charset="0"/>
            </a:endParaRPr>
          </a:p>
          <a:p>
            <a:pPr marL="457200" indent="-292100" algn="l" eaLnBrk="0" latinLnBrk="0" hangingPunct="0">
              <a:lnSpc>
                <a:spcPct val="120000"/>
              </a:lnSpc>
              <a:spcBef>
                <a:spcPts val="0"/>
              </a:spcBef>
              <a:spcAft>
                <a:spcPts val="0"/>
              </a:spcAft>
              <a:buSzPts val="1000"/>
              <a:buFont typeface="Montserrat" charset="0"/>
              <a:buChar char="■"/>
            </a:pPr>
            <a:r>
              <a:rPr lang="zh-CN" altLang="en-US" sz="2200" b="0" i="0" u="none" strike="noStrike" kern="1200" cap="none" spc="0" baseline="0">
                <a:solidFill>
                  <a:schemeClr val="tx1"/>
                </a:solidFill>
                <a:latin typeface="宋体" charset="0"/>
                <a:ea typeface="宋体" charset="0"/>
                <a:cs typeface="Microsoft YaHei" charset="0"/>
              </a:rPr>
              <a:t>氧化物厚度的不均匀</a:t>
            </a:r>
            <a:endParaRPr lang="zh-CN" altLang="en-US" sz="2200" b="0" i="0" u="none" strike="noStrike" kern="1200" cap="none" spc="0" baseline="0">
              <a:solidFill>
                <a:schemeClr val="tx1"/>
              </a:solidFill>
              <a:latin typeface="宋体" charset="0"/>
              <a:ea typeface="宋体" charset="0"/>
              <a:cs typeface="Microsoft YaHei" charset="0"/>
              <a:sym typeface="Montserrat" charset="0"/>
            </a:endParaRPr>
          </a:p>
        </p:txBody>
      </p:sp>
      <p:pic>
        <p:nvPicPr>
          <p:cNvPr id="41" name="Images"/>
          <p:cNvPicPr>
            <a:picLocks/>
          </p:cNvPicPr>
          <p:nvPr/>
        </p:nvPicPr>
        <p:blipFill>
          <a:blip r:embed="rId3" cstate="print"/>
          <a:stretch>
            <a:fillRect/>
          </a:stretch>
        </p:blipFill>
        <p:spPr>
          <a:xfrm>
            <a:off x="5652437" y="3827357"/>
            <a:ext cx="5837588" cy="1760667"/>
          </a:xfrm>
          <a:prstGeom prst="rect">
            <a:avLst/>
          </a:prstGeom>
          <a:noFill/>
          <a:ln w="12700" cap="flat" cmpd="sng">
            <a:noFill/>
            <a:prstDash val="solid"/>
            <a:miter/>
          </a:ln>
        </p:spPr>
      </p:pic>
      <p:sp>
        <p:nvSpPr>
          <p:cNvPr id="42" name="Rectangles"/>
          <p:cNvSpPr>
            <a:spLocks/>
          </p:cNvSpPr>
          <p:nvPr/>
        </p:nvSpPr>
        <p:spPr>
          <a:xfrm>
            <a:off x="6572753" y="5675417"/>
            <a:ext cx="3996956" cy="32956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图1 线边缘粗糙度造成局部关键尺寸变异</a:t>
            </a:r>
            <a:endParaRPr lang="zh-CN" altLang="en-US" sz="1600" b="0" i="0" u="none" strike="noStrike" kern="1200" cap="none" spc="0" baseline="0">
              <a:solidFill>
                <a:schemeClr val="tx1"/>
              </a:solidFill>
              <a:latin typeface="等线 Light" pitchFamily="2" charset="-122"/>
              <a:ea typeface="等线 Light" pitchFamily="2" charset="-122"/>
              <a:cs typeface="Microsoft YaHei" charset="0"/>
            </a:endParaRPr>
          </a:p>
        </p:txBody>
      </p:sp>
      <p:sp>
        <p:nvSpPr>
          <p:cNvPr id="43"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en-US" altLang="zh-CN"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PUF</a:t>
            </a: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的基本思想</a:t>
            </a:r>
          </a:p>
        </p:txBody>
      </p:sp>
    </p:spTree>
    <p:extLst>
      <p:ext uri="{BB962C8B-B14F-4D97-AF65-F5344CB8AC3E}">
        <p14:creationId xmlns:p14="http://schemas.microsoft.com/office/powerpoint/2010/main" val="717966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Rounded rectangle"/>
          <p:cNvSpPr>
            <a:spLocks/>
          </p:cNvSpPr>
          <p:nvPr/>
        </p:nvSpPr>
        <p:spPr>
          <a:xfrm>
            <a:off x="1116231" y="1500646"/>
            <a:ext cx="9963540" cy="1480427"/>
          </a:xfrm>
          <a:prstGeom prst="roundRect">
            <a:avLst>
              <a:gd name="adj" fmla="val 6231"/>
            </a:avLst>
          </a:prstGeom>
          <a:solidFill>
            <a:schemeClr val="bg1"/>
          </a:solidFill>
          <a:ln w="12700" cap="flat" cmpd="sng">
            <a:noFill/>
            <a:prstDash val="solid"/>
            <a:round/>
          </a:ln>
          <a:effectLst>
            <a:outerShdw blurRad="127000" algn="ctr" rotWithShape="0">
              <a:srgbClr val="000000">
                <a:alpha val="10588"/>
              </a:srgbClr>
            </a:outerShdw>
          </a:effectLst>
        </p:spPr>
      </p:sp>
      <p:sp>
        <p:nvSpPr>
          <p:cNvPr id="58" name="Rounded rectangle"/>
          <p:cNvSpPr>
            <a:spLocks/>
          </p:cNvSpPr>
          <p:nvPr/>
        </p:nvSpPr>
        <p:spPr>
          <a:xfrm>
            <a:off x="947738" y="1211205"/>
            <a:ext cx="10296525" cy="1580192"/>
          </a:xfrm>
          <a:prstGeom prst="roundRect">
            <a:avLst>
              <a:gd name="adj" fmla="val 6231"/>
            </a:avLst>
          </a:prstGeom>
          <a:solidFill>
            <a:schemeClr val="bg1"/>
          </a:solidFill>
          <a:ln w="12700" cap="flat" cmpd="sng">
            <a:noFill/>
            <a:prstDash val="solid"/>
            <a:round/>
          </a:ln>
          <a:effectLst>
            <a:outerShdw blurRad="127000" algn="ctr" rotWithShape="0">
              <a:srgbClr val="000000">
                <a:alpha val="19607"/>
              </a:srgbClr>
            </a:outerShdw>
          </a:effectLst>
        </p:spPr>
      </p:sp>
      <p:sp>
        <p:nvSpPr>
          <p:cNvPr id="59"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en-US" altLang="zh-CN"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PUF</a:t>
            </a: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的工作原理</a:t>
            </a:r>
          </a:p>
        </p:txBody>
      </p:sp>
      <p:sp>
        <p:nvSpPr>
          <p:cNvPr id="60"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3</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sp>
        <p:nvSpPr>
          <p:cNvPr id="61" name="Rectangles"/>
          <p:cNvSpPr>
            <a:spLocks/>
          </p:cNvSpPr>
          <p:nvPr/>
        </p:nvSpPr>
        <p:spPr>
          <a:xfrm>
            <a:off x="999479" y="4098791"/>
            <a:ext cx="2152653" cy="512596"/>
          </a:xfrm>
          <a:prstGeom prst="rect">
            <a:avLst/>
          </a:prstGeom>
          <a:noFill/>
          <a:ln w="12700" cap="flat" cmpd="sng">
            <a:noFill/>
            <a:prstDash val="solid"/>
            <a:round/>
          </a:ln>
        </p:spPr>
        <p:txBody>
          <a:bodyPr vert="horz" wrap="square" lIns="91440" tIns="45720" rIns="91440" bIns="45720" anchor="b" anchorCtr="0">
            <a:prstTxWarp prst="textNoShape">
              <a:avLst/>
            </a:prstTxWarp>
          </a:bodyPr>
          <a:lstStyle/>
          <a:p>
            <a:pPr marL="0" indent="0" algn="ctr" defTabSz="913638" eaLnBrk="0" fontAlgn="auto" latinLnBrk="0" hangingPunct="0">
              <a:lnSpc>
                <a:spcPct val="140000"/>
              </a:lnSpc>
              <a:spcBef>
                <a:spcPct val="0"/>
              </a:spcBef>
              <a:spcAft>
                <a:spcPts val="0"/>
              </a:spcAft>
              <a:buNone/>
            </a:pPr>
            <a:r>
              <a:rPr lang="zh-CN" altLang="en-US" sz="2200" b="0" i="0" u="none" strike="noStrike" kern="1200" cap="none" spc="0" baseline="0">
                <a:solidFill>
                  <a:srgbClr val="000000"/>
                </a:solidFill>
                <a:latin typeface="Microsoft YaHei" charset="0"/>
                <a:ea typeface="Microsoft YaHei" charset="0"/>
                <a:cs typeface="Microsoft YaHei" charset="0"/>
                <a:sym typeface="Microsoft YaHei" charset="0"/>
              </a:rPr>
              <a:t>挑战</a:t>
            </a:r>
          </a:p>
        </p:txBody>
      </p:sp>
      <p:sp>
        <p:nvSpPr>
          <p:cNvPr id="62" name="Rectangles"/>
          <p:cNvSpPr>
            <a:spLocks/>
          </p:cNvSpPr>
          <p:nvPr/>
        </p:nvSpPr>
        <p:spPr>
          <a:xfrm>
            <a:off x="3666806" y="4800876"/>
            <a:ext cx="2152652" cy="441803"/>
          </a:xfrm>
          <a:prstGeom prst="rect">
            <a:avLst/>
          </a:prstGeom>
          <a:noFill/>
          <a:ln w="12700" cap="flat" cmpd="sng">
            <a:noFill/>
            <a:prstDash val="solid"/>
            <a:round/>
          </a:ln>
        </p:spPr>
        <p:txBody>
          <a:bodyPr vert="horz" wrap="square" lIns="91440" tIns="45720" rIns="91440" bIns="45720" anchor="b" anchorCtr="0">
            <a:prstTxWarp prst="textNoShape">
              <a:avLst/>
            </a:prstTxWarp>
          </a:bodyPr>
          <a:lstStyle/>
          <a:p>
            <a:pPr marL="0" indent="0" algn="ctr" defTabSz="913638" eaLnBrk="0" fontAlgn="auto" latinLnBrk="0" hangingPunct="0">
              <a:lnSpc>
                <a:spcPct val="129000"/>
              </a:lnSpc>
              <a:spcBef>
                <a:spcPct val="0"/>
              </a:spcBef>
              <a:spcAft>
                <a:spcPts val="0"/>
              </a:spcAft>
              <a:buNone/>
            </a:pPr>
            <a:r>
              <a:rPr lang="zh-CN" altLang="en-US" sz="1900" b="0" i="0" u="none" strike="noStrike" kern="1200" cap="none" spc="0" baseline="0">
                <a:solidFill>
                  <a:srgbClr val="000000"/>
                </a:solidFill>
                <a:latin typeface="Microsoft YaHei" charset="0"/>
                <a:ea typeface="Microsoft YaHei" charset="0"/>
                <a:cs typeface="Microsoft YaHei" charset="0"/>
                <a:sym typeface="Microsoft YaHei" charset="0"/>
              </a:rPr>
              <a:t>输入到</a:t>
            </a:r>
            <a:r>
              <a:rPr lang="en-US" altLang="zh-CN" sz="1900" b="0" i="0" u="none" strike="noStrike" kern="1200" cap="none" spc="0" baseline="0">
                <a:solidFill>
                  <a:srgbClr val="000000"/>
                </a:solidFill>
                <a:latin typeface="Microsoft YaHei" charset="0"/>
                <a:ea typeface="Microsoft YaHei" charset="0"/>
                <a:cs typeface="Microsoft YaHei" charset="0"/>
                <a:sym typeface="Microsoft YaHei" charset="0"/>
              </a:rPr>
              <a:t>PUF</a:t>
            </a:r>
            <a:endParaRPr lang="zh-CN" altLang="en-US" sz="1900" b="0" i="0" u="none" strike="noStrike" kern="1200" cap="none" spc="0" baseline="0">
              <a:solidFill>
                <a:srgbClr val="000000"/>
              </a:solidFill>
              <a:latin typeface="Microsoft YaHei" charset="0"/>
              <a:ea typeface="Microsoft YaHei" charset="0"/>
              <a:cs typeface="Microsoft YaHei" charset="0"/>
              <a:sym typeface="Microsoft YaHei" charset="0"/>
            </a:endParaRPr>
          </a:p>
        </p:txBody>
      </p:sp>
      <p:sp>
        <p:nvSpPr>
          <p:cNvPr id="63" name="Rectangles"/>
          <p:cNvSpPr>
            <a:spLocks/>
          </p:cNvSpPr>
          <p:nvPr/>
        </p:nvSpPr>
        <p:spPr>
          <a:xfrm>
            <a:off x="6362229" y="4093499"/>
            <a:ext cx="2152653" cy="441804"/>
          </a:xfrm>
          <a:prstGeom prst="rect">
            <a:avLst/>
          </a:prstGeom>
          <a:noFill/>
          <a:ln w="12700" cap="flat" cmpd="sng">
            <a:noFill/>
            <a:prstDash val="solid"/>
            <a:round/>
          </a:ln>
        </p:spPr>
        <p:txBody>
          <a:bodyPr vert="horz" wrap="square" lIns="91440" tIns="45720" rIns="91440" bIns="45720" anchor="b" anchorCtr="0">
            <a:prstTxWarp prst="textNoShape">
              <a:avLst/>
            </a:prstTxWarp>
          </a:bodyPr>
          <a:lstStyle/>
          <a:p>
            <a:pPr marL="0" indent="0" algn="ctr" defTabSz="913638" eaLnBrk="0" fontAlgn="auto" latinLnBrk="0" hangingPunct="0">
              <a:lnSpc>
                <a:spcPct val="129000"/>
              </a:lnSpc>
              <a:spcBef>
                <a:spcPct val="0"/>
              </a:spcBef>
              <a:spcAft>
                <a:spcPts val="0"/>
              </a:spcAft>
              <a:buNone/>
            </a:pPr>
            <a:r>
              <a:rPr lang="zh-CN" altLang="en-US" sz="1900" b="0" i="0" u="none" strike="noStrike" kern="1200" cap="none" spc="0" baseline="0">
                <a:solidFill>
                  <a:srgbClr val="000000"/>
                </a:solidFill>
                <a:latin typeface="Microsoft YaHei" charset="0"/>
                <a:ea typeface="Microsoft YaHei" charset="0"/>
                <a:cs typeface="Microsoft YaHei" charset="0"/>
                <a:sym typeface="Microsoft YaHei" charset="0"/>
              </a:rPr>
              <a:t>利用物理偏差</a:t>
            </a:r>
          </a:p>
        </p:txBody>
      </p:sp>
      <p:sp>
        <p:nvSpPr>
          <p:cNvPr id="64" name="Rectangles"/>
          <p:cNvSpPr>
            <a:spLocks/>
          </p:cNvSpPr>
          <p:nvPr/>
        </p:nvSpPr>
        <p:spPr>
          <a:xfrm>
            <a:off x="9041490" y="4800877"/>
            <a:ext cx="2152652" cy="441803"/>
          </a:xfrm>
          <a:prstGeom prst="rect">
            <a:avLst/>
          </a:prstGeom>
          <a:noFill/>
          <a:ln w="12700" cap="flat" cmpd="sng">
            <a:noFill/>
            <a:prstDash val="solid"/>
            <a:round/>
          </a:ln>
        </p:spPr>
        <p:txBody>
          <a:bodyPr vert="horz" wrap="square" lIns="91440" tIns="45720" rIns="91440" bIns="45720" anchor="b" anchorCtr="0">
            <a:prstTxWarp prst="textNoShape">
              <a:avLst/>
            </a:prstTxWarp>
          </a:bodyPr>
          <a:lstStyle/>
          <a:p>
            <a:pPr marL="0" indent="0" algn="ctr" defTabSz="913638" eaLnBrk="0" fontAlgn="auto" latinLnBrk="0" hangingPunct="0">
              <a:lnSpc>
                <a:spcPct val="129000"/>
              </a:lnSpc>
              <a:spcBef>
                <a:spcPct val="0"/>
              </a:spcBef>
              <a:spcAft>
                <a:spcPts val="0"/>
              </a:spcAft>
              <a:buNone/>
            </a:pPr>
            <a:r>
              <a:rPr lang="zh-CN" altLang="en-US" sz="1900" b="0" i="0" u="none" strike="noStrike" kern="1200" cap="none" spc="0" baseline="0">
                <a:solidFill>
                  <a:srgbClr val="000000"/>
                </a:solidFill>
                <a:latin typeface="Microsoft YaHei" charset="0"/>
                <a:ea typeface="Microsoft YaHei" charset="0"/>
                <a:cs typeface="Microsoft YaHei" charset="0"/>
                <a:sym typeface="Microsoft YaHei" charset="0"/>
              </a:rPr>
              <a:t>响应</a:t>
            </a:r>
          </a:p>
        </p:txBody>
      </p:sp>
      <p:grpSp>
        <p:nvGrpSpPr>
          <p:cNvPr id="67" name="Combination"/>
          <p:cNvGrpSpPr>
            <a:grpSpLocks/>
          </p:cNvGrpSpPr>
          <p:nvPr/>
        </p:nvGrpSpPr>
        <p:grpSpPr>
          <a:xfrm>
            <a:off x="7028455" y="3198115"/>
            <a:ext cx="822597" cy="822598"/>
            <a:chOff x="7028455" y="3198115"/>
            <a:chExt cx="822597" cy="822598"/>
          </a:xfrm>
        </p:grpSpPr>
        <p:sp>
          <p:nvSpPr>
            <p:cNvPr id="65" name="Oval"/>
            <p:cNvSpPr>
              <a:spLocks/>
            </p:cNvSpPr>
            <p:nvPr/>
          </p:nvSpPr>
          <p:spPr>
            <a:xfrm>
              <a:off x="7028455" y="3198115"/>
              <a:ext cx="822597" cy="822598"/>
            </a:xfrm>
            <a:prstGeom prst="ellipse">
              <a:avLst/>
            </a:prstGeom>
            <a:solidFill>
              <a:srgbClr val="EAB908"/>
            </a:solidFill>
            <a:ln w="57150" cap="flat" cmpd="sng">
              <a:solidFill>
                <a:srgbClr val="FFFFFF"/>
              </a:solidFill>
              <a:prstDash val="solid"/>
              <a:miter/>
            </a:ln>
          </p:spPr>
        </p:sp>
        <p:sp>
          <p:nvSpPr>
            <p:cNvPr id="66" name="曲线"/>
            <p:cNvSpPr>
              <a:spLocks/>
            </p:cNvSpPr>
            <p:nvPr/>
          </p:nvSpPr>
          <p:spPr>
            <a:xfrm>
              <a:off x="7222052" y="3395207"/>
              <a:ext cx="435404" cy="428414"/>
            </a:xfrm>
            <a:custGeom>
              <a:avLst/>
              <a:gdLst>
                <a:gd name="T1" fmla="*/ 0 w 21600"/>
                <a:gd name="T2" fmla="*/ 0 h 21600"/>
                <a:gd name="T3" fmla="*/ 21600 w 21600"/>
                <a:gd name="T4" fmla="*/ 21600 h 21600"/>
              </a:gdLst>
              <a:ahLst/>
              <a:cxnLst/>
              <a:rect l="T1" t="T2" r="T3" b="T4"/>
              <a:pathLst>
                <a:path w="21600" h="21600">
                  <a:moveTo>
                    <a:pt x="14305" y="15073"/>
                  </a:moveTo>
                  <a:lnTo>
                    <a:pt x="17476" y="15073"/>
                  </a:lnTo>
                  <a:lnTo>
                    <a:pt x="17476" y="18294"/>
                  </a:lnTo>
                  <a:lnTo>
                    <a:pt x="14305" y="18294"/>
                  </a:lnTo>
                </a:path>
                <a:path w="21600" h="21600">
                  <a:moveTo>
                    <a:pt x="9204" y="15073"/>
                  </a:moveTo>
                  <a:lnTo>
                    <a:pt x="12376" y="15073"/>
                  </a:lnTo>
                  <a:lnTo>
                    <a:pt x="12376" y="18294"/>
                  </a:lnTo>
                  <a:lnTo>
                    <a:pt x="9204" y="18294"/>
                  </a:lnTo>
                </a:path>
                <a:path w="21600" h="21600">
                  <a:moveTo>
                    <a:pt x="4119" y="15073"/>
                  </a:moveTo>
                  <a:lnTo>
                    <a:pt x="7294" y="15073"/>
                  </a:lnTo>
                  <a:lnTo>
                    <a:pt x="7294" y="18294"/>
                  </a:lnTo>
                  <a:lnTo>
                    <a:pt x="4119" y="18294"/>
                  </a:lnTo>
                </a:path>
                <a:path w="21600" h="21600">
                  <a:moveTo>
                    <a:pt x="14305" y="10588"/>
                  </a:moveTo>
                  <a:lnTo>
                    <a:pt x="17476" y="10588"/>
                  </a:lnTo>
                  <a:lnTo>
                    <a:pt x="17476" y="13809"/>
                  </a:lnTo>
                  <a:lnTo>
                    <a:pt x="14305" y="13809"/>
                  </a:lnTo>
                </a:path>
                <a:path w="21600" h="21600">
                  <a:moveTo>
                    <a:pt x="9204" y="10588"/>
                  </a:moveTo>
                  <a:lnTo>
                    <a:pt x="12376" y="10588"/>
                  </a:lnTo>
                  <a:lnTo>
                    <a:pt x="12376" y="13809"/>
                  </a:lnTo>
                  <a:lnTo>
                    <a:pt x="9204" y="13809"/>
                  </a:lnTo>
                </a:path>
                <a:path w="21600" h="21600">
                  <a:moveTo>
                    <a:pt x="4119" y="10588"/>
                  </a:moveTo>
                  <a:lnTo>
                    <a:pt x="7294" y="10588"/>
                  </a:lnTo>
                  <a:lnTo>
                    <a:pt x="7294" y="13809"/>
                  </a:lnTo>
                  <a:lnTo>
                    <a:pt x="4119" y="13809"/>
                  </a:lnTo>
                </a:path>
                <a:path w="21600" h="21600">
                  <a:moveTo>
                    <a:pt x="2640" y="9610"/>
                  </a:moveTo>
                  <a:cubicBezTo>
                    <a:pt x="2459" y="9610"/>
                    <a:pt x="2309" y="9761"/>
                    <a:pt x="2309" y="9948"/>
                  </a:cubicBezTo>
                  <a:lnTo>
                    <a:pt x="2309" y="18935"/>
                  </a:lnTo>
                  <a:cubicBezTo>
                    <a:pt x="2309" y="19120"/>
                    <a:pt x="2459" y="19272"/>
                    <a:pt x="2640" y="19272"/>
                  </a:cubicBezTo>
                  <a:lnTo>
                    <a:pt x="18957" y="19272"/>
                  </a:lnTo>
                  <a:cubicBezTo>
                    <a:pt x="19140" y="19272"/>
                    <a:pt x="19290" y="19120"/>
                    <a:pt x="19290" y="18935"/>
                  </a:cubicBezTo>
                  <a:lnTo>
                    <a:pt x="19290" y="9948"/>
                  </a:lnTo>
                  <a:cubicBezTo>
                    <a:pt x="19290" y="9761"/>
                    <a:pt x="19140" y="9610"/>
                    <a:pt x="18957" y="9610"/>
                  </a:cubicBezTo>
                </a:path>
                <a:path w="21600" h="21600">
                  <a:moveTo>
                    <a:pt x="15768" y="1315"/>
                  </a:moveTo>
                  <a:cubicBezTo>
                    <a:pt x="15585" y="1315"/>
                    <a:pt x="15435" y="1465"/>
                    <a:pt x="15435" y="1652"/>
                  </a:cubicBezTo>
                  <a:lnTo>
                    <a:pt x="15435" y="6222"/>
                  </a:lnTo>
                  <a:cubicBezTo>
                    <a:pt x="15435" y="6406"/>
                    <a:pt x="15585" y="6558"/>
                    <a:pt x="15768" y="6558"/>
                  </a:cubicBezTo>
                  <a:lnTo>
                    <a:pt x="17080" y="6558"/>
                  </a:lnTo>
                  <a:cubicBezTo>
                    <a:pt x="17262" y="6558"/>
                    <a:pt x="17412" y="6406"/>
                    <a:pt x="17412" y="6222"/>
                  </a:cubicBezTo>
                  <a:lnTo>
                    <a:pt x="17412" y="1652"/>
                  </a:lnTo>
                  <a:cubicBezTo>
                    <a:pt x="17412" y="1465"/>
                    <a:pt x="17262" y="1315"/>
                    <a:pt x="17080" y="1315"/>
                  </a:cubicBezTo>
                </a:path>
                <a:path w="21600" h="21600">
                  <a:moveTo>
                    <a:pt x="4518" y="1315"/>
                  </a:moveTo>
                  <a:cubicBezTo>
                    <a:pt x="4335" y="1315"/>
                    <a:pt x="4187" y="1465"/>
                    <a:pt x="4187" y="1652"/>
                  </a:cubicBezTo>
                  <a:lnTo>
                    <a:pt x="4187" y="6222"/>
                  </a:lnTo>
                  <a:cubicBezTo>
                    <a:pt x="4187" y="6406"/>
                    <a:pt x="4335" y="6558"/>
                    <a:pt x="4518" y="6558"/>
                  </a:cubicBezTo>
                  <a:lnTo>
                    <a:pt x="5830" y="6558"/>
                  </a:lnTo>
                  <a:cubicBezTo>
                    <a:pt x="6014" y="6558"/>
                    <a:pt x="6164" y="6406"/>
                    <a:pt x="6164" y="6222"/>
                  </a:cubicBezTo>
                  <a:lnTo>
                    <a:pt x="6164" y="1652"/>
                  </a:lnTo>
                  <a:cubicBezTo>
                    <a:pt x="6164" y="1465"/>
                    <a:pt x="6014" y="1315"/>
                    <a:pt x="5830" y="1315"/>
                  </a:cubicBezTo>
                </a:path>
                <a:path w="21600" h="21600">
                  <a:moveTo>
                    <a:pt x="3338" y="0"/>
                  </a:moveTo>
                  <a:lnTo>
                    <a:pt x="7011" y="0"/>
                  </a:lnTo>
                  <a:cubicBezTo>
                    <a:pt x="7259" y="0"/>
                    <a:pt x="7460" y="201"/>
                    <a:pt x="7460" y="455"/>
                  </a:cubicBezTo>
                  <a:lnTo>
                    <a:pt x="7460" y="3101"/>
                  </a:lnTo>
                  <a:lnTo>
                    <a:pt x="14138" y="3101"/>
                  </a:lnTo>
                  <a:lnTo>
                    <a:pt x="14138" y="455"/>
                  </a:lnTo>
                  <a:cubicBezTo>
                    <a:pt x="14138" y="201"/>
                    <a:pt x="14338" y="0"/>
                    <a:pt x="14571" y="0"/>
                  </a:cubicBezTo>
                  <a:lnTo>
                    <a:pt x="18260" y="0"/>
                  </a:lnTo>
                  <a:cubicBezTo>
                    <a:pt x="18509" y="0"/>
                    <a:pt x="18707" y="201"/>
                    <a:pt x="18707" y="455"/>
                  </a:cubicBezTo>
                  <a:lnTo>
                    <a:pt x="18707" y="3101"/>
                  </a:lnTo>
                  <a:lnTo>
                    <a:pt x="21150" y="3101"/>
                  </a:lnTo>
                  <a:cubicBezTo>
                    <a:pt x="21399" y="3101"/>
                    <a:pt x="21600" y="3304"/>
                    <a:pt x="21600" y="3557"/>
                  </a:cubicBezTo>
                  <a:lnTo>
                    <a:pt x="21600" y="21160"/>
                  </a:lnTo>
                  <a:cubicBezTo>
                    <a:pt x="21600" y="21397"/>
                    <a:pt x="21399" y="21600"/>
                    <a:pt x="21150" y="21600"/>
                  </a:cubicBezTo>
                  <a:lnTo>
                    <a:pt x="448" y="21600"/>
                  </a:lnTo>
                  <a:cubicBezTo>
                    <a:pt x="198" y="21600"/>
                    <a:pt x="0" y="21397"/>
                    <a:pt x="0" y="21160"/>
                  </a:cubicBezTo>
                  <a:lnTo>
                    <a:pt x="0" y="3557"/>
                  </a:lnTo>
                  <a:cubicBezTo>
                    <a:pt x="0" y="3304"/>
                    <a:pt x="198" y="3101"/>
                    <a:pt x="448" y="3101"/>
                  </a:cubicBezTo>
                  <a:lnTo>
                    <a:pt x="2891" y="3101"/>
                  </a:lnTo>
                  <a:lnTo>
                    <a:pt x="2891" y="455"/>
                  </a:lnTo>
                  <a:cubicBezTo>
                    <a:pt x="2891" y="201"/>
                    <a:pt x="3090" y="0"/>
                    <a:pt x="3338" y="0"/>
                  </a:cubicBezTo>
                  <a:close/>
                </a:path>
              </a:pathLst>
            </a:custGeom>
            <a:solidFill>
              <a:schemeClr val="bg1"/>
            </a:solidFill>
            <a:ln w="12700" cap="flat" cmpd="sng">
              <a:noFill/>
              <a:prstDash val="solid"/>
              <a:round/>
            </a:ln>
          </p:spPr>
        </p:sp>
      </p:grpSp>
      <p:grpSp>
        <p:nvGrpSpPr>
          <p:cNvPr id="70" name="Combination"/>
          <p:cNvGrpSpPr>
            <a:grpSpLocks/>
          </p:cNvGrpSpPr>
          <p:nvPr/>
        </p:nvGrpSpPr>
        <p:grpSpPr>
          <a:xfrm>
            <a:off x="4350391" y="3916032"/>
            <a:ext cx="822598" cy="822598"/>
            <a:chOff x="4350391" y="3916032"/>
            <a:chExt cx="822598" cy="822598"/>
          </a:xfrm>
        </p:grpSpPr>
        <p:sp>
          <p:nvSpPr>
            <p:cNvPr id="68" name="Oval"/>
            <p:cNvSpPr>
              <a:spLocks/>
            </p:cNvSpPr>
            <p:nvPr/>
          </p:nvSpPr>
          <p:spPr>
            <a:xfrm>
              <a:off x="4350391" y="3916032"/>
              <a:ext cx="822598" cy="822598"/>
            </a:xfrm>
            <a:prstGeom prst="ellipse">
              <a:avLst/>
            </a:prstGeom>
            <a:solidFill>
              <a:schemeClr val="accent3"/>
            </a:solidFill>
            <a:ln w="57150" cap="flat" cmpd="sng">
              <a:solidFill>
                <a:srgbClr val="FFFFFF"/>
              </a:solidFill>
              <a:prstDash val="solid"/>
              <a:miter/>
            </a:ln>
          </p:spPr>
        </p:sp>
        <p:sp>
          <p:nvSpPr>
            <p:cNvPr id="69" name="曲线"/>
            <p:cNvSpPr>
              <a:spLocks/>
            </p:cNvSpPr>
            <p:nvPr/>
          </p:nvSpPr>
          <p:spPr>
            <a:xfrm>
              <a:off x="4532459" y="4057331"/>
              <a:ext cx="458462" cy="540000"/>
            </a:xfrm>
            <a:custGeom>
              <a:avLst/>
              <a:gdLst>
                <a:gd name="T1" fmla="*/ 0 w 21600"/>
                <a:gd name="T2" fmla="*/ 0 h 21600"/>
                <a:gd name="T3" fmla="*/ 21600 w 21600"/>
                <a:gd name="T4" fmla="*/ 21600 h 21600"/>
              </a:gdLst>
              <a:ahLst/>
              <a:cxnLst/>
              <a:rect l="T1" t="T2" r="T3" b="T4"/>
              <a:pathLst>
                <a:path w="21600" h="21600">
                  <a:moveTo>
                    <a:pt x="6906" y="9336"/>
                  </a:moveTo>
                  <a:lnTo>
                    <a:pt x="6906" y="17241"/>
                  </a:lnTo>
                  <a:cubicBezTo>
                    <a:pt x="6906" y="17616"/>
                    <a:pt x="6611" y="17927"/>
                    <a:pt x="6244" y="18051"/>
                  </a:cubicBezTo>
                  <a:cubicBezTo>
                    <a:pt x="5656" y="18176"/>
                    <a:pt x="4995" y="18299"/>
                    <a:pt x="4261" y="18299"/>
                  </a:cubicBezTo>
                  <a:lnTo>
                    <a:pt x="4261" y="18299"/>
                  </a:lnTo>
                  <a:cubicBezTo>
                    <a:pt x="2276" y="18299"/>
                    <a:pt x="73" y="17552"/>
                    <a:pt x="73" y="15996"/>
                  </a:cubicBezTo>
                  <a:lnTo>
                    <a:pt x="73" y="5850"/>
                  </a:lnTo>
                  <a:cubicBezTo>
                    <a:pt x="0" y="5166"/>
                    <a:pt x="293" y="3921"/>
                    <a:pt x="1689" y="3235"/>
                  </a:cubicBezTo>
                  <a:cubicBezTo>
                    <a:pt x="2276" y="2924"/>
                    <a:pt x="5656" y="1119"/>
                    <a:pt x="7346" y="185"/>
                  </a:cubicBezTo>
                  <a:cubicBezTo>
                    <a:pt x="7640" y="0"/>
                    <a:pt x="8007" y="0"/>
                    <a:pt x="8374" y="185"/>
                  </a:cubicBezTo>
                  <a:cubicBezTo>
                    <a:pt x="8668" y="310"/>
                    <a:pt x="8889" y="560"/>
                    <a:pt x="8889" y="871"/>
                  </a:cubicBezTo>
                  <a:lnTo>
                    <a:pt x="8889" y="2116"/>
                  </a:lnTo>
                  <a:cubicBezTo>
                    <a:pt x="8889" y="2552"/>
                    <a:pt x="8448" y="2924"/>
                    <a:pt x="7861" y="2924"/>
                  </a:cubicBezTo>
                  <a:cubicBezTo>
                    <a:pt x="7419" y="2924"/>
                    <a:pt x="7126" y="2676"/>
                    <a:pt x="6978" y="2365"/>
                  </a:cubicBezTo>
                  <a:cubicBezTo>
                    <a:pt x="5436" y="3235"/>
                    <a:pt x="3158" y="4418"/>
                    <a:pt x="2644" y="4729"/>
                  </a:cubicBezTo>
                  <a:cubicBezTo>
                    <a:pt x="2129" y="4916"/>
                    <a:pt x="1983" y="5415"/>
                    <a:pt x="1983" y="5602"/>
                  </a:cubicBezTo>
                  <a:cubicBezTo>
                    <a:pt x="1983" y="5913"/>
                    <a:pt x="2056" y="6099"/>
                    <a:pt x="2203" y="6224"/>
                  </a:cubicBezTo>
                  <a:cubicBezTo>
                    <a:pt x="2571" y="6536"/>
                    <a:pt x="3673" y="6349"/>
                    <a:pt x="4995" y="5726"/>
                  </a:cubicBezTo>
                  <a:cubicBezTo>
                    <a:pt x="6171" y="5104"/>
                    <a:pt x="12195" y="1741"/>
                    <a:pt x="12195" y="1679"/>
                  </a:cubicBezTo>
                  <a:cubicBezTo>
                    <a:pt x="12563" y="1493"/>
                    <a:pt x="12929" y="1493"/>
                    <a:pt x="13223" y="1618"/>
                  </a:cubicBezTo>
                  <a:cubicBezTo>
                    <a:pt x="13518" y="1805"/>
                    <a:pt x="13738" y="2054"/>
                    <a:pt x="13738" y="2365"/>
                  </a:cubicBezTo>
                  <a:lnTo>
                    <a:pt x="13738" y="2488"/>
                  </a:lnTo>
                  <a:cubicBezTo>
                    <a:pt x="13738" y="2738"/>
                    <a:pt x="13591" y="2987"/>
                    <a:pt x="13296" y="3174"/>
                  </a:cubicBezTo>
                  <a:cubicBezTo>
                    <a:pt x="13296" y="3174"/>
                    <a:pt x="9183" y="5539"/>
                    <a:pt x="8816" y="5726"/>
                  </a:cubicBezTo>
                  <a:cubicBezTo>
                    <a:pt x="7346" y="6473"/>
                    <a:pt x="6906" y="7407"/>
                    <a:pt x="6906" y="9336"/>
                  </a:cubicBezTo>
                </a:path>
                <a:path w="21600" h="21600">
                  <a:moveTo>
                    <a:pt x="21600" y="5291"/>
                  </a:moveTo>
                  <a:lnTo>
                    <a:pt x="21600" y="16059"/>
                  </a:lnTo>
                  <a:cubicBezTo>
                    <a:pt x="21600" y="16371"/>
                    <a:pt x="21379" y="16619"/>
                    <a:pt x="21158" y="16806"/>
                  </a:cubicBezTo>
                  <a:cubicBezTo>
                    <a:pt x="21158" y="16806"/>
                    <a:pt x="15428" y="20540"/>
                    <a:pt x="14252" y="21164"/>
                  </a:cubicBezTo>
                  <a:cubicBezTo>
                    <a:pt x="13664" y="21474"/>
                    <a:pt x="12856" y="21600"/>
                    <a:pt x="12048" y="21600"/>
                  </a:cubicBezTo>
                  <a:cubicBezTo>
                    <a:pt x="9991" y="21600"/>
                    <a:pt x="7861" y="20666"/>
                    <a:pt x="7861" y="19110"/>
                  </a:cubicBezTo>
                  <a:lnTo>
                    <a:pt x="7861" y="9088"/>
                  </a:lnTo>
                  <a:lnTo>
                    <a:pt x="7861" y="8838"/>
                  </a:lnTo>
                  <a:cubicBezTo>
                    <a:pt x="7861" y="8838"/>
                    <a:pt x="7861" y="8838"/>
                    <a:pt x="7861" y="8838"/>
                  </a:cubicBezTo>
                  <a:cubicBezTo>
                    <a:pt x="7861" y="8216"/>
                    <a:pt x="8081" y="7344"/>
                    <a:pt x="9403" y="6536"/>
                  </a:cubicBezTo>
                  <a:cubicBezTo>
                    <a:pt x="10211" y="6038"/>
                    <a:pt x="14986" y="3235"/>
                    <a:pt x="15134" y="3111"/>
                  </a:cubicBezTo>
                  <a:cubicBezTo>
                    <a:pt x="15428" y="2987"/>
                    <a:pt x="15868" y="2924"/>
                    <a:pt x="16163" y="3111"/>
                  </a:cubicBezTo>
                  <a:cubicBezTo>
                    <a:pt x="16456" y="3235"/>
                    <a:pt x="16676" y="3547"/>
                    <a:pt x="16676" y="3797"/>
                  </a:cubicBezTo>
                  <a:lnTo>
                    <a:pt x="16676" y="5041"/>
                  </a:lnTo>
                  <a:cubicBezTo>
                    <a:pt x="16676" y="5477"/>
                    <a:pt x="16236" y="5850"/>
                    <a:pt x="15721" y="5850"/>
                  </a:cubicBezTo>
                  <a:cubicBezTo>
                    <a:pt x="15281" y="5850"/>
                    <a:pt x="14986" y="5663"/>
                    <a:pt x="14840" y="5352"/>
                  </a:cubicBezTo>
                  <a:cubicBezTo>
                    <a:pt x="13296" y="6224"/>
                    <a:pt x="11093" y="7531"/>
                    <a:pt x="10579" y="7843"/>
                  </a:cubicBezTo>
                  <a:cubicBezTo>
                    <a:pt x="9918" y="8216"/>
                    <a:pt x="9844" y="8526"/>
                    <a:pt x="9844" y="8838"/>
                  </a:cubicBezTo>
                  <a:cubicBezTo>
                    <a:pt x="9844" y="9088"/>
                    <a:pt x="9918" y="9274"/>
                    <a:pt x="10064" y="9399"/>
                  </a:cubicBezTo>
                  <a:cubicBezTo>
                    <a:pt x="10579" y="9771"/>
                    <a:pt x="11901" y="9647"/>
                    <a:pt x="13223" y="8963"/>
                  </a:cubicBezTo>
                  <a:cubicBezTo>
                    <a:pt x="14252" y="8465"/>
                    <a:pt x="18439" y="5663"/>
                    <a:pt x="19982" y="4668"/>
                  </a:cubicBezTo>
                  <a:cubicBezTo>
                    <a:pt x="20276" y="4480"/>
                    <a:pt x="20717" y="4418"/>
                    <a:pt x="21011" y="4544"/>
                  </a:cubicBezTo>
                  <a:cubicBezTo>
                    <a:pt x="21379" y="4729"/>
                    <a:pt x="21600" y="4979"/>
                    <a:pt x="21600" y="5291"/>
                  </a:cubicBezTo>
                </a:path>
                <a:path w="21600" h="21600">
                  <a:moveTo>
                    <a:pt x="19615" y="9024"/>
                  </a:moveTo>
                  <a:lnTo>
                    <a:pt x="14766" y="12199"/>
                  </a:lnTo>
                  <a:lnTo>
                    <a:pt x="14766" y="13880"/>
                  </a:lnTo>
                  <a:lnTo>
                    <a:pt x="19615" y="10644"/>
                  </a:lnTo>
                  <a:lnTo>
                    <a:pt x="19615" y="9024"/>
                  </a:lnTo>
                  <a:close/>
                </a:path>
              </a:pathLst>
            </a:custGeom>
            <a:solidFill>
              <a:schemeClr val="bg1"/>
            </a:solidFill>
            <a:ln w="12700" cap="flat" cmpd="sng">
              <a:noFill/>
              <a:prstDash val="solid"/>
              <a:round/>
            </a:ln>
          </p:spPr>
        </p:sp>
      </p:grpSp>
      <p:grpSp>
        <p:nvGrpSpPr>
          <p:cNvPr id="73" name="Combination"/>
          <p:cNvGrpSpPr>
            <a:grpSpLocks/>
          </p:cNvGrpSpPr>
          <p:nvPr/>
        </p:nvGrpSpPr>
        <p:grpSpPr>
          <a:xfrm>
            <a:off x="1672327" y="3198115"/>
            <a:ext cx="822599" cy="822598"/>
            <a:chOff x="1672327" y="3198115"/>
            <a:chExt cx="822599" cy="822598"/>
          </a:xfrm>
        </p:grpSpPr>
        <p:sp>
          <p:nvSpPr>
            <p:cNvPr id="71" name="Oval"/>
            <p:cNvSpPr>
              <a:spLocks/>
            </p:cNvSpPr>
            <p:nvPr/>
          </p:nvSpPr>
          <p:spPr>
            <a:xfrm>
              <a:off x="1672327" y="3198115"/>
              <a:ext cx="822599" cy="822598"/>
            </a:xfrm>
            <a:prstGeom prst="ellipse">
              <a:avLst/>
            </a:prstGeom>
            <a:solidFill>
              <a:srgbClr val="EAB908"/>
            </a:solidFill>
            <a:ln w="57150" cap="flat" cmpd="sng">
              <a:solidFill>
                <a:srgbClr val="FFFFFF"/>
              </a:solidFill>
              <a:prstDash val="solid"/>
              <a:miter/>
            </a:ln>
          </p:spPr>
        </p:sp>
        <p:sp>
          <p:nvSpPr>
            <p:cNvPr id="72" name="曲线"/>
            <p:cNvSpPr>
              <a:spLocks/>
            </p:cNvSpPr>
            <p:nvPr/>
          </p:nvSpPr>
          <p:spPr>
            <a:xfrm>
              <a:off x="1860372" y="3407405"/>
              <a:ext cx="446505" cy="404016"/>
            </a:xfrm>
            <a:custGeom>
              <a:avLst/>
              <a:gdLst>
                <a:gd name="T1" fmla="*/ 0 w 21600"/>
                <a:gd name="T2" fmla="*/ 0 h 21600"/>
                <a:gd name="T3" fmla="*/ 21600 w 21600"/>
                <a:gd name="T4" fmla="*/ 21600 h 21600"/>
              </a:gdLst>
              <a:ahLst/>
              <a:cxnLst/>
              <a:rect l="T1" t="T2" r="T3" b="T4"/>
              <a:pathLst>
                <a:path w="21600" h="21600">
                  <a:moveTo>
                    <a:pt x="14512" y="9943"/>
                  </a:moveTo>
                  <a:lnTo>
                    <a:pt x="17886" y="9943"/>
                  </a:lnTo>
                  <a:lnTo>
                    <a:pt x="17886" y="13645"/>
                  </a:lnTo>
                  <a:lnTo>
                    <a:pt x="14512" y="13645"/>
                  </a:lnTo>
                </a:path>
                <a:path w="21600" h="21600">
                  <a:moveTo>
                    <a:pt x="3712" y="8095"/>
                  </a:moveTo>
                  <a:lnTo>
                    <a:pt x="7087" y="8095"/>
                  </a:lnTo>
                  <a:lnTo>
                    <a:pt x="7087" y="13645"/>
                  </a:lnTo>
                  <a:lnTo>
                    <a:pt x="3712" y="13645"/>
                  </a:lnTo>
                </a:path>
                <a:path w="21600" h="21600">
                  <a:moveTo>
                    <a:pt x="9111" y="3779"/>
                  </a:moveTo>
                  <a:lnTo>
                    <a:pt x="12487" y="3779"/>
                  </a:lnTo>
                  <a:lnTo>
                    <a:pt x="12487" y="13645"/>
                  </a:lnTo>
                  <a:lnTo>
                    <a:pt x="9111" y="13645"/>
                  </a:lnTo>
                </a:path>
                <a:path w="21600" h="21600">
                  <a:moveTo>
                    <a:pt x="1347" y="1491"/>
                  </a:moveTo>
                  <a:lnTo>
                    <a:pt x="1347" y="15951"/>
                  </a:lnTo>
                  <a:lnTo>
                    <a:pt x="20251" y="15951"/>
                  </a:lnTo>
                  <a:lnTo>
                    <a:pt x="20251" y="1491"/>
                  </a:lnTo>
                </a:path>
                <a:path w="21600" h="21600">
                  <a:moveTo>
                    <a:pt x="674" y="0"/>
                  </a:moveTo>
                  <a:lnTo>
                    <a:pt x="20925" y="0"/>
                  </a:lnTo>
                  <a:cubicBezTo>
                    <a:pt x="21295" y="0"/>
                    <a:pt x="21600" y="335"/>
                    <a:pt x="21600" y="743"/>
                  </a:cubicBezTo>
                  <a:lnTo>
                    <a:pt x="21600" y="16696"/>
                  </a:lnTo>
                  <a:cubicBezTo>
                    <a:pt x="21600" y="17105"/>
                    <a:pt x="21295" y="17441"/>
                    <a:pt x="20925" y="17441"/>
                  </a:cubicBezTo>
                  <a:lnTo>
                    <a:pt x="11476" y="17441"/>
                  </a:lnTo>
                  <a:lnTo>
                    <a:pt x="11476" y="20110"/>
                  </a:lnTo>
                  <a:lnTo>
                    <a:pt x="16032" y="20110"/>
                  </a:lnTo>
                  <a:lnTo>
                    <a:pt x="16032" y="21600"/>
                  </a:lnTo>
                  <a:lnTo>
                    <a:pt x="5566" y="21600"/>
                  </a:lnTo>
                  <a:lnTo>
                    <a:pt x="5566" y="20110"/>
                  </a:lnTo>
                  <a:lnTo>
                    <a:pt x="10123" y="20110"/>
                  </a:lnTo>
                  <a:lnTo>
                    <a:pt x="10123" y="17441"/>
                  </a:lnTo>
                  <a:lnTo>
                    <a:pt x="674" y="17441"/>
                  </a:lnTo>
                  <a:cubicBezTo>
                    <a:pt x="303" y="17441"/>
                    <a:pt x="0" y="17105"/>
                    <a:pt x="0" y="16696"/>
                  </a:cubicBezTo>
                  <a:lnTo>
                    <a:pt x="0" y="743"/>
                  </a:lnTo>
                  <a:cubicBezTo>
                    <a:pt x="0" y="335"/>
                    <a:pt x="303" y="0"/>
                    <a:pt x="674" y="0"/>
                  </a:cubicBezTo>
                  <a:close/>
                </a:path>
              </a:pathLst>
            </a:custGeom>
            <a:solidFill>
              <a:schemeClr val="bg1"/>
            </a:solidFill>
            <a:ln w="12700" cap="flat" cmpd="sng">
              <a:noFill/>
              <a:prstDash val="solid"/>
              <a:round/>
            </a:ln>
          </p:spPr>
        </p:sp>
      </p:grpSp>
      <p:grpSp>
        <p:nvGrpSpPr>
          <p:cNvPr id="76" name="Combination"/>
          <p:cNvGrpSpPr>
            <a:grpSpLocks/>
          </p:cNvGrpSpPr>
          <p:nvPr/>
        </p:nvGrpSpPr>
        <p:grpSpPr>
          <a:xfrm>
            <a:off x="9706519" y="3916030"/>
            <a:ext cx="822599" cy="822598"/>
            <a:chOff x="9706519" y="3916030"/>
            <a:chExt cx="822599" cy="822598"/>
          </a:xfrm>
        </p:grpSpPr>
        <p:sp>
          <p:nvSpPr>
            <p:cNvPr id="74" name="Oval"/>
            <p:cNvSpPr>
              <a:spLocks/>
            </p:cNvSpPr>
            <p:nvPr/>
          </p:nvSpPr>
          <p:spPr>
            <a:xfrm>
              <a:off x="9706519" y="3916030"/>
              <a:ext cx="822599" cy="822598"/>
            </a:xfrm>
            <a:prstGeom prst="ellipse">
              <a:avLst/>
            </a:prstGeom>
            <a:solidFill>
              <a:schemeClr val="accent3"/>
            </a:solidFill>
            <a:ln w="57150" cap="flat" cmpd="sng">
              <a:solidFill>
                <a:srgbClr val="FFFFFF"/>
              </a:solidFill>
              <a:prstDash val="solid"/>
              <a:miter/>
            </a:ln>
          </p:spPr>
        </p:sp>
        <p:sp>
          <p:nvSpPr>
            <p:cNvPr id="75" name="曲线"/>
            <p:cNvSpPr>
              <a:spLocks/>
            </p:cNvSpPr>
            <p:nvPr/>
          </p:nvSpPr>
          <p:spPr>
            <a:xfrm>
              <a:off x="9922780" y="4075330"/>
              <a:ext cx="390076" cy="503999"/>
            </a:xfrm>
            <a:custGeom>
              <a:avLst/>
              <a:gdLst>
                <a:gd name="T1" fmla="*/ 0 w 21600"/>
                <a:gd name="T2" fmla="*/ 0 h 21600"/>
                <a:gd name="T3" fmla="*/ 21600 w 21600"/>
                <a:gd name="T4" fmla="*/ 21600 h 21600"/>
              </a:gdLst>
              <a:ahLst/>
              <a:cxnLst/>
              <a:rect l="T1" t="T2" r="T3" b="T4"/>
              <a:pathLst>
                <a:path w="21600" h="21600">
                  <a:moveTo>
                    <a:pt x="17510" y="19322"/>
                  </a:moveTo>
                  <a:lnTo>
                    <a:pt x="17510" y="20951"/>
                  </a:lnTo>
                  <a:cubicBezTo>
                    <a:pt x="17510" y="21313"/>
                    <a:pt x="17129" y="21600"/>
                    <a:pt x="16673" y="21600"/>
                  </a:cubicBezTo>
                  <a:lnTo>
                    <a:pt x="836" y="21600"/>
                  </a:lnTo>
                  <a:cubicBezTo>
                    <a:pt x="379" y="21600"/>
                    <a:pt x="0" y="21313"/>
                    <a:pt x="0" y="20951"/>
                  </a:cubicBezTo>
                  <a:lnTo>
                    <a:pt x="0" y="4051"/>
                  </a:lnTo>
                  <a:cubicBezTo>
                    <a:pt x="0" y="3689"/>
                    <a:pt x="379" y="3403"/>
                    <a:pt x="836" y="3403"/>
                  </a:cubicBezTo>
                  <a:lnTo>
                    <a:pt x="2642" y="3403"/>
                  </a:lnTo>
                  <a:lnTo>
                    <a:pt x="2642" y="17858"/>
                  </a:lnTo>
                  <a:cubicBezTo>
                    <a:pt x="2642" y="18666"/>
                    <a:pt x="3491" y="19322"/>
                    <a:pt x="4535" y="19322"/>
                  </a:cubicBezTo>
                  <a:lnTo>
                    <a:pt x="17510" y="19322"/>
                  </a:lnTo>
                </a:path>
                <a:path w="21600" h="21600">
                  <a:moveTo>
                    <a:pt x="21600" y="336"/>
                  </a:moveTo>
                  <a:lnTo>
                    <a:pt x="21600" y="17858"/>
                  </a:lnTo>
                  <a:cubicBezTo>
                    <a:pt x="21600" y="18053"/>
                    <a:pt x="21404" y="18203"/>
                    <a:pt x="21164" y="18203"/>
                  </a:cubicBezTo>
                  <a:lnTo>
                    <a:pt x="4535" y="18203"/>
                  </a:lnTo>
                  <a:cubicBezTo>
                    <a:pt x="4285" y="18203"/>
                    <a:pt x="4089" y="18053"/>
                    <a:pt x="4089" y="17858"/>
                  </a:cubicBezTo>
                  <a:lnTo>
                    <a:pt x="4089" y="336"/>
                  </a:lnTo>
                  <a:cubicBezTo>
                    <a:pt x="4089" y="150"/>
                    <a:pt x="4285" y="0"/>
                    <a:pt x="4535" y="0"/>
                  </a:cubicBezTo>
                  <a:lnTo>
                    <a:pt x="21164" y="0"/>
                  </a:lnTo>
                  <a:cubicBezTo>
                    <a:pt x="21404" y="0"/>
                    <a:pt x="21600" y="150"/>
                    <a:pt x="21600" y="336"/>
                  </a:cubicBezTo>
                </a:path>
                <a:path w="21600" h="21600">
                  <a:moveTo>
                    <a:pt x="19326" y="12749"/>
                  </a:moveTo>
                  <a:cubicBezTo>
                    <a:pt x="19326" y="12437"/>
                    <a:pt x="19011" y="12186"/>
                    <a:pt x="18608" y="12186"/>
                  </a:cubicBezTo>
                  <a:lnTo>
                    <a:pt x="7091" y="12186"/>
                  </a:lnTo>
                  <a:cubicBezTo>
                    <a:pt x="6688" y="12186"/>
                    <a:pt x="6362" y="12437"/>
                    <a:pt x="6362" y="12749"/>
                  </a:cubicBezTo>
                  <a:cubicBezTo>
                    <a:pt x="6362" y="13051"/>
                    <a:pt x="6688" y="13303"/>
                    <a:pt x="7091" y="13303"/>
                  </a:cubicBezTo>
                  <a:lnTo>
                    <a:pt x="18608" y="13303"/>
                  </a:lnTo>
                  <a:cubicBezTo>
                    <a:pt x="19011" y="13303"/>
                    <a:pt x="19326" y="13051"/>
                    <a:pt x="19326" y="12749"/>
                  </a:cubicBezTo>
                </a:path>
                <a:path w="21600" h="21600">
                  <a:moveTo>
                    <a:pt x="19326" y="9361"/>
                  </a:moveTo>
                  <a:cubicBezTo>
                    <a:pt x="19326" y="9059"/>
                    <a:pt x="19011" y="8807"/>
                    <a:pt x="18608" y="8807"/>
                  </a:cubicBezTo>
                  <a:lnTo>
                    <a:pt x="7091" y="8807"/>
                  </a:lnTo>
                  <a:cubicBezTo>
                    <a:pt x="6688" y="8807"/>
                    <a:pt x="6362" y="9059"/>
                    <a:pt x="6362" y="9361"/>
                  </a:cubicBezTo>
                  <a:cubicBezTo>
                    <a:pt x="6362" y="9673"/>
                    <a:pt x="6688" y="9925"/>
                    <a:pt x="7091" y="9925"/>
                  </a:cubicBezTo>
                  <a:lnTo>
                    <a:pt x="18608" y="9925"/>
                  </a:lnTo>
                  <a:cubicBezTo>
                    <a:pt x="19011" y="9925"/>
                    <a:pt x="19326" y="9673"/>
                    <a:pt x="19326" y="9361"/>
                  </a:cubicBezTo>
                </a:path>
                <a:path w="21600" h="21600">
                  <a:moveTo>
                    <a:pt x="19326" y="5984"/>
                  </a:moveTo>
                  <a:cubicBezTo>
                    <a:pt x="19326" y="5672"/>
                    <a:pt x="19011" y="5428"/>
                    <a:pt x="18608" y="5428"/>
                  </a:cubicBezTo>
                  <a:lnTo>
                    <a:pt x="7091" y="5428"/>
                  </a:lnTo>
                  <a:cubicBezTo>
                    <a:pt x="6688" y="5428"/>
                    <a:pt x="6362" y="5672"/>
                    <a:pt x="6362" y="5984"/>
                  </a:cubicBezTo>
                  <a:cubicBezTo>
                    <a:pt x="6362" y="6294"/>
                    <a:pt x="6688" y="6547"/>
                    <a:pt x="7091" y="6547"/>
                  </a:cubicBezTo>
                  <a:lnTo>
                    <a:pt x="18608" y="6547"/>
                  </a:lnTo>
                  <a:cubicBezTo>
                    <a:pt x="19011" y="6547"/>
                    <a:pt x="19326" y="6294"/>
                    <a:pt x="19326" y="5984"/>
                  </a:cubicBezTo>
                </a:path>
                <a:path w="21600" h="21600">
                  <a:moveTo>
                    <a:pt x="19326" y="2604"/>
                  </a:moveTo>
                  <a:cubicBezTo>
                    <a:pt x="19326" y="2293"/>
                    <a:pt x="19011" y="2041"/>
                    <a:pt x="18608" y="2041"/>
                  </a:cubicBezTo>
                  <a:lnTo>
                    <a:pt x="7091" y="2041"/>
                  </a:lnTo>
                  <a:cubicBezTo>
                    <a:pt x="6688" y="2041"/>
                    <a:pt x="6362" y="2293"/>
                    <a:pt x="6362" y="2604"/>
                  </a:cubicBezTo>
                  <a:cubicBezTo>
                    <a:pt x="6362" y="2915"/>
                    <a:pt x="6688" y="3167"/>
                    <a:pt x="7091" y="3167"/>
                  </a:cubicBezTo>
                  <a:lnTo>
                    <a:pt x="18608" y="3167"/>
                  </a:lnTo>
                  <a:cubicBezTo>
                    <a:pt x="19011" y="3167"/>
                    <a:pt x="19326" y="2915"/>
                    <a:pt x="19326" y="2604"/>
                  </a:cubicBezTo>
                  <a:close/>
                </a:path>
              </a:pathLst>
            </a:custGeom>
            <a:solidFill>
              <a:schemeClr val="bg1"/>
            </a:solidFill>
            <a:ln cap="flat" cmpd="sng">
              <a:noFill/>
              <a:prstDash val="solid"/>
              <a:round/>
            </a:ln>
          </p:spPr>
        </p:sp>
      </p:grpSp>
      <p:sp>
        <p:nvSpPr>
          <p:cNvPr id="77" name="Straight line"/>
          <p:cNvSpPr>
            <a:spLocks/>
          </p:cNvSpPr>
          <p:nvPr/>
        </p:nvSpPr>
        <p:spPr>
          <a:xfrm>
            <a:off x="2837374" y="3766820"/>
            <a:ext cx="1161975" cy="415138"/>
          </a:xfrm>
          <a:prstGeom prst="line">
            <a:avLst/>
          </a:prstGeom>
          <a:noFill/>
          <a:ln w="12700" cap="flat" cmpd="sng">
            <a:solidFill>
              <a:srgbClr val="505122"/>
            </a:solidFill>
            <a:prstDash val="dash"/>
            <a:round/>
          </a:ln>
        </p:spPr>
      </p:sp>
      <p:sp>
        <p:nvSpPr>
          <p:cNvPr id="78" name="Straight line"/>
          <p:cNvSpPr>
            <a:spLocks/>
          </p:cNvSpPr>
          <p:nvPr/>
        </p:nvSpPr>
        <p:spPr>
          <a:xfrm>
            <a:off x="8198074" y="3777539"/>
            <a:ext cx="1161974" cy="415138"/>
          </a:xfrm>
          <a:prstGeom prst="line">
            <a:avLst/>
          </a:prstGeom>
          <a:noFill/>
          <a:ln w="12700" cap="flat" cmpd="sng">
            <a:solidFill>
              <a:srgbClr val="505122"/>
            </a:solidFill>
            <a:prstDash val="dash"/>
            <a:round/>
          </a:ln>
        </p:spPr>
      </p:sp>
      <p:sp>
        <p:nvSpPr>
          <p:cNvPr id="79" name="Straight line"/>
          <p:cNvSpPr>
            <a:spLocks/>
          </p:cNvSpPr>
          <p:nvPr/>
        </p:nvSpPr>
        <p:spPr>
          <a:xfrm>
            <a:off x="5515012" y="3787917"/>
            <a:ext cx="1161975" cy="415138"/>
          </a:xfrm>
          <a:prstGeom prst="line">
            <a:avLst/>
          </a:prstGeom>
          <a:noFill/>
          <a:ln w="12700" cap="flat" cmpd="sng">
            <a:solidFill>
              <a:srgbClr val="505122"/>
            </a:solidFill>
            <a:prstDash val="dash"/>
            <a:round/>
          </a:ln>
        </p:spPr>
      </p:sp>
      <p:sp>
        <p:nvSpPr>
          <p:cNvPr id="80" name="Rectangles"/>
          <p:cNvSpPr>
            <a:spLocks/>
          </p:cNvSpPr>
          <p:nvPr/>
        </p:nvSpPr>
        <p:spPr>
          <a:xfrm>
            <a:off x="1265482" y="1224970"/>
            <a:ext cx="9661036" cy="1552662"/>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150000"/>
              </a:lnSpc>
              <a:spcBef>
                <a:spcPts val="0"/>
              </a:spcBef>
              <a:spcAft>
                <a:spcPts val="0"/>
              </a:spcAft>
              <a:buNone/>
            </a:pPr>
            <a:r>
              <a:rPr lang="zh-CN" altLang="en-US" sz="1800" b="0" i="0" u="none" strike="noStrike" kern="1200" cap="none" spc="0" baseline="0">
                <a:solidFill>
                  <a:schemeClr val="tx1"/>
                </a:solidFill>
                <a:latin typeface="Microsoft YaHei" charset="0"/>
                <a:ea typeface="Microsoft YaHei" charset="0"/>
                <a:cs typeface="Microsoft YaHei" charset="0"/>
              </a:rPr>
              <a:t>挑战：外部向</a:t>
            </a:r>
            <a:r>
              <a:rPr lang="en-US" altLang="zh-CN" sz="1800" b="0" i="0" u="none" strike="noStrike" kern="1200" cap="none" spc="0" baseline="0">
                <a:solidFill>
                  <a:schemeClr val="tx1"/>
                </a:solidFill>
                <a:latin typeface="Microsoft YaHei" charset="0"/>
                <a:ea typeface="Microsoft YaHei" charset="0"/>
                <a:cs typeface="Microsoft YaHei" charset="0"/>
              </a:rPr>
              <a:t>PUF</a:t>
            </a:r>
            <a:r>
              <a:rPr lang="zh-CN" altLang="en-US" sz="1800" b="0" i="0" u="none" strike="noStrike" kern="1200" cap="none" spc="0" baseline="0">
                <a:solidFill>
                  <a:schemeClr val="tx1"/>
                </a:solidFill>
                <a:latin typeface="Microsoft YaHei" charset="0"/>
                <a:ea typeface="Microsoft YaHei" charset="0"/>
                <a:cs typeface="Microsoft YaHei" charset="0"/>
              </a:rPr>
              <a:t>输入一个电信号（比如一个比特串、一组电压值），相当于问芯片一个问题</a:t>
            </a:r>
            <a:endParaRPr lang="en-US" altLang="zh-CN" sz="1800" b="0" i="0" u="none" strike="noStrike" kern="1200" cap="none" spc="0" baseline="0">
              <a:solidFill>
                <a:schemeClr val="tx1"/>
              </a:solidFill>
              <a:latin typeface="Microsoft YaHei" charset="0"/>
              <a:ea typeface="Microsoft YaHei" charset="0"/>
              <a:cs typeface="Microsoft YaHei" charset="0"/>
            </a:endParaRPr>
          </a:p>
          <a:p>
            <a:pPr marL="0" indent="0" algn="l">
              <a:lnSpc>
                <a:spcPct val="150000"/>
              </a:lnSpc>
              <a:spcBef>
                <a:spcPts val="0"/>
              </a:spcBef>
              <a:spcAft>
                <a:spcPts val="0"/>
              </a:spcAft>
              <a:buNone/>
            </a:pPr>
            <a:r>
              <a:rPr lang="zh-CN" altLang="en-US" sz="1800" b="0" i="0" u="none" strike="noStrike" kern="1200" cap="none" spc="0" baseline="0">
                <a:solidFill>
                  <a:schemeClr val="tx1"/>
                </a:solidFill>
                <a:latin typeface="Microsoft YaHei" charset="0"/>
                <a:ea typeface="Microsoft YaHei" charset="0"/>
                <a:cs typeface="Microsoft YaHei" charset="0"/>
              </a:rPr>
              <a:t>响应：</a:t>
            </a:r>
            <a:r>
              <a:rPr lang="en-US" altLang="zh-CN" sz="1800" b="0" i="0" u="none" strike="noStrike" kern="1200" cap="none" spc="0" baseline="0">
                <a:solidFill>
                  <a:schemeClr val="tx1"/>
                </a:solidFill>
                <a:latin typeface="Microsoft YaHei" charset="0"/>
                <a:ea typeface="Microsoft YaHei" charset="0"/>
                <a:cs typeface="Microsoft YaHei" charset="0"/>
              </a:rPr>
              <a:t>PUF</a:t>
            </a:r>
            <a:r>
              <a:rPr lang="zh-CN" altLang="en-US" sz="1800" b="0" i="0" u="none" strike="noStrike" kern="1200" cap="none" spc="0" baseline="0">
                <a:solidFill>
                  <a:schemeClr val="tx1"/>
                </a:solidFill>
                <a:latin typeface="Microsoft YaHei" charset="0"/>
                <a:ea typeface="Microsoft YaHei" charset="0"/>
                <a:cs typeface="Microsoft YaHei" charset="0"/>
              </a:rPr>
              <a:t>根据自身的物理偏差生成一个唯一的数字输出，相当于芯片给出的答案</a:t>
            </a:r>
            <a:endParaRPr lang="en-US" altLang="zh-CN" sz="1800" b="0" i="0" u="none" strike="noStrike" kern="1200" cap="none" spc="0" baseline="0">
              <a:solidFill>
                <a:schemeClr val="tx1"/>
              </a:solidFill>
              <a:latin typeface="Microsoft YaHei" charset="0"/>
              <a:ea typeface="Microsoft YaHei" charset="0"/>
              <a:cs typeface="Microsoft YaHei" charset="0"/>
            </a:endParaRPr>
          </a:p>
          <a:p>
            <a:pPr marL="0" indent="0" algn="l">
              <a:lnSpc>
                <a:spcPct val="150000"/>
              </a:lnSpc>
              <a:spcBef>
                <a:spcPts val="0"/>
              </a:spcBef>
              <a:spcAft>
                <a:spcPts val="0"/>
              </a:spcAft>
              <a:buNone/>
            </a:pPr>
            <a:r>
              <a:rPr lang="zh-CN" altLang="en-US" sz="1800" b="0" i="0" u="none" strike="noStrike" kern="1200" cap="none" spc="0" baseline="0">
                <a:solidFill>
                  <a:schemeClr val="tx1"/>
                </a:solidFill>
                <a:latin typeface="Microsoft YaHei" charset="0"/>
                <a:ea typeface="Microsoft YaHei" charset="0"/>
                <a:cs typeface="Microsoft YaHei" charset="0"/>
              </a:rPr>
              <a:t>挑战</a:t>
            </a:r>
            <a:r>
              <a:rPr lang="en-US" altLang="zh-CN" sz="1800" b="0" i="0" u="none" strike="noStrike" kern="1200" cap="none" spc="0" baseline="0">
                <a:solidFill>
                  <a:schemeClr val="tx1"/>
                </a:solidFill>
                <a:latin typeface="Microsoft YaHei" charset="0"/>
                <a:ea typeface="Microsoft YaHei" charset="0"/>
                <a:cs typeface="Microsoft YaHei" charset="0"/>
              </a:rPr>
              <a:t>-</a:t>
            </a:r>
            <a:r>
              <a:rPr lang="zh-CN" altLang="en-US" sz="1800" b="0" i="0" u="none" strike="noStrike" kern="1200" cap="none" spc="0" baseline="0">
                <a:solidFill>
                  <a:schemeClr val="tx1"/>
                </a:solidFill>
                <a:latin typeface="Microsoft YaHei" charset="0"/>
                <a:ea typeface="Microsoft YaHei" charset="0"/>
                <a:cs typeface="Microsoft YaHei" charset="0"/>
              </a:rPr>
              <a:t>响应对（</a:t>
            </a:r>
            <a:r>
              <a:rPr lang="en-US" altLang="zh-CN" sz="1800" b="0" i="0" u="none" strike="noStrike" kern="1200" cap="none" spc="0" baseline="0">
                <a:solidFill>
                  <a:schemeClr val="tx1"/>
                </a:solidFill>
                <a:latin typeface="Microsoft YaHei" charset="0"/>
                <a:ea typeface="Microsoft YaHei" charset="0"/>
                <a:cs typeface="Microsoft YaHei" charset="0"/>
              </a:rPr>
              <a:t>Challenge-Response Pair</a:t>
            </a:r>
            <a:r>
              <a:rPr lang="zh-CN" altLang="en-US" sz="1800" b="0" i="0" u="none" strike="noStrike" kern="1200" cap="none" spc="0" baseline="0">
                <a:solidFill>
                  <a:schemeClr val="tx1"/>
                </a:solidFill>
                <a:latin typeface="Microsoft YaHei" charset="0"/>
                <a:ea typeface="Microsoft YaHei" charset="0"/>
                <a:cs typeface="Microsoft YaHei" charset="0"/>
              </a:rPr>
              <a:t>，</a:t>
            </a:r>
            <a:r>
              <a:rPr lang="en-US" altLang="zh-CN" sz="1800" b="0" i="0" u="none" strike="noStrike" kern="1200" cap="none" spc="0" baseline="0">
                <a:solidFill>
                  <a:schemeClr val="tx1"/>
                </a:solidFill>
                <a:latin typeface="Microsoft YaHei" charset="0"/>
                <a:ea typeface="Microsoft YaHei" charset="0"/>
                <a:cs typeface="Microsoft YaHei" charset="0"/>
              </a:rPr>
              <a:t>CRP</a:t>
            </a:r>
            <a:r>
              <a:rPr lang="zh-CN" altLang="en-US" sz="1800" b="0" i="0" u="none" strike="noStrike" kern="1200" cap="none" spc="0" baseline="0">
                <a:solidFill>
                  <a:schemeClr val="tx1"/>
                </a:solidFill>
                <a:latin typeface="Microsoft YaHei" charset="0"/>
                <a:ea typeface="Microsoft YaHei" charset="0"/>
                <a:cs typeface="Microsoft YaHei" charset="0"/>
              </a:rPr>
              <a:t>）：这一对输入输出构成了芯片的</a:t>
            </a:r>
            <a:r>
              <a:rPr lang="en-US" altLang="zh-CN" sz="1800" b="0" i="0" u="none" strike="noStrike" kern="1200" cap="none" spc="0" baseline="0">
                <a:solidFill>
                  <a:schemeClr val="tx1"/>
                </a:solidFill>
                <a:latin typeface="Microsoft YaHei" charset="0"/>
                <a:ea typeface="Microsoft YaHei" charset="0"/>
                <a:cs typeface="Microsoft YaHei" charset="0"/>
              </a:rPr>
              <a:t>"</a:t>
            </a:r>
            <a:r>
              <a:rPr lang="zh-CN" altLang="en-US" sz="1800" b="0" i="0" u="none" strike="noStrike" kern="1200" cap="none" spc="0" baseline="0">
                <a:solidFill>
                  <a:schemeClr val="tx1"/>
                </a:solidFill>
                <a:latin typeface="Microsoft YaHei" charset="0"/>
                <a:ea typeface="Microsoft YaHei" charset="0"/>
                <a:cs typeface="Microsoft YaHei" charset="0"/>
              </a:rPr>
              <a:t>身份凭证</a:t>
            </a:r>
            <a:r>
              <a:rPr lang="en-US" altLang="zh-CN" sz="1800" b="0" i="0" u="none" strike="noStrike" kern="1200" cap="none" spc="0" baseline="0">
                <a:solidFill>
                  <a:schemeClr val="tx1"/>
                </a:solidFill>
                <a:latin typeface="Microsoft YaHei" charset="0"/>
                <a:ea typeface="Microsoft YaHei" charset="0"/>
                <a:cs typeface="Microsoft YaHei" charset="0"/>
              </a:rPr>
              <a:t>"</a:t>
            </a:r>
            <a:endParaRPr lang="zh-CN" altLang="en-US" sz="1800" b="0" i="0" u="none" strike="noStrike" kern="1200" cap="none" spc="0" baseline="0">
              <a:solidFill>
                <a:schemeClr val="tx1"/>
              </a:solidFill>
              <a:latin typeface="Microsoft YaHei" charset="0"/>
              <a:ea typeface="Microsoft YaHei" charset="0"/>
              <a:cs typeface="Microsoft YaHei" charset="0"/>
            </a:endParaRPr>
          </a:p>
        </p:txBody>
      </p:sp>
      <p:sp>
        <p:nvSpPr>
          <p:cNvPr id="81" name="Rectangles"/>
          <p:cNvSpPr>
            <a:spLocks/>
          </p:cNvSpPr>
          <p:nvPr/>
        </p:nvSpPr>
        <p:spPr>
          <a:xfrm>
            <a:off x="1057082" y="5317805"/>
            <a:ext cx="1935602" cy="822597"/>
          </a:xfrm>
          <a:prstGeom prst="rect">
            <a:avLst/>
          </a:prstGeom>
          <a:noFill/>
          <a:ln w="12700" cap="flat" cmpd="sng">
            <a:noFill/>
            <a:prstDash val="solid"/>
            <a:round/>
          </a:ln>
        </p:spPr>
        <p:txBody>
          <a:bodyPr vert="horz" wrap="square" lIns="91440" tIns="45720" rIns="91440" bIns="45720" anchor="t" anchorCtr="0">
            <a:prstTxWarp prst="textNoShape">
              <a:avLst/>
            </a:prstTxWarp>
          </a:bodyPr>
          <a:lstStyle/>
          <a:p>
            <a:pPr marL="0" indent="0" algn="ctr" defTabSz="913638" eaLnBrk="0" latinLnBrk="0" hangingPunct="0">
              <a:lnSpc>
                <a:spcPct val="129000"/>
              </a:lnSpc>
              <a:spcBef>
                <a:spcPct val="0"/>
              </a:spcBef>
              <a:spcAft>
                <a:spcPct val="0"/>
              </a:spcAft>
              <a:buNone/>
            </a:pPr>
            <a:r>
              <a:rPr lang="zh-CN" altLang="en-US" sz="3200" b="0" i="0" u="none" strike="noStrike" kern="1200" cap="none" spc="0" baseline="0">
                <a:solidFill>
                  <a:schemeClr val="accent5"/>
                </a:solidFill>
                <a:latin typeface="Microsoft YaHei" charset="0"/>
                <a:ea typeface="Microsoft YaHei" charset="0"/>
                <a:cs typeface="Microsoft YaHei" charset="0"/>
                <a:sym typeface="Microsoft YaHei" charset="0"/>
              </a:rPr>
              <a:t>一问</a:t>
            </a:r>
          </a:p>
        </p:txBody>
      </p:sp>
      <p:sp>
        <p:nvSpPr>
          <p:cNvPr id="82" name="Rectangles"/>
          <p:cNvSpPr>
            <a:spLocks/>
          </p:cNvSpPr>
          <p:nvPr/>
        </p:nvSpPr>
        <p:spPr>
          <a:xfrm>
            <a:off x="9233802" y="5850882"/>
            <a:ext cx="1935602" cy="822597"/>
          </a:xfrm>
          <a:prstGeom prst="rect">
            <a:avLst/>
          </a:prstGeom>
          <a:noFill/>
          <a:ln w="12700" cap="flat" cmpd="sng">
            <a:noFill/>
            <a:prstDash val="solid"/>
            <a:round/>
          </a:ln>
        </p:spPr>
        <p:txBody>
          <a:bodyPr vert="horz" wrap="square" lIns="91440" tIns="45720" rIns="91440" bIns="45720" anchor="t" anchorCtr="0">
            <a:prstTxWarp prst="textNoShape">
              <a:avLst/>
            </a:prstTxWarp>
          </a:bodyPr>
          <a:lstStyle/>
          <a:p>
            <a:pPr marL="0" indent="0" algn="ctr" defTabSz="913638" eaLnBrk="0" latinLnBrk="0" hangingPunct="0">
              <a:lnSpc>
                <a:spcPct val="129000"/>
              </a:lnSpc>
              <a:spcBef>
                <a:spcPct val="0"/>
              </a:spcBef>
              <a:spcAft>
                <a:spcPct val="0"/>
              </a:spcAft>
              <a:buNone/>
            </a:pPr>
            <a:r>
              <a:rPr lang="zh-CN" altLang="en-US" sz="3200" b="0" i="0" u="none" strike="noStrike" kern="1200" cap="none" spc="0" baseline="0">
                <a:solidFill>
                  <a:schemeClr val="accent5"/>
                </a:solidFill>
                <a:latin typeface="Microsoft YaHei" charset="0"/>
                <a:ea typeface="Microsoft YaHei" charset="0"/>
                <a:cs typeface="Microsoft YaHei" charset="0"/>
                <a:sym typeface="Microsoft YaHei" charset="0"/>
              </a:rPr>
              <a:t>一答</a:t>
            </a:r>
          </a:p>
        </p:txBody>
      </p:sp>
      <p:sp>
        <p:nvSpPr>
          <p:cNvPr id="83" name="Up arrow"/>
          <p:cNvSpPr>
            <a:spLocks/>
          </p:cNvSpPr>
          <p:nvPr/>
        </p:nvSpPr>
        <p:spPr>
          <a:xfrm>
            <a:off x="1672327" y="4738630"/>
            <a:ext cx="705112" cy="512595"/>
          </a:xfrm>
          <a:prstGeom prst="upArrow">
            <a:avLst>
              <a:gd name="adj1" fmla="val 50000"/>
              <a:gd name="adj2" fmla="val 25000"/>
            </a:avLst>
          </a:prstGeom>
          <a:solidFill>
            <a:srgbClr val="4B7D2B"/>
          </a:solidFill>
          <a:ln w="12700" cap="flat" cmpd="sng">
            <a:solidFill>
              <a:srgbClr val="92D050"/>
            </a:solidFill>
            <a:prstDash val="solid"/>
            <a:round/>
          </a:ln>
        </p:spPr>
      </p:sp>
      <p:sp>
        <p:nvSpPr>
          <p:cNvPr id="84" name="Up arrow"/>
          <p:cNvSpPr>
            <a:spLocks/>
          </p:cNvSpPr>
          <p:nvPr/>
        </p:nvSpPr>
        <p:spPr>
          <a:xfrm>
            <a:off x="9765260" y="5286919"/>
            <a:ext cx="705112" cy="512595"/>
          </a:xfrm>
          <a:prstGeom prst="upArrow">
            <a:avLst>
              <a:gd name="adj1" fmla="val 50000"/>
              <a:gd name="adj2" fmla="val 25000"/>
            </a:avLst>
          </a:prstGeom>
          <a:solidFill>
            <a:srgbClr val="4B7D2B"/>
          </a:solidFill>
          <a:ln w="12700" cap="flat" cmpd="sng">
            <a:solidFill>
              <a:srgbClr val="92D050"/>
            </a:solidFill>
            <a:prstDash val="solid"/>
            <a:round/>
          </a:ln>
        </p:spPr>
      </p:sp>
    </p:spTree>
    <p:extLst>
      <p:ext uri="{BB962C8B-B14F-4D97-AF65-F5344CB8AC3E}">
        <p14:creationId xmlns:p14="http://schemas.microsoft.com/office/powerpoint/2010/main" val="12704671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9"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第一部分：可重构</a:t>
            </a:r>
            <a:r>
              <a:rPr lang="en-US" altLang="zh-CN"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PUF</a:t>
            </a:r>
            <a:endPar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endParaRPr>
          </a:p>
        </p:txBody>
      </p:sp>
      <p:sp>
        <p:nvSpPr>
          <p:cNvPr id="90"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4</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sp>
        <p:nvSpPr>
          <p:cNvPr id="91" name="Rounded rectangle"/>
          <p:cNvSpPr>
            <a:spLocks/>
          </p:cNvSpPr>
          <p:nvPr/>
        </p:nvSpPr>
        <p:spPr>
          <a:xfrm>
            <a:off x="5187315" y="1184275"/>
            <a:ext cx="6223000" cy="1143000"/>
          </a:xfrm>
          <a:prstGeom prst="roundRect">
            <a:avLst>
              <a:gd name="adj" fmla="val 0"/>
            </a:avLst>
          </a:prstGeom>
          <a:solidFill>
            <a:srgbClr val="556B2F">
              <a:alpha val="8000"/>
            </a:srgbClr>
          </a:solidFill>
          <a:ln w="12700" cap="flat" cmpd="sng">
            <a:solidFill>
              <a:srgbClr val="556B2F">
                <a:alpha val="40000"/>
              </a:srgbClr>
            </a:solidFill>
            <a:prstDash val="solid"/>
            <a:round/>
          </a:ln>
        </p:spPr>
      </p:sp>
      <p:sp>
        <p:nvSpPr>
          <p:cNvPr id="92" name="Rectangles"/>
          <p:cNvSpPr>
            <a:spLocks/>
          </p:cNvSpPr>
          <p:nvPr/>
        </p:nvSpPr>
        <p:spPr>
          <a:xfrm>
            <a:off x="5377815" y="1311275"/>
            <a:ext cx="5841999" cy="888999"/>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08000"/>
              </a:lnSpc>
              <a:spcBef>
                <a:spcPts val="0"/>
              </a:spcBef>
              <a:spcAft>
                <a:spcPts val="0"/>
              </a:spcAft>
              <a:buNone/>
            </a:pPr>
            <a:r>
              <a:rPr lang="zh-CN" altLang="en-US" sz="1500" b="0" i="0" u="none" strike="noStrike" kern="1200" cap="none" spc="0" baseline="0">
                <a:solidFill>
                  <a:srgbClr val="556B2F"/>
                </a:solidFill>
                <a:latin typeface="微软雅黑" pitchFamily="34" charset="-122"/>
                <a:ea typeface="微软雅黑" pitchFamily="34" charset="-122"/>
                <a:cs typeface="微软雅黑" pitchFamily="34" charset="-122"/>
                <a:sym typeface="Noto Sans SC" charset="-122"/>
              </a:rPr>
              <a:t>技术定义：</a:t>
            </a:r>
            <a:r>
              <a:rPr lang="zh-CN" altLang="en-US" sz="1600" b="0" i="0" u="none" strike="noStrike" kern="1200" cap="none" spc="0" baseline="0">
                <a:solidFill>
                  <a:srgbClr val="333333"/>
                </a:solidFill>
                <a:latin typeface="微软雅黑" pitchFamily="34" charset="-122"/>
                <a:ea typeface="微软雅黑" pitchFamily="34" charset="-122"/>
                <a:cs typeface="微软雅黑" pitchFamily="34" charset="-122"/>
                <a:sym typeface="Noto Sans SC" charset="-122"/>
              </a:rPr>
              <a:t>可重构PUF（Reconfigurable PUF）是在传统静态PUF基础上发展的新型硬件安全技术，突破了传统PUF“一次定型、永久不变”的局限，赋予了芯片主动防御的能力。</a:t>
            </a:r>
            <a:endParaRPr lang="zh-CN" altLang="en-US" sz="1600" b="0" i="0" u="none" strike="noStrike" kern="1200" cap="none" spc="0" baseline="0">
              <a:solidFill>
                <a:schemeClr val="tx1"/>
              </a:solidFill>
              <a:latin typeface="微软雅黑" pitchFamily="34" charset="-122"/>
              <a:ea typeface="微软雅黑" pitchFamily="34" charset="-122"/>
              <a:cs typeface="微软雅黑" pitchFamily="34" charset="-122"/>
            </a:endParaRPr>
          </a:p>
        </p:txBody>
      </p:sp>
      <p:sp>
        <p:nvSpPr>
          <p:cNvPr id="93" name="Rounded rectangle"/>
          <p:cNvSpPr>
            <a:spLocks/>
          </p:cNvSpPr>
          <p:nvPr/>
        </p:nvSpPr>
        <p:spPr>
          <a:xfrm>
            <a:off x="5187315" y="2483485"/>
            <a:ext cx="6223000" cy="1206499"/>
          </a:xfrm>
          <a:prstGeom prst="roundRect">
            <a:avLst>
              <a:gd name="adj" fmla="val 0"/>
            </a:avLst>
          </a:prstGeom>
          <a:solidFill>
            <a:srgbClr val="556B2F">
              <a:alpha val="8000"/>
            </a:srgbClr>
          </a:solidFill>
          <a:ln w="12700" cap="flat" cmpd="sng">
            <a:solidFill>
              <a:srgbClr val="556B2F">
                <a:alpha val="40000"/>
              </a:srgbClr>
            </a:solidFill>
            <a:prstDash val="solid"/>
            <a:round/>
          </a:ln>
        </p:spPr>
      </p:sp>
      <p:sp>
        <p:nvSpPr>
          <p:cNvPr id="94" name="Rectangles"/>
          <p:cNvSpPr>
            <a:spLocks/>
          </p:cNvSpPr>
          <p:nvPr/>
        </p:nvSpPr>
        <p:spPr>
          <a:xfrm>
            <a:off x="5377815" y="2585085"/>
            <a:ext cx="5841999" cy="9525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08000"/>
              </a:lnSpc>
              <a:spcBef>
                <a:spcPts val="0"/>
              </a:spcBef>
              <a:spcAft>
                <a:spcPts val="0"/>
              </a:spcAft>
              <a:buNone/>
            </a:pPr>
            <a:r>
              <a:rPr lang="zh-CN" altLang="en-US" sz="1500" b="0" i="0" u="none" strike="noStrike" kern="1200" cap="none" spc="0" baseline="0">
                <a:solidFill>
                  <a:srgbClr val="556B2F"/>
                </a:solidFill>
                <a:latin typeface="Noto Sans SC" charset="-122"/>
                <a:ea typeface="Noto Sans SC" charset="-122"/>
                <a:cs typeface="Noto Sans SC" charset="-122"/>
                <a:sym typeface="Noto Sans SC" charset="-122"/>
              </a:rPr>
              <a:t>技术核心：</a:t>
            </a:r>
            <a:r>
              <a:rPr lang="zh-CN" altLang="en-US" sz="1600" b="0" i="0" u="none" strike="noStrike" kern="1200" cap="none" spc="0" baseline="0">
                <a:solidFill>
                  <a:srgbClr val="333333"/>
                </a:solidFill>
                <a:latin typeface="Noto Sans SC" charset="-122"/>
                <a:ea typeface="Noto Sans SC" charset="-122"/>
                <a:cs typeface="Noto Sans SC" charset="-122"/>
                <a:sym typeface="Noto Sans SC" charset="-122"/>
              </a:rPr>
              <a:t>通过内置的可编程开关阵列、动态配置单元和异构电路路径，可根据预设规则或实时安全需求，灵活且快速地</a:t>
            </a:r>
            <a:r>
              <a:rPr lang="zh-CN" altLang="en-US" sz="1600" b="0" i="0" u="none" strike="noStrike" kern="1200" cap="none" spc="0" baseline="0">
                <a:solidFill>
                  <a:srgbClr val="556B2F"/>
                </a:solidFill>
                <a:latin typeface="Noto Sans SC" charset="-122"/>
                <a:ea typeface="Noto Sans SC" charset="-122"/>
                <a:cs typeface="Noto Sans SC" charset="-122"/>
                <a:sym typeface="Noto Sans SC" charset="-122"/>
              </a:rPr>
              <a:t>动态切换电路拓扑结构</a:t>
            </a:r>
            <a:r>
              <a:rPr lang="zh-CN" altLang="en-US" sz="1600" b="0" i="0" u="none" strike="noStrike" kern="1200" cap="none" spc="0" baseline="0">
                <a:solidFill>
                  <a:srgbClr val="333333"/>
                </a:solidFill>
                <a:latin typeface="Noto Sans SC" charset="-122"/>
                <a:ea typeface="Noto Sans SC" charset="-122"/>
                <a:cs typeface="Noto Sans SC" charset="-122"/>
                <a:sym typeface="Noto Sans SC" charset="-122"/>
              </a:rPr>
              <a:t>，从底层改变芯片的物理特性。</a:t>
            </a:r>
            <a:endParaRPr lang="zh-CN" altLang="en-US" sz="1600" b="0" i="0" u="none" strike="noStrike" kern="1200" cap="none" spc="0" baseline="0">
              <a:solidFill>
                <a:schemeClr val="tx1"/>
              </a:solidFill>
              <a:latin typeface="Microsoft YaHei" charset="0"/>
              <a:ea typeface="Microsoft YaHei" charset="0"/>
              <a:cs typeface="Microsoft YaHei" charset="0"/>
            </a:endParaRPr>
          </a:p>
        </p:txBody>
      </p:sp>
      <p:sp>
        <p:nvSpPr>
          <p:cNvPr id="95" name="Rounded rectangle"/>
          <p:cNvSpPr>
            <a:spLocks/>
          </p:cNvSpPr>
          <p:nvPr/>
        </p:nvSpPr>
        <p:spPr>
          <a:xfrm>
            <a:off x="5187315" y="3880485"/>
            <a:ext cx="1981200" cy="1079498"/>
          </a:xfrm>
          <a:prstGeom prst="roundRect">
            <a:avLst>
              <a:gd name="adj" fmla="val 0"/>
            </a:avLst>
          </a:prstGeom>
          <a:solidFill>
            <a:srgbClr val="F7F8F6"/>
          </a:solidFill>
          <a:ln w="12700" cap="flat" cmpd="sng">
            <a:solidFill>
              <a:srgbClr val="DDDDDD"/>
            </a:solidFill>
            <a:prstDash val="solid"/>
            <a:round/>
          </a:ln>
        </p:spPr>
      </p:sp>
      <p:pic>
        <p:nvPicPr>
          <p:cNvPr id="96" name="Images"/>
          <p:cNvPicPr>
            <a:picLocks/>
          </p:cNvPicPr>
          <p:nvPr/>
        </p:nvPicPr>
        <p:blipFill>
          <a:blip r:embed="rId3" cstate="print"/>
          <a:stretch>
            <a:fillRect/>
          </a:stretch>
        </p:blipFill>
        <p:spPr>
          <a:xfrm>
            <a:off x="5314315" y="4007484"/>
            <a:ext cx="304800" cy="304800"/>
          </a:xfrm>
          <a:prstGeom prst="rect">
            <a:avLst/>
          </a:prstGeom>
          <a:noFill/>
          <a:ln w="12700" cap="flat" cmpd="sng">
            <a:noFill/>
            <a:prstDash val="solid"/>
            <a:miter/>
          </a:ln>
        </p:spPr>
      </p:pic>
      <p:sp>
        <p:nvSpPr>
          <p:cNvPr id="97" name="Rectangles"/>
          <p:cNvSpPr>
            <a:spLocks/>
          </p:cNvSpPr>
          <p:nvPr/>
        </p:nvSpPr>
        <p:spPr>
          <a:xfrm>
            <a:off x="5695315" y="3982085"/>
            <a:ext cx="1396998" cy="8255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400" b="0" i="0" u="none" strike="noStrike" kern="1200" cap="none" spc="0" baseline="0">
                <a:solidFill>
                  <a:srgbClr val="333333"/>
                </a:solidFill>
                <a:latin typeface="Noto Sans SC" charset="-122"/>
                <a:ea typeface="Noto Sans SC" charset="-122"/>
                <a:cs typeface="Noto Sans SC" charset="-122"/>
                <a:sym typeface="Noto Sans SC" charset="-122"/>
              </a:rPr>
              <a:t>硬件指纹更新</a:t>
            </a:r>
            <a:endParaRPr lang="en-US" altLang="zh-CN" sz="1100" b="0" i="0" u="none" strike="noStrike" kern="1200" cap="none" spc="0" baseline="0">
              <a:solidFill>
                <a:schemeClr val="tx1"/>
              </a:solidFill>
              <a:latin typeface="Microsoft YaHei" charset="0"/>
              <a:ea typeface="Microsoft YaHei" charset="0"/>
              <a:cs typeface="Microsoft YaHei" charset="0"/>
            </a:endParaRPr>
          </a:p>
          <a:p>
            <a:pPr marL="0" indent="0" algn="l">
              <a:lnSpc>
                <a:spcPct val="100000"/>
              </a:lnSpc>
              <a:spcBef>
                <a:spcPts val="0"/>
              </a:spcBef>
              <a:spcAft>
                <a:spcPts val="0"/>
              </a:spcAft>
              <a:buNone/>
            </a:pPr>
            <a:r>
              <a:rPr lang="zh-CN" altLang="en-US" sz="1100" b="0" i="0" u="none" strike="noStrike" kern="1200" cap="none" spc="0" baseline="0">
                <a:solidFill>
                  <a:srgbClr val="757575"/>
                </a:solidFill>
                <a:latin typeface="Noto Sans SC" charset="-122"/>
                <a:ea typeface="Noto Sans SC" charset="-122"/>
                <a:cs typeface="Noto Sans SC" charset="-122"/>
                <a:sym typeface="Noto Sans SC" charset="-122"/>
              </a:rPr>
              <a:t>物理特征实时变化，杜绝指纹被复制与冒用的风险。</a:t>
            </a:r>
          </a:p>
        </p:txBody>
      </p:sp>
      <p:sp>
        <p:nvSpPr>
          <p:cNvPr id="98" name="Rounded rectangle"/>
          <p:cNvSpPr>
            <a:spLocks/>
          </p:cNvSpPr>
          <p:nvPr/>
        </p:nvSpPr>
        <p:spPr>
          <a:xfrm>
            <a:off x="7308215" y="3880485"/>
            <a:ext cx="1981200" cy="1079498"/>
          </a:xfrm>
          <a:prstGeom prst="roundRect">
            <a:avLst>
              <a:gd name="adj" fmla="val 0"/>
            </a:avLst>
          </a:prstGeom>
          <a:solidFill>
            <a:srgbClr val="F7F8F6"/>
          </a:solidFill>
          <a:ln w="12700" cap="flat" cmpd="sng">
            <a:solidFill>
              <a:srgbClr val="DDDDDD"/>
            </a:solidFill>
            <a:prstDash val="solid"/>
            <a:round/>
          </a:ln>
        </p:spPr>
      </p:sp>
      <p:pic>
        <p:nvPicPr>
          <p:cNvPr id="99" name="Images"/>
          <p:cNvPicPr>
            <a:picLocks/>
          </p:cNvPicPr>
          <p:nvPr/>
        </p:nvPicPr>
        <p:blipFill>
          <a:blip r:embed="rId4" cstate="print"/>
          <a:stretch>
            <a:fillRect/>
          </a:stretch>
        </p:blipFill>
        <p:spPr>
          <a:xfrm>
            <a:off x="7435215" y="4007484"/>
            <a:ext cx="304800" cy="304800"/>
          </a:xfrm>
          <a:prstGeom prst="rect">
            <a:avLst/>
          </a:prstGeom>
          <a:noFill/>
          <a:ln w="12700" cap="flat" cmpd="sng">
            <a:noFill/>
            <a:prstDash val="solid"/>
            <a:miter/>
          </a:ln>
        </p:spPr>
      </p:pic>
      <p:sp>
        <p:nvSpPr>
          <p:cNvPr id="100" name="Rectangles"/>
          <p:cNvSpPr>
            <a:spLocks/>
          </p:cNvSpPr>
          <p:nvPr/>
        </p:nvSpPr>
        <p:spPr>
          <a:xfrm>
            <a:off x="7816215" y="3982085"/>
            <a:ext cx="1396999" cy="8255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400" b="0" i="0" u="none" strike="noStrike" kern="1200" cap="none" spc="0" baseline="0">
                <a:solidFill>
                  <a:srgbClr val="333333"/>
                </a:solidFill>
                <a:latin typeface="Noto Sans SC" charset="-122"/>
                <a:ea typeface="Noto Sans SC" charset="-122"/>
                <a:cs typeface="Noto Sans SC" charset="-122"/>
                <a:sym typeface="Noto Sans SC" charset="-122"/>
              </a:rPr>
              <a:t>挑战响应迭代</a:t>
            </a:r>
            <a:endParaRPr lang="en-US" altLang="zh-CN" sz="1100" b="0" i="0" u="none" strike="noStrike" kern="1200" cap="none" spc="0" baseline="0">
              <a:solidFill>
                <a:schemeClr val="tx1"/>
              </a:solidFill>
              <a:latin typeface="Microsoft YaHei" charset="0"/>
              <a:ea typeface="Microsoft YaHei" charset="0"/>
              <a:cs typeface="Microsoft YaHei" charset="0"/>
            </a:endParaRPr>
          </a:p>
          <a:p>
            <a:pPr marL="0" indent="0" algn="l">
              <a:lnSpc>
                <a:spcPct val="100000"/>
              </a:lnSpc>
              <a:spcBef>
                <a:spcPts val="0"/>
              </a:spcBef>
              <a:spcAft>
                <a:spcPts val="0"/>
              </a:spcAft>
              <a:buNone/>
            </a:pPr>
            <a:r>
              <a:rPr lang="zh-CN" altLang="en-US" sz="1100" b="0" i="0" u="none" strike="noStrike" kern="1200" cap="none" spc="0" baseline="0">
                <a:solidFill>
                  <a:srgbClr val="757575"/>
                </a:solidFill>
                <a:latin typeface="Noto Sans SC" charset="-122"/>
                <a:ea typeface="Noto Sans SC" charset="-122"/>
                <a:cs typeface="Noto Sans SC" charset="-122"/>
                <a:sym typeface="Noto Sans SC" charset="-122"/>
              </a:rPr>
              <a:t>交互机制动态调整，让攻击者无法建立固定的响应映射。</a:t>
            </a:r>
          </a:p>
        </p:txBody>
      </p:sp>
      <p:sp>
        <p:nvSpPr>
          <p:cNvPr id="101" name="Rounded rectangle"/>
          <p:cNvSpPr>
            <a:spLocks/>
          </p:cNvSpPr>
          <p:nvPr/>
        </p:nvSpPr>
        <p:spPr>
          <a:xfrm>
            <a:off x="9429115" y="3880485"/>
            <a:ext cx="1981200" cy="1079498"/>
          </a:xfrm>
          <a:prstGeom prst="roundRect">
            <a:avLst>
              <a:gd name="adj" fmla="val 0"/>
            </a:avLst>
          </a:prstGeom>
          <a:solidFill>
            <a:srgbClr val="F7F8F6"/>
          </a:solidFill>
          <a:ln w="12700" cap="flat" cmpd="sng">
            <a:solidFill>
              <a:srgbClr val="DDDDDD"/>
            </a:solidFill>
            <a:prstDash val="solid"/>
            <a:round/>
          </a:ln>
        </p:spPr>
      </p:sp>
      <p:pic>
        <p:nvPicPr>
          <p:cNvPr id="102" name="Images"/>
          <p:cNvPicPr>
            <a:picLocks/>
          </p:cNvPicPr>
          <p:nvPr/>
        </p:nvPicPr>
        <p:blipFill>
          <a:blip r:embed="rId5" cstate="print"/>
          <a:stretch>
            <a:fillRect/>
          </a:stretch>
        </p:blipFill>
        <p:spPr>
          <a:xfrm>
            <a:off x="9556115" y="4007484"/>
            <a:ext cx="304800" cy="304800"/>
          </a:xfrm>
          <a:prstGeom prst="rect">
            <a:avLst/>
          </a:prstGeom>
          <a:noFill/>
          <a:ln w="12700" cap="flat" cmpd="sng">
            <a:noFill/>
            <a:prstDash val="solid"/>
            <a:miter/>
          </a:ln>
        </p:spPr>
      </p:pic>
      <p:sp>
        <p:nvSpPr>
          <p:cNvPr id="103" name="Rectangles"/>
          <p:cNvSpPr>
            <a:spLocks/>
          </p:cNvSpPr>
          <p:nvPr/>
        </p:nvSpPr>
        <p:spPr>
          <a:xfrm>
            <a:off x="9937114" y="3982085"/>
            <a:ext cx="1397000" cy="8255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400" b="0" i="0" u="none" strike="noStrike" kern="1200" cap="none" spc="0" baseline="0">
                <a:solidFill>
                  <a:srgbClr val="333333"/>
                </a:solidFill>
                <a:latin typeface="Noto Sans SC" charset="-122"/>
                <a:ea typeface="Noto Sans SC" charset="-122"/>
                <a:cs typeface="Noto Sans SC" charset="-122"/>
                <a:sym typeface="Noto Sans SC" charset="-122"/>
              </a:rPr>
              <a:t>密钥规则重构</a:t>
            </a:r>
            <a:endParaRPr lang="en-US" altLang="zh-CN" sz="1100" b="0" i="0" u="none" strike="noStrike" kern="1200" cap="none" spc="0" baseline="0">
              <a:solidFill>
                <a:schemeClr val="tx1"/>
              </a:solidFill>
              <a:latin typeface="Microsoft YaHei" charset="0"/>
              <a:ea typeface="Microsoft YaHei" charset="0"/>
              <a:cs typeface="Microsoft YaHei" charset="0"/>
            </a:endParaRPr>
          </a:p>
          <a:p>
            <a:pPr marL="0" indent="0" algn="l">
              <a:lnSpc>
                <a:spcPct val="100000"/>
              </a:lnSpc>
              <a:spcBef>
                <a:spcPts val="0"/>
              </a:spcBef>
              <a:spcAft>
                <a:spcPts val="0"/>
              </a:spcAft>
              <a:buNone/>
            </a:pPr>
            <a:r>
              <a:rPr lang="zh-CN" altLang="en-US" sz="1100" b="0" i="0" u="none" strike="noStrike" kern="1200" cap="none" spc="0" baseline="0">
                <a:solidFill>
                  <a:srgbClr val="757575"/>
                </a:solidFill>
                <a:latin typeface="Noto Sans SC" charset="-122"/>
                <a:ea typeface="Noto Sans SC" charset="-122"/>
                <a:cs typeface="Noto Sans SC" charset="-122"/>
                <a:sym typeface="Noto Sans SC" charset="-122"/>
              </a:rPr>
              <a:t>生成逻辑实时刷新，从源头切断密钥泄露与破解的可能。</a:t>
            </a:r>
          </a:p>
        </p:txBody>
      </p:sp>
      <p:sp>
        <p:nvSpPr>
          <p:cNvPr id="104" name="Rounded rectangle"/>
          <p:cNvSpPr>
            <a:spLocks/>
          </p:cNvSpPr>
          <p:nvPr/>
        </p:nvSpPr>
        <p:spPr>
          <a:xfrm>
            <a:off x="5187315" y="5150485"/>
            <a:ext cx="6223000" cy="634999"/>
          </a:xfrm>
          <a:prstGeom prst="roundRect">
            <a:avLst>
              <a:gd name="adj" fmla="val 0"/>
            </a:avLst>
          </a:prstGeom>
          <a:solidFill>
            <a:srgbClr val="556B2F">
              <a:alpha val="12000"/>
            </a:srgbClr>
          </a:solidFill>
          <a:ln w="25400" cap="flat" cmpd="sng">
            <a:noFill/>
            <a:prstDash val="solid"/>
            <a:round/>
          </a:ln>
        </p:spPr>
      </p:sp>
      <p:sp>
        <p:nvSpPr>
          <p:cNvPr id="105" name="Rectangles"/>
          <p:cNvSpPr>
            <a:spLocks/>
          </p:cNvSpPr>
          <p:nvPr/>
        </p:nvSpPr>
        <p:spPr>
          <a:xfrm>
            <a:off x="5314315" y="5252085"/>
            <a:ext cx="5969000" cy="4318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300" b="0" i="0" u="none" strike="noStrike" kern="1200" cap="none" spc="0" baseline="0">
                <a:solidFill>
                  <a:srgbClr val="1F2329"/>
                </a:solidFill>
                <a:latin typeface="Noto Sans SC" charset="-122"/>
                <a:ea typeface="Noto Sans SC" charset="-122"/>
                <a:cs typeface="Noto Sans SC" charset="-122"/>
                <a:sym typeface="Noto Sans SC" charset="-122"/>
              </a:rPr>
              <a:t>双重壁垒：融合“芯片制造物理唯一性”与“电路拓扑动态多变性”，构筑极致硬件安全防线。</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pic>
        <p:nvPicPr>
          <p:cNvPr id="106" name="Images"/>
          <p:cNvPicPr>
            <a:picLocks/>
          </p:cNvPicPr>
          <p:nvPr/>
        </p:nvPicPr>
        <p:blipFill>
          <a:blip r:embed="rId6" cstate="print"/>
          <a:srcRect t="20249" b="20249"/>
          <a:stretch>
            <a:fillRect/>
          </a:stretch>
        </p:blipFill>
        <p:spPr>
          <a:xfrm>
            <a:off x="983615" y="1397634"/>
            <a:ext cx="3556000" cy="3175000"/>
          </a:xfrm>
          <a:prstGeom prst="rect">
            <a:avLst/>
          </a:prstGeom>
          <a:noFill/>
          <a:ln w="25400" cap="flat" cmpd="sng">
            <a:solidFill>
              <a:srgbClr val="556B2F">
                <a:alpha val="80000"/>
              </a:srgbClr>
            </a:solidFill>
            <a:prstDash val="solid"/>
            <a:round/>
          </a:ln>
        </p:spPr>
      </p:pic>
      <p:sp>
        <p:nvSpPr>
          <p:cNvPr id="107" name="Rectangles"/>
          <p:cNvSpPr>
            <a:spLocks/>
          </p:cNvSpPr>
          <p:nvPr/>
        </p:nvSpPr>
        <p:spPr>
          <a:xfrm>
            <a:off x="1044575" y="4890770"/>
            <a:ext cx="3495040" cy="76009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16000"/>
              </a:lnSpc>
              <a:spcBef>
                <a:spcPts val="0"/>
              </a:spcBef>
              <a:spcAft>
                <a:spcPts val="0"/>
              </a:spcAft>
              <a:buNone/>
            </a:pPr>
            <a:r>
              <a:rPr lang="zh-CN" altLang="en-US" sz="1300" b="0" i="0" u="none" strike="noStrike" kern="1200" cap="none" spc="0" baseline="0">
                <a:solidFill>
                  <a:srgbClr val="595959"/>
                </a:solidFill>
                <a:latin typeface="Noto Sans SC" charset="-122"/>
                <a:ea typeface="Noto Sans SC" charset="-122"/>
                <a:cs typeface="Noto Sans SC" charset="-122"/>
                <a:sym typeface="Noto Sans SC" charset="-122"/>
              </a:rPr>
              <a:t>依托芯片内部精密的异构电路与可编程开关阵列，实现硬件层面的实时动态重构，构建不可克隆的安全根基。</a:t>
            </a:r>
          </a:p>
        </p:txBody>
      </p:sp>
    </p:spTree>
    <p:extLst>
      <p:ext uri="{BB962C8B-B14F-4D97-AF65-F5344CB8AC3E}">
        <p14:creationId xmlns:p14="http://schemas.microsoft.com/office/powerpoint/2010/main" val="8899215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可重构</a:t>
            </a:r>
            <a:r>
              <a:rPr lang="en-US" altLang="zh-CN"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PUF</a:t>
            </a: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的技术路线</a:t>
            </a:r>
          </a:p>
        </p:txBody>
      </p:sp>
      <p:sp>
        <p:nvSpPr>
          <p:cNvPr id="113"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5</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sp>
        <p:nvSpPr>
          <p:cNvPr id="114" name="Rectangles"/>
          <p:cNvSpPr>
            <a:spLocks/>
          </p:cNvSpPr>
          <p:nvPr/>
        </p:nvSpPr>
        <p:spPr>
          <a:xfrm>
            <a:off x="9233802" y="5850882"/>
            <a:ext cx="1935602" cy="822597"/>
          </a:xfrm>
          <a:prstGeom prst="rect">
            <a:avLst/>
          </a:prstGeom>
          <a:noFill/>
          <a:ln w="12700" cap="flat" cmpd="sng">
            <a:noFill/>
            <a:prstDash val="solid"/>
            <a:round/>
          </a:ln>
        </p:spPr>
      </p:sp>
      <p:sp>
        <p:nvSpPr>
          <p:cNvPr id="115" name="Rounded rectangle"/>
          <p:cNvSpPr>
            <a:spLocks/>
          </p:cNvSpPr>
          <p:nvPr/>
        </p:nvSpPr>
        <p:spPr>
          <a:xfrm>
            <a:off x="571500" y="1295399"/>
            <a:ext cx="5207000" cy="2412999"/>
          </a:xfrm>
          <a:prstGeom prst="roundRect">
            <a:avLst>
              <a:gd name="adj" fmla="val 0"/>
            </a:avLst>
          </a:prstGeom>
          <a:solidFill>
            <a:srgbClr val="F8F9FA"/>
          </a:solidFill>
          <a:ln w="12700" cap="flat" cmpd="sng">
            <a:solidFill>
              <a:srgbClr val="6B8E23">
                <a:alpha val="50000"/>
              </a:srgbClr>
            </a:solidFill>
            <a:prstDash val="solid"/>
            <a:round/>
          </a:ln>
        </p:spPr>
      </p:sp>
      <p:sp>
        <p:nvSpPr>
          <p:cNvPr id="116" name="Rounded rectangle"/>
          <p:cNvSpPr>
            <a:spLocks/>
          </p:cNvSpPr>
          <p:nvPr/>
        </p:nvSpPr>
        <p:spPr>
          <a:xfrm>
            <a:off x="571500" y="1295399"/>
            <a:ext cx="76200" cy="2412999"/>
          </a:xfrm>
          <a:prstGeom prst="roundRect">
            <a:avLst>
              <a:gd name="adj" fmla="val 0"/>
            </a:avLst>
          </a:prstGeom>
          <a:solidFill>
            <a:srgbClr val="6B8E23"/>
          </a:solidFill>
          <a:ln w="25400" cap="flat" cmpd="sng">
            <a:noFill/>
            <a:prstDash val="solid"/>
            <a:round/>
          </a:ln>
        </p:spPr>
      </p:sp>
      <p:pic>
        <p:nvPicPr>
          <p:cNvPr id="117" name="Images"/>
          <p:cNvPicPr>
            <a:picLocks/>
          </p:cNvPicPr>
          <p:nvPr/>
        </p:nvPicPr>
        <p:blipFill>
          <a:blip r:embed="rId3" cstate="print"/>
          <a:stretch>
            <a:fillRect/>
          </a:stretch>
        </p:blipFill>
        <p:spPr>
          <a:xfrm>
            <a:off x="889000" y="1549400"/>
            <a:ext cx="406400" cy="406398"/>
          </a:xfrm>
          <a:prstGeom prst="rect">
            <a:avLst/>
          </a:prstGeom>
          <a:noFill/>
          <a:ln w="12700" cap="flat" cmpd="sng">
            <a:noFill/>
            <a:prstDash val="solid"/>
            <a:miter/>
          </a:ln>
        </p:spPr>
      </p:pic>
      <p:sp>
        <p:nvSpPr>
          <p:cNvPr id="118" name="Rectangles"/>
          <p:cNvSpPr>
            <a:spLocks/>
          </p:cNvSpPr>
          <p:nvPr/>
        </p:nvSpPr>
        <p:spPr>
          <a:xfrm>
            <a:off x="1460498" y="1574800"/>
            <a:ext cx="4190999" cy="381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en-US" altLang="zh-CN" sz="1600" b="0" i="0" u="none" strike="noStrike" kern="1200" cap="none" spc="0" baseline="0">
                <a:solidFill>
                  <a:srgbClr val="1F2329"/>
                </a:solidFill>
                <a:latin typeface="Noto Sans SC" charset="-122"/>
                <a:ea typeface="Noto Sans SC" charset="-122"/>
                <a:cs typeface="Noto Sans SC" charset="-122"/>
                <a:sym typeface="Noto Sans SC" charset="-122"/>
              </a:rPr>
              <a:t>01. 可编程电路动态重构</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19" name="直线连接线"/>
          <p:cNvCxnSpPr>
            <a:cxnSpLocks/>
          </p:cNvCxnSpPr>
          <p:nvPr/>
        </p:nvCxnSpPr>
        <p:spPr>
          <a:xfrm>
            <a:off x="889009" y="2178050"/>
            <a:ext cx="4635500" cy="12700"/>
          </a:xfrm>
          <a:prstGeom prst="straightConnector1">
            <a:avLst/>
          </a:prstGeom>
          <a:solidFill>
            <a:srgbClr val="DEE0E3"/>
          </a:solidFill>
          <a:ln w="12700" cap="flat" cmpd="sng">
            <a:solidFill>
              <a:srgbClr val="C8C8C8"/>
            </a:solidFill>
            <a:prstDash val="dash"/>
            <a:round/>
          </a:ln>
        </p:spPr>
      </p:cxnSp>
      <p:sp>
        <p:nvSpPr>
          <p:cNvPr id="120" name="Rectangles"/>
          <p:cNvSpPr>
            <a:spLocks/>
          </p:cNvSpPr>
          <p:nvPr/>
        </p:nvSpPr>
        <p:spPr>
          <a:xfrm>
            <a:off x="889000" y="2311400"/>
            <a:ext cx="4699000" cy="1269999"/>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16000"/>
              </a:lnSpc>
              <a:spcBef>
                <a:spcPts val="0"/>
              </a:spcBef>
              <a:spcAft>
                <a:spcPts val="0"/>
              </a:spcAft>
              <a:buNone/>
            </a:pPr>
            <a:r>
              <a:rPr lang="zh-CN" altLang="en-US" sz="1600" b="0" i="0" u="none" strike="noStrike" kern="1200" cap="none" spc="0" baseline="0">
                <a:solidFill>
                  <a:srgbClr val="1F2329"/>
                </a:solidFill>
                <a:latin typeface="Noto Sans SC" charset="-122"/>
                <a:ea typeface="Noto Sans SC" charset="-122"/>
                <a:cs typeface="Noto Sans SC" charset="-122"/>
                <a:sym typeface="Noto Sans SC" charset="-122"/>
              </a:rPr>
              <a:t>核心目标:</a:t>
            </a:r>
            <a:r>
              <a:rPr lang="zh-CN" altLang="en-US" sz="1600" b="0" i="0" u="none" strike="noStrike" kern="1200" cap="none" spc="0" baseline="0">
                <a:solidFill>
                  <a:srgbClr val="555555"/>
                </a:solidFill>
                <a:latin typeface="Noto Sans SC" charset="-122"/>
                <a:ea typeface="Noto Sans SC" charset="-122"/>
                <a:cs typeface="Noto Sans SC" charset="-122"/>
                <a:sym typeface="Noto Sans SC" charset="-122"/>
              </a:rPr>
              <a:t>实现硬件指纹动态变化，从根本上抗建模攻击。</a:t>
            </a:r>
            <a:endParaRPr lang="en-US" altLang="zh-CN" sz="1600" b="0" i="0" u="none" strike="noStrike" kern="1200" cap="none" spc="0" baseline="0">
              <a:solidFill>
                <a:schemeClr val="tx1"/>
              </a:solidFill>
              <a:latin typeface="Microsoft YaHei" charset="0"/>
              <a:ea typeface="Microsoft YaHei" charset="0"/>
              <a:cs typeface="Microsoft YaHei" charset="0"/>
            </a:endParaRPr>
          </a:p>
          <a:p>
            <a:pPr marL="0" indent="0" algn="l">
              <a:lnSpc>
                <a:spcPct val="116000"/>
              </a:lnSpc>
              <a:spcBef>
                <a:spcPts val="0"/>
              </a:spcBef>
              <a:spcAft>
                <a:spcPts val="0"/>
              </a:spcAft>
              <a:buNone/>
            </a:pPr>
            <a:r>
              <a:rPr lang="zh-CN" altLang="en-US" sz="1600" b="0" i="0" u="none" strike="noStrike" kern="1200" cap="none" spc="0" baseline="0">
                <a:solidFill>
                  <a:srgbClr val="1F2329"/>
                </a:solidFill>
                <a:latin typeface="Noto Sans SC" charset="-122"/>
                <a:ea typeface="Noto Sans SC" charset="-122"/>
                <a:cs typeface="Noto Sans SC" charset="-122"/>
                <a:sym typeface="Noto Sans SC" charset="-122"/>
              </a:rPr>
              <a:t>工作机制:</a:t>
            </a:r>
            <a:r>
              <a:rPr lang="zh-CN" altLang="en-US" sz="1600" b="0" i="0" u="none" strike="noStrike" kern="1200" cap="none" spc="0" baseline="0">
                <a:solidFill>
                  <a:srgbClr val="555555"/>
                </a:solidFill>
                <a:latin typeface="Noto Sans SC" charset="-122"/>
                <a:ea typeface="Noto Sans SC" charset="-122"/>
                <a:cs typeface="Noto Sans SC" charset="-122"/>
                <a:sym typeface="Noto Sans SC" charset="-122"/>
              </a:rPr>
              <a:t>通过多路异构延时路径与可编程开关阵列，动态切换电路路径，使每次认证的硬件指纹都不同。</a:t>
            </a:r>
          </a:p>
        </p:txBody>
      </p:sp>
      <p:sp>
        <p:nvSpPr>
          <p:cNvPr id="121" name="Rounded rectangle"/>
          <p:cNvSpPr>
            <a:spLocks/>
          </p:cNvSpPr>
          <p:nvPr/>
        </p:nvSpPr>
        <p:spPr>
          <a:xfrm>
            <a:off x="6032500" y="1295399"/>
            <a:ext cx="5207000" cy="2412999"/>
          </a:xfrm>
          <a:prstGeom prst="roundRect">
            <a:avLst>
              <a:gd name="adj" fmla="val 0"/>
            </a:avLst>
          </a:prstGeom>
          <a:solidFill>
            <a:srgbClr val="F8F9FA"/>
          </a:solidFill>
          <a:ln w="12700" cap="flat" cmpd="sng">
            <a:solidFill>
              <a:srgbClr val="6B8E23">
                <a:alpha val="50000"/>
              </a:srgbClr>
            </a:solidFill>
            <a:prstDash val="solid"/>
            <a:round/>
          </a:ln>
        </p:spPr>
      </p:sp>
      <p:sp>
        <p:nvSpPr>
          <p:cNvPr id="122" name="Rounded rectangle"/>
          <p:cNvSpPr>
            <a:spLocks/>
          </p:cNvSpPr>
          <p:nvPr/>
        </p:nvSpPr>
        <p:spPr>
          <a:xfrm>
            <a:off x="6032500" y="1295399"/>
            <a:ext cx="76200" cy="2412999"/>
          </a:xfrm>
          <a:prstGeom prst="roundRect">
            <a:avLst>
              <a:gd name="adj" fmla="val 0"/>
            </a:avLst>
          </a:prstGeom>
          <a:solidFill>
            <a:srgbClr val="6B8E23"/>
          </a:solidFill>
          <a:ln w="25400" cap="flat" cmpd="sng">
            <a:noFill/>
            <a:prstDash val="solid"/>
            <a:round/>
          </a:ln>
        </p:spPr>
      </p:sp>
      <p:pic>
        <p:nvPicPr>
          <p:cNvPr id="123" name="Images"/>
          <p:cNvPicPr>
            <a:picLocks/>
          </p:cNvPicPr>
          <p:nvPr/>
        </p:nvPicPr>
        <p:blipFill>
          <a:blip r:embed="rId4" cstate="print"/>
          <a:stretch>
            <a:fillRect/>
          </a:stretch>
        </p:blipFill>
        <p:spPr>
          <a:xfrm>
            <a:off x="6350000" y="1549400"/>
            <a:ext cx="406399" cy="406398"/>
          </a:xfrm>
          <a:prstGeom prst="rect">
            <a:avLst/>
          </a:prstGeom>
          <a:noFill/>
          <a:ln w="12700" cap="flat" cmpd="sng">
            <a:noFill/>
            <a:prstDash val="solid"/>
            <a:miter/>
          </a:ln>
        </p:spPr>
      </p:pic>
      <p:sp>
        <p:nvSpPr>
          <p:cNvPr id="124" name="Rectangles"/>
          <p:cNvSpPr>
            <a:spLocks/>
          </p:cNvSpPr>
          <p:nvPr/>
        </p:nvSpPr>
        <p:spPr>
          <a:xfrm>
            <a:off x="6921500" y="1574800"/>
            <a:ext cx="4191000" cy="381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en-US" altLang="zh-CN" sz="1600" b="0" i="0" u="none" strike="noStrike" kern="1200" cap="none" spc="0" baseline="0">
                <a:solidFill>
                  <a:srgbClr val="1F2329"/>
                </a:solidFill>
                <a:latin typeface="Noto Sans SC" charset="-122"/>
                <a:ea typeface="Noto Sans SC" charset="-122"/>
                <a:cs typeface="Noto Sans SC" charset="-122"/>
                <a:sym typeface="Noto Sans SC" charset="-122"/>
              </a:rPr>
              <a:t>02. 动态特征混淆防护</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25" name="直线连接线"/>
          <p:cNvCxnSpPr>
            <a:cxnSpLocks/>
          </p:cNvCxnSpPr>
          <p:nvPr/>
        </p:nvCxnSpPr>
        <p:spPr>
          <a:xfrm>
            <a:off x="6350009" y="2178050"/>
            <a:ext cx="4635500" cy="12700"/>
          </a:xfrm>
          <a:prstGeom prst="straightConnector1">
            <a:avLst/>
          </a:prstGeom>
          <a:solidFill>
            <a:srgbClr val="DEE0E3"/>
          </a:solidFill>
          <a:ln w="12700" cap="flat" cmpd="sng">
            <a:solidFill>
              <a:srgbClr val="C8C8C8"/>
            </a:solidFill>
            <a:prstDash val="dash"/>
            <a:round/>
          </a:ln>
        </p:spPr>
      </p:cxnSp>
      <p:sp>
        <p:nvSpPr>
          <p:cNvPr id="126" name="Rectangles"/>
          <p:cNvSpPr>
            <a:spLocks/>
          </p:cNvSpPr>
          <p:nvPr/>
        </p:nvSpPr>
        <p:spPr>
          <a:xfrm>
            <a:off x="6350000" y="2311400"/>
            <a:ext cx="4699000" cy="1269999"/>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16000"/>
              </a:lnSpc>
              <a:spcBef>
                <a:spcPts val="0"/>
              </a:spcBef>
              <a:spcAft>
                <a:spcPts val="0"/>
              </a:spcAft>
              <a:buNone/>
            </a:pPr>
            <a:r>
              <a:rPr lang="zh-CN" altLang="en-US" sz="1600" b="0" i="0" u="none" strike="noStrike" kern="1200" cap="none" spc="0" baseline="0">
                <a:solidFill>
                  <a:srgbClr val="1F2329"/>
                </a:solidFill>
                <a:latin typeface="Noto Sans SC" charset="-122"/>
                <a:ea typeface="Noto Sans SC" charset="-122"/>
                <a:cs typeface="Noto Sans SC" charset="-122"/>
                <a:sym typeface="Noto Sans SC" charset="-122"/>
              </a:rPr>
              <a:t>核心目标:</a:t>
            </a:r>
            <a:r>
              <a:rPr lang="zh-CN" altLang="en-US" sz="1600" b="0" i="0" u="none" strike="noStrike" kern="1200" cap="none" spc="0" baseline="0">
                <a:solidFill>
                  <a:srgbClr val="555555"/>
                </a:solidFill>
                <a:latin typeface="Noto Sans SC" charset="-122"/>
                <a:ea typeface="Noto Sans SC" charset="-122"/>
                <a:cs typeface="Noto Sans SC" charset="-122"/>
                <a:sym typeface="Noto Sans SC" charset="-122"/>
              </a:rPr>
              <a:t>提升抗侧信道攻击能力。</a:t>
            </a:r>
            <a:endParaRPr lang="en-US" altLang="zh-CN" sz="1600" b="0" i="0" u="none" strike="noStrike" kern="1200" cap="none" spc="0" baseline="0">
              <a:solidFill>
                <a:schemeClr val="tx1"/>
              </a:solidFill>
              <a:latin typeface="Microsoft YaHei" charset="0"/>
              <a:ea typeface="Microsoft YaHei" charset="0"/>
              <a:cs typeface="Microsoft YaHei" charset="0"/>
            </a:endParaRPr>
          </a:p>
          <a:p>
            <a:pPr marL="0" indent="0" algn="l">
              <a:lnSpc>
                <a:spcPct val="116000"/>
              </a:lnSpc>
              <a:spcBef>
                <a:spcPts val="0"/>
              </a:spcBef>
              <a:spcAft>
                <a:spcPts val="0"/>
              </a:spcAft>
              <a:buNone/>
            </a:pPr>
            <a:r>
              <a:rPr lang="zh-CN" altLang="en-US" sz="1600" b="0" i="0" u="none" strike="noStrike" kern="1200" cap="none" spc="0" baseline="0">
                <a:solidFill>
                  <a:srgbClr val="1F2329"/>
                </a:solidFill>
                <a:latin typeface="Noto Sans SC" charset="-122"/>
                <a:ea typeface="Noto Sans SC" charset="-122"/>
                <a:cs typeface="Noto Sans SC" charset="-122"/>
                <a:sym typeface="Noto Sans SC" charset="-122"/>
              </a:rPr>
              <a:t>工作机制:</a:t>
            </a:r>
            <a:r>
              <a:rPr lang="zh-CN" altLang="en-US" sz="1600" b="0" i="0" u="none" strike="noStrike" kern="1200" cap="none" spc="0" baseline="0">
                <a:solidFill>
                  <a:srgbClr val="555555"/>
                </a:solidFill>
                <a:latin typeface="Noto Sans SC" charset="-122"/>
                <a:ea typeface="Noto Sans SC" charset="-122"/>
                <a:cs typeface="Noto Sans SC" charset="-122"/>
                <a:sym typeface="Noto Sans SC" charset="-122"/>
              </a:rPr>
              <a:t>依托混沌映射等算法，对原始硬件指纹进行随机混淆扰动，提升指纹信息熵与随机性。</a:t>
            </a:r>
          </a:p>
        </p:txBody>
      </p:sp>
      <p:sp>
        <p:nvSpPr>
          <p:cNvPr id="127" name="Rounded rectangle"/>
          <p:cNvSpPr>
            <a:spLocks/>
          </p:cNvSpPr>
          <p:nvPr/>
        </p:nvSpPr>
        <p:spPr>
          <a:xfrm>
            <a:off x="571500" y="3962400"/>
            <a:ext cx="5207000" cy="1905000"/>
          </a:xfrm>
          <a:prstGeom prst="roundRect">
            <a:avLst>
              <a:gd name="adj" fmla="val 0"/>
            </a:avLst>
          </a:prstGeom>
          <a:solidFill>
            <a:srgbClr val="F8F9FA"/>
          </a:solidFill>
          <a:ln w="12700" cap="flat" cmpd="sng">
            <a:solidFill>
              <a:srgbClr val="6B8E23">
                <a:alpha val="50000"/>
              </a:srgbClr>
            </a:solidFill>
            <a:prstDash val="solid"/>
            <a:round/>
          </a:ln>
        </p:spPr>
      </p:sp>
      <p:sp>
        <p:nvSpPr>
          <p:cNvPr id="128" name="Rounded rectangle"/>
          <p:cNvSpPr>
            <a:spLocks/>
          </p:cNvSpPr>
          <p:nvPr/>
        </p:nvSpPr>
        <p:spPr>
          <a:xfrm>
            <a:off x="571500" y="3962400"/>
            <a:ext cx="76200" cy="1905000"/>
          </a:xfrm>
          <a:prstGeom prst="roundRect">
            <a:avLst>
              <a:gd name="adj" fmla="val 0"/>
            </a:avLst>
          </a:prstGeom>
          <a:solidFill>
            <a:srgbClr val="6B8E23"/>
          </a:solidFill>
          <a:ln w="25400" cap="flat" cmpd="sng">
            <a:noFill/>
            <a:prstDash val="solid"/>
            <a:round/>
          </a:ln>
        </p:spPr>
      </p:sp>
      <p:pic>
        <p:nvPicPr>
          <p:cNvPr id="129" name="Images"/>
          <p:cNvPicPr>
            <a:picLocks/>
          </p:cNvPicPr>
          <p:nvPr/>
        </p:nvPicPr>
        <p:blipFill>
          <a:blip r:embed="rId5" cstate="print"/>
          <a:stretch>
            <a:fillRect/>
          </a:stretch>
        </p:blipFill>
        <p:spPr>
          <a:xfrm>
            <a:off x="889000" y="4216400"/>
            <a:ext cx="406400" cy="406400"/>
          </a:xfrm>
          <a:prstGeom prst="rect">
            <a:avLst/>
          </a:prstGeom>
          <a:noFill/>
          <a:ln w="12700" cap="flat" cmpd="sng">
            <a:noFill/>
            <a:prstDash val="solid"/>
            <a:miter/>
          </a:ln>
        </p:spPr>
      </p:pic>
      <p:sp>
        <p:nvSpPr>
          <p:cNvPr id="130" name="Rectangles"/>
          <p:cNvSpPr>
            <a:spLocks/>
          </p:cNvSpPr>
          <p:nvPr/>
        </p:nvSpPr>
        <p:spPr>
          <a:xfrm>
            <a:off x="1460498" y="4241800"/>
            <a:ext cx="4190999" cy="381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en-US" altLang="zh-CN" sz="1600" b="0" i="0" u="none" strike="noStrike" kern="1200" cap="none" spc="0" baseline="0">
                <a:solidFill>
                  <a:srgbClr val="1F2329"/>
                </a:solidFill>
                <a:latin typeface="Noto Sans SC" charset="-122"/>
                <a:ea typeface="Noto Sans SC" charset="-122"/>
                <a:cs typeface="Noto Sans SC" charset="-122"/>
                <a:sym typeface="Noto Sans SC" charset="-122"/>
              </a:rPr>
              <a:t>03. 自适应误差稳定校正</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31" name="直线连接线"/>
          <p:cNvCxnSpPr>
            <a:cxnSpLocks/>
          </p:cNvCxnSpPr>
          <p:nvPr/>
        </p:nvCxnSpPr>
        <p:spPr>
          <a:xfrm>
            <a:off x="889009" y="4781550"/>
            <a:ext cx="4635500" cy="12699"/>
          </a:xfrm>
          <a:prstGeom prst="straightConnector1">
            <a:avLst/>
          </a:prstGeom>
          <a:solidFill>
            <a:srgbClr val="DEE0E3"/>
          </a:solidFill>
          <a:ln w="12700" cap="flat" cmpd="sng">
            <a:solidFill>
              <a:srgbClr val="C8C8C8"/>
            </a:solidFill>
            <a:prstDash val="dash"/>
            <a:round/>
          </a:ln>
        </p:spPr>
      </p:cxnSp>
      <p:sp>
        <p:nvSpPr>
          <p:cNvPr id="132" name="Rectangles"/>
          <p:cNvSpPr>
            <a:spLocks/>
          </p:cNvSpPr>
          <p:nvPr/>
        </p:nvSpPr>
        <p:spPr>
          <a:xfrm>
            <a:off x="889000" y="4914900"/>
            <a:ext cx="4699000" cy="889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08000"/>
              </a:lnSpc>
              <a:spcBef>
                <a:spcPts val="0"/>
              </a:spcBef>
              <a:spcAft>
                <a:spcPts val="0"/>
              </a:spcAft>
              <a:buNone/>
            </a:pPr>
            <a:r>
              <a:rPr lang="zh-CN" altLang="en-US" sz="1600" b="0" i="0" u="none" strike="noStrike" kern="1200" cap="none" spc="0" baseline="0">
                <a:solidFill>
                  <a:srgbClr val="1F2329"/>
                </a:solidFill>
                <a:latin typeface="Noto Sans SC" charset="-122"/>
                <a:ea typeface="Noto Sans SC" charset="-122"/>
                <a:cs typeface="Noto Sans SC" charset="-122"/>
                <a:sym typeface="Noto Sans SC" charset="-122"/>
              </a:rPr>
              <a:t>核心目标:</a:t>
            </a:r>
            <a:r>
              <a:rPr lang="zh-CN" altLang="en-US" sz="1600" b="0" i="0" u="none" strike="noStrike" kern="1200" cap="none" spc="0" baseline="0">
                <a:solidFill>
                  <a:srgbClr val="555555"/>
                </a:solidFill>
                <a:latin typeface="Noto Sans SC" charset="-122"/>
                <a:ea typeface="Noto Sans SC" charset="-122"/>
                <a:cs typeface="Noto Sans SC" charset="-122"/>
                <a:sym typeface="Noto Sans SC" charset="-122"/>
              </a:rPr>
              <a:t>在动态变化中保障设备长期稳定运行。</a:t>
            </a:r>
            <a:endParaRPr lang="en-US" altLang="zh-CN" sz="1600" b="0" i="0" u="none" strike="noStrike" kern="1200" cap="none" spc="0" baseline="0">
              <a:solidFill>
                <a:schemeClr val="tx1"/>
              </a:solidFill>
              <a:latin typeface="Microsoft YaHei" charset="0"/>
              <a:ea typeface="Microsoft YaHei" charset="0"/>
              <a:cs typeface="Microsoft YaHei" charset="0"/>
            </a:endParaRPr>
          </a:p>
          <a:p>
            <a:pPr marL="0" indent="0" algn="l">
              <a:lnSpc>
                <a:spcPct val="108000"/>
              </a:lnSpc>
              <a:spcBef>
                <a:spcPts val="0"/>
              </a:spcBef>
              <a:spcAft>
                <a:spcPts val="0"/>
              </a:spcAft>
              <a:buNone/>
            </a:pPr>
            <a:r>
              <a:rPr lang="zh-CN" altLang="en-US" sz="1600" b="0" i="0" u="none" strike="noStrike" kern="1200" cap="none" spc="0" baseline="0">
                <a:solidFill>
                  <a:srgbClr val="1F2329"/>
                </a:solidFill>
                <a:latin typeface="Noto Sans SC" charset="-122"/>
                <a:ea typeface="Noto Sans SC" charset="-122"/>
                <a:cs typeface="Noto Sans SC" charset="-122"/>
                <a:sym typeface="Noto Sans SC" charset="-122"/>
              </a:rPr>
              <a:t>工作机制:</a:t>
            </a:r>
            <a:r>
              <a:rPr lang="zh-CN" altLang="en-US" sz="1600" b="0" i="0" u="none" strike="noStrike" kern="1200" cap="none" spc="0" baseline="0">
                <a:solidFill>
                  <a:srgbClr val="555555"/>
                </a:solidFill>
                <a:latin typeface="Noto Sans SC" charset="-122"/>
                <a:ea typeface="Noto Sans SC" charset="-122"/>
                <a:cs typeface="Noto Sans SC" charset="-122"/>
                <a:sym typeface="Noto Sans SC" charset="-122"/>
              </a:rPr>
              <a:t>通过动态阈值校准、BCH纠错码等技术，精准修正重构过程中的特征误差。</a:t>
            </a:r>
          </a:p>
        </p:txBody>
      </p:sp>
      <p:sp>
        <p:nvSpPr>
          <p:cNvPr id="133" name="Rounded rectangle"/>
          <p:cNvSpPr>
            <a:spLocks/>
          </p:cNvSpPr>
          <p:nvPr/>
        </p:nvSpPr>
        <p:spPr>
          <a:xfrm>
            <a:off x="6032500" y="3962400"/>
            <a:ext cx="5207000" cy="1905000"/>
          </a:xfrm>
          <a:prstGeom prst="roundRect">
            <a:avLst>
              <a:gd name="adj" fmla="val 0"/>
            </a:avLst>
          </a:prstGeom>
          <a:solidFill>
            <a:srgbClr val="F8F9FA"/>
          </a:solidFill>
          <a:ln w="12700" cap="flat" cmpd="sng">
            <a:solidFill>
              <a:srgbClr val="6B8E23">
                <a:alpha val="50000"/>
              </a:srgbClr>
            </a:solidFill>
            <a:prstDash val="solid"/>
            <a:round/>
          </a:ln>
        </p:spPr>
      </p:sp>
      <p:sp>
        <p:nvSpPr>
          <p:cNvPr id="134" name="Rounded rectangle"/>
          <p:cNvSpPr>
            <a:spLocks/>
          </p:cNvSpPr>
          <p:nvPr/>
        </p:nvSpPr>
        <p:spPr>
          <a:xfrm>
            <a:off x="6032500" y="3962400"/>
            <a:ext cx="76200" cy="1905000"/>
          </a:xfrm>
          <a:prstGeom prst="roundRect">
            <a:avLst>
              <a:gd name="adj" fmla="val 0"/>
            </a:avLst>
          </a:prstGeom>
          <a:solidFill>
            <a:srgbClr val="6B8E23"/>
          </a:solidFill>
          <a:ln w="25400" cap="flat" cmpd="sng">
            <a:noFill/>
            <a:prstDash val="solid"/>
            <a:round/>
          </a:ln>
        </p:spPr>
      </p:sp>
      <p:pic>
        <p:nvPicPr>
          <p:cNvPr id="135" name="Images"/>
          <p:cNvPicPr>
            <a:picLocks/>
          </p:cNvPicPr>
          <p:nvPr/>
        </p:nvPicPr>
        <p:blipFill>
          <a:blip r:embed="rId6" cstate="print"/>
          <a:stretch>
            <a:fillRect/>
          </a:stretch>
        </p:blipFill>
        <p:spPr>
          <a:xfrm>
            <a:off x="6350000" y="4216400"/>
            <a:ext cx="406399" cy="406400"/>
          </a:xfrm>
          <a:prstGeom prst="rect">
            <a:avLst/>
          </a:prstGeom>
          <a:noFill/>
          <a:ln w="12700" cap="flat" cmpd="sng">
            <a:noFill/>
            <a:prstDash val="solid"/>
            <a:miter/>
          </a:ln>
        </p:spPr>
      </p:pic>
      <p:sp>
        <p:nvSpPr>
          <p:cNvPr id="136" name="Rectangles"/>
          <p:cNvSpPr>
            <a:spLocks/>
          </p:cNvSpPr>
          <p:nvPr/>
        </p:nvSpPr>
        <p:spPr>
          <a:xfrm>
            <a:off x="6921500" y="4241800"/>
            <a:ext cx="4191000" cy="381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en-US" altLang="zh-CN" sz="1600" b="0" i="0" u="none" strike="noStrike" kern="1200" cap="none" spc="0" baseline="0">
                <a:solidFill>
                  <a:srgbClr val="1F2329"/>
                </a:solidFill>
                <a:latin typeface="Noto Sans SC" charset="-122"/>
                <a:ea typeface="Noto Sans SC" charset="-122"/>
                <a:cs typeface="Noto Sans SC" charset="-122"/>
                <a:sym typeface="Noto Sans SC" charset="-122"/>
              </a:rPr>
              <a:t>04. 动态密钥迭代生成</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37" name="直线连接线"/>
          <p:cNvCxnSpPr>
            <a:cxnSpLocks/>
          </p:cNvCxnSpPr>
          <p:nvPr/>
        </p:nvCxnSpPr>
        <p:spPr>
          <a:xfrm>
            <a:off x="6350009" y="4781550"/>
            <a:ext cx="4635500" cy="12699"/>
          </a:xfrm>
          <a:prstGeom prst="straightConnector1">
            <a:avLst/>
          </a:prstGeom>
          <a:solidFill>
            <a:srgbClr val="DEE0E3"/>
          </a:solidFill>
          <a:ln w="12700" cap="flat" cmpd="sng">
            <a:solidFill>
              <a:srgbClr val="C8C8C8"/>
            </a:solidFill>
            <a:prstDash val="dash"/>
            <a:round/>
          </a:ln>
        </p:spPr>
      </p:cxnSp>
      <p:sp>
        <p:nvSpPr>
          <p:cNvPr id="138" name="Rectangles"/>
          <p:cNvSpPr>
            <a:spLocks/>
          </p:cNvSpPr>
          <p:nvPr/>
        </p:nvSpPr>
        <p:spPr>
          <a:xfrm>
            <a:off x="6350000" y="4914900"/>
            <a:ext cx="4699000" cy="889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08000"/>
              </a:lnSpc>
              <a:spcBef>
                <a:spcPts val="0"/>
              </a:spcBef>
              <a:spcAft>
                <a:spcPts val="0"/>
              </a:spcAft>
              <a:buNone/>
            </a:pPr>
            <a:r>
              <a:rPr lang="zh-CN" altLang="en-US" sz="1600" b="0" i="0" u="none" strike="noStrike" kern="1200" cap="none" spc="0" baseline="0">
                <a:solidFill>
                  <a:srgbClr val="1F2329"/>
                </a:solidFill>
                <a:latin typeface="Noto Sans SC" charset="-122"/>
                <a:ea typeface="Noto Sans SC" charset="-122"/>
                <a:cs typeface="Noto Sans SC" charset="-122"/>
                <a:sym typeface="Noto Sans SC" charset="-122"/>
              </a:rPr>
              <a:t>核心目标:</a:t>
            </a:r>
            <a:r>
              <a:rPr lang="zh-CN" altLang="en-US" sz="1600" b="0" i="0" u="none" strike="noStrike" kern="1200" cap="none" spc="0" baseline="0">
                <a:solidFill>
                  <a:srgbClr val="555555"/>
                </a:solidFill>
                <a:latin typeface="Noto Sans SC" charset="-122"/>
                <a:ea typeface="Noto Sans SC" charset="-122"/>
                <a:cs typeface="Noto Sans SC" charset="-122"/>
                <a:sym typeface="Noto Sans SC" charset="-122"/>
              </a:rPr>
              <a:t>实现从硬件指纹到密钥的全流程动态安全。</a:t>
            </a:r>
            <a:endParaRPr lang="en-US" altLang="zh-CN" sz="1600" b="0" i="0" u="none" strike="noStrike" kern="1200" cap="none" spc="0" baseline="0">
              <a:solidFill>
                <a:schemeClr val="tx1"/>
              </a:solidFill>
              <a:latin typeface="Microsoft YaHei" charset="0"/>
              <a:ea typeface="Microsoft YaHei" charset="0"/>
              <a:cs typeface="Microsoft YaHei" charset="0"/>
            </a:endParaRPr>
          </a:p>
          <a:p>
            <a:pPr marL="0" indent="0" algn="l">
              <a:lnSpc>
                <a:spcPct val="108000"/>
              </a:lnSpc>
              <a:spcBef>
                <a:spcPts val="0"/>
              </a:spcBef>
              <a:spcAft>
                <a:spcPts val="0"/>
              </a:spcAft>
              <a:buNone/>
            </a:pPr>
            <a:r>
              <a:rPr lang="zh-CN" altLang="en-US" sz="1600" b="0" i="0" u="none" strike="noStrike" kern="1200" cap="none" spc="0" baseline="0">
                <a:solidFill>
                  <a:srgbClr val="1F2329"/>
                </a:solidFill>
                <a:latin typeface="Noto Sans SC" charset="-122"/>
                <a:ea typeface="Noto Sans SC" charset="-122"/>
                <a:cs typeface="Noto Sans SC" charset="-122"/>
                <a:sym typeface="Noto Sans SC" charset="-122"/>
              </a:rPr>
              <a:t>工作机制:</a:t>
            </a:r>
            <a:r>
              <a:rPr lang="zh-CN" altLang="en-US" sz="1600" b="0" i="0" u="none" strike="noStrike" kern="1200" cap="none" spc="0" baseline="0">
                <a:solidFill>
                  <a:srgbClr val="555555"/>
                </a:solidFill>
                <a:latin typeface="Noto Sans SC" charset="-122"/>
                <a:ea typeface="Noto Sans SC" charset="-122"/>
                <a:cs typeface="Noto Sans SC" charset="-122"/>
                <a:sym typeface="Noto Sans SC" charset="-122"/>
              </a:rPr>
              <a:t>以全新硬件指纹为信任根，实时迭代生成新密钥，形成“一次重构、一组新密钥”机制</a:t>
            </a:r>
            <a:r>
              <a:rPr lang="zh-CN" altLang="en-US" sz="1200" b="0" i="0" u="none" strike="noStrike" kern="1200" cap="none" spc="0" baseline="0">
                <a:solidFill>
                  <a:srgbClr val="555555"/>
                </a:solidFill>
                <a:latin typeface="Noto Sans SC" charset="-122"/>
                <a:ea typeface="Noto Sans SC" charset="-122"/>
                <a:cs typeface="Noto Sans SC" charset="-122"/>
                <a:sym typeface="Noto Sans SC" charset="-122"/>
              </a:rPr>
              <a:t>。</a:t>
            </a:r>
          </a:p>
        </p:txBody>
      </p:sp>
    </p:spTree>
    <p:extLst>
      <p:ext uri="{BB962C8B-B14F-4D97-AF65-F5344CB8AC3E}">
        <p14:creationId xmlns:p14="http://schemas.microsoft.com/office/powerpoint/2010/main" val="11649473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zh-CN" altLang="en-US" sz="3600" b="0" i="0" u="none" strike="noStrike" kern="1200" cap="none" spc="0" baseline="0">
                <a:solidFill>
                  <a:schemeClr val="accent1"/>
                </a:solidFill>
                <a:latin typeface="Microsoft YaHei" charset="0"/>
                <a:ea typeface="Microsoft YaHei" charset="0"/>
                <a:cs typeface="Microsoft YaHei" charset="0"/>
                <a:sym typeface="Microsoft YaHei" charset="0"/>
              </a:rPr>
              <a:t>可重构</a:t>
            </a:r>
            <a:r>
              <a:rPr lang="en-US" altLang="zh-CN" sz="3600" b="0" i="0" u="none" strike="noStrike" kern="1200" cap="none" spc="0" baseline="0">
                <a:solidFill>
                  <a:schemeClr val="accent1"/>
                </a:solidFill>
                <a:latin typeface="Microsoft YaHei" charset="0"/>
                <a:ea typeface="Microsoft YaHei" charset="0"/>
                <a:cs typeface="Microsoft YaHei" charset="0"/>
                <a:sym typeface="Microsoft YaHei" charset="0"/>
              </a:rPr>
              <a:t>PUF</a:t>
            </a:r>
            <a:r>
              <a:rPr lang="zh-CN" altLang="en-US" sz="3600" b="0" i="0" u="none" strike="noStrike" kern="1200" cap="none" spc="0" baseline="0">
                <a:solidFill>
                  <a:schemeClr val="accent1"/>
                </a:solidFill>
                <a:latin typeface="Microsoft YaHei" charset="0"/>
                <a:ea typeface="Microsoft YaHei" charset="0"/>
                <a:cs typeface="Microsoft YaHei" charset="0"/>
                <a:sym typeface="Microsoft YaHei" charset="0"/>
              </a:rPr>
              <a:t>的问题</a:t>
            </a:r>
          </a:p>
        </p:txBody>
      </p:sp>
      <p:sp>
        <p:nvSpPr>
          <p:cNvPr id="144" name="Rounded rectangle"/>
          <p:cNvSpPr>
            <a:spLocks/>
          </p:cNvSpPr>
          <p:nvPr/>
        </p:nvSpPr>
        <p:spPr>
          <a:xfrm>
            <a:off x="581025" y="2178685"/>
            <a:ext cx="5278906" cy="1673800"/>
          </a:xfrm>
          <a:prstGeom prst="roundRect">
            <a:avLst>
              <a:gd name="adj" fmla="val 0"/>
            </a:avLst>
          </a:prstGeom>
          <a:solidFill>
            <a:srgbClr val="F8F9FA"/>
          </a:solidFill>
          <a:ln w="12700" cap="flat" cmpd="sng">
            <a:solidFill>
              <a:srgbClr val="DDDDDD"/>
            </a:solidFill>
            <a:prstDash val="solid"/>
            <a:round/>
          </a:ln>
        </p:spPr>
      </p:sp>
      <p:sp>
        <p:nvSpPr>
          <p:cNvPr id="145" name="Rounded rectangle"/>
          <p:cNvSpPr>
            <a:spLocks/>
          </p:cNvSpPr>
          <p:nvPr/>
        </p:nvSpPr>
        <p:spPr>
          <a:xfrm>
            <a:off x="528955" y="2178685"/>
            <a:ext cx="51501" cy="1673800"/>
          </a:xfrm>
          <a:prstGeom prst="roundRect">
            <a:avLst>
              <a:gd name="adj" fmla="val 0"/>
            </a:avLst>
          </a:prstGeom>
          <a:solidFill>
            <a:srgbClr val="6B8E23"/>
          </a:solidFill>
          <a:ln w="25400" cap="flat" cmpd="sng">
            <a:noFill/>
            <a:prstDash val="solid"/>
            <a:round/>
          </a:ln>
        </p:spPr>
      </p:sp>
      <p:pic>
        <p:nvPicPr>
          <p:cNvPr id="146" name="Images"/>
          <p:cNvPicPr>
            <a:picLocks/>
          </p:cNvPicPr>
          <p:nvPr/>
        </p:nvPicPr>
        <p:blipFill>
          <a:blip r:embed="rId3" cstate="print"/>
          <a:stretch>
            <a:fillRect/>
          </a:stretch>
        </p:blipFill>
        <p:spPr>
          <a:xfrm>
            <a:off x="786462" y="2436193"/>
            <a:ext cx="412011" cy="412011"/>
          </a:xfrm>
          <a:prstGeom prst="rect">
            <a:avLst/>
          </a:prstGeom>
          <a:noFill/>
          <a:ln w="12700" cap="flat" cmpd="sng">
            <a:noFill/>
            <a:prstDash val="solid"/>
            <a:miter/>
          </a:ln>
        </p:spPr>
      </p:pic>
      <p:sp>
        <p:nvSpPr>
          <p:cNvPr id="147" name="Rectangles"/>
          <p:cNvSpPr>
            <a:spLocks/>
          </p:cNvSpPr>
          <p:nvPr/>
        </p:nvSpPr>
        <p:spPr>
          <a:xfrm>
            <a:off x="1430231" y="2436193"/>
            <a:ext cx="4120121" cy="38626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800" b="0" i="0" u="none" strike="noStrike" kern="1200" cap="none" spc="0" baseline="0">
                <a:solidFill>
                  <a:srgbClr val="333333"/>
                </a:solidFill>
                <a:latin typeface="Noto Sans SC" charset="-122"/>
                <a:ea typeface="Noto Sans SC" charset="-122"/>
                <a:cs typeface="Noto Sans SC" charset="-122"/>
                <a:sym typeface="Noto Sans SC" charset="-122"/>
              </a:rPr>
              <a:t>功耗开销偏大</a:t>
            </a:r>
            <a:endParaRPr lang="zh-CN" altLang="en-US" sz="1800" b="0" i="0" u="none" strike="noStrike" kern="1200" cap="none" spc="0" baseline="0">
              <a:solidFill>
                <a:schemeClr val="tx1"/>
              </a:solidFill>
              <a:latin typeface="Microsoft YaHei" charset="0"/>
              <a:ea typeface="Microsoft YaHei" charset="0"/>
              <a:cs typeface="Microsoft YaHei" charset="0"/>
            </a:endParaRPr>
          </a:p>
        </p:txBody>
      </p:sp>
      <p:cxnSp>
        <p:nvCxnSpPr>
          <p:cNvPr id="148" name="直线连接线"/>
          <p:cNvCxnSpPr>
            <a:cxnSpLocks/>
          </p:cNvCxnSpPr>
          <p:nvPr/>
        </p:nvCxnSpPr>
        <p:spPr>
          <a:xfrm>
            <a:off x="786471" y="2905642"/>
            <a:ext cx="4763890" cy="12874"/>
          </a:xfrm>
          <a:prstGeom prst="straightConnector1">
            <a:avLst/>
          </a:prstGeom>
          <a:solidFill>
            <a:srgbClr val="DEE0E3"/>
          </a:solidFill>
          <a:ln w="12700" cap="flat" cmpd="sng">
            <a:solidFill>
              <a:srgbClr val="DDDDDD"/>
            </a:solidFill>
            <a:prstDash val="dash"/>
            <a:round/>
          </a:ln>
        </p:spPr>
      </p:cxnSp>
      <p:sp>
        <p:nvSpPr>
          <p:cNvPr id="149" name="Rectangles"/>
          <p:cNvSpPr>
            <a:spLocks/>
          </p:cNvSpPr>
          <p:nvPr/>
        </p:nvSpPr>
        <p:spPr>
          <a:xfrm>
            <a:off x="786462" y="3144339"/>
            <a:ext cx="4635137" cy="643768"/>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08000"/>
              </a:lnSpc>
              <a:spcBef>
                <a:spcPts val="0"/>
              </a:spcBef>
              <a:spcAft>
                <a:spcPts val="0"/>
              </a:spcAft>
              <a:buNone/>
            </a:pPr>
            <a:r>
              <a:rPr lang="zh-CN" altLang="en-US" sz="1600" b="0" i="0" u="none" strike="noStrike" kern="1200" cap="none" spc="0" baseline="0">
                <a:solidFill>
                  <a:srgbClr val="666666"/>
                </a:solidFill>
                <a:latin typeface="Noto Sans SC" charset="-122"/>
                <a:ea typeface="Noto Sans SC" charset="-122"/>
                <a:cs typeface="Noto Sans SC" charset="-122"/>
                <a:sym typeface="Noto Sans SC" charset="-122"/>
              </a:rPr>
              <a:t>引入额外的可编程逻辑电路以支持动态重构，不可避免地增加了芯片的基础功耗，在低功耗嵌入式场景中尤为敏感。</a:t>
            </a:r>
            <a:endParaRPr lang="zh-CN" altLang="en-US" sz="1600" b="0" i="0" u="none" strike="noStrike" kern="1200" cap="none" spc="0" baseline="0">
              <a:solidFill>
                <a:schemeClr val="tx1"/>
              </a:solidFill>
              <a:latin typeface="Microsoft YaHei" charset="0"/>
              <a:ea typeface="Microsoft YaHei" charset="0"/>
              <a:cs typeface="Microsoft YaHei" charset="0"/>
            </a:endParaRPr>
          </a:p>
        </p:txBody>
      </p:sp>
      <p:sp>
        <p:nvSpPr>
          <p:cNvPr id="150" name="Rounded rectangle"/>
          <p:cNvSpPr>
            <a:spLocks/>
          </p:cNvSpPr>
          <p:nvPr/>
        </p:nvSpPr>
        <p:spPr>
          <a:xfrm>
            <a:off x="6065369" y="2178685"/>
            <a:ext cx="5278906" cy="1673800"/>
          </a:xfrm>
          <a:prstGeom prst="roundRect">
            <a:avLst>
              <a:gd name="adj" fmla="val 0"/>
            </a:avLst>
          </a:prstGeom>
          <a:solidFill>
            <a:srgbClr val="F8F9FA"/>
          </a:solidFill>
          <a:ln w="12700" cap="flat" cmpd="sng">
            <a:solidFill>
              <a:srgbClr val="DDDDDD"/>
            </a:solidFill>
            <a:prstDash val="solid"/>
            <a:round/>
          </a:ln>
        </p:spPr>
      </p:sp>
      <p:sp>
        <p:nvSpPr>
          <p:cNvPr id="151" name="Rounded rectangle"/>
          <p:cNvSpPr>
            <a:spLocks/>
          </p:cNvSpPr>
          <p:nvPr/>
        </p:nvSpPr>
        <p:spPr>
          <a:xfrm>
            <a:off x="6065369" y="2178685"/>
            <a:ext cx="51500" cy="1673800"/>
          </a:xfrm>
          <a:prstGeom prst="roundRect">
            <a:avLst>
              <a:gd name="adj" fmla="val 0"/>
            </a:avLst>
          </a:prstGeom>
          <a:solidFill>
            <a:srgbClr val="6B8E23"/>
          </a:solidFill>
          <a:ln w="25400" cap="flat" cmpd="sng">
            <a:noFill/>
            <a:prstDash val="solid"/>
            <a:round/>
          </a:ln>
        </p:spPr>
      </p:sp>
      <p:pic>
        <p:nvPicPr>
          <p:cNvPr id="152" name="Images"/>
          <p:cNvPicPr>
            <a:picLocks/>
          </p:cNvPicPr>
          <p:nvPr/>
        </p:nvPicPr>
        <p:blipFill>
          <a:blip r:embed="rId4" cstate="print"/>
          <a:stretch>
            <a:fillRect/>
          </a:stretch>
        </p:blipFill>
        <p:spPr>
          <a:xfrm>
            <a:off x="6322876" y="2436193"/>
            <a:ext cx="412012" cy="412011"/>
          </a:xfrm>
          <a:prstGeom prst="rect">
            <a:avLst/>
          </a:prstGeom>
          <a:noFill/>
          <a:ln w="12700" cap="flat" cmpd="sng">
            <a:noFill/>
            <a:prstDash val="solid"/>
            <a:miter/>
          </a:ln>
        </p:spPr>
      </p:pic>
      <p:sp>
        <p:nvSpPr>
          <p:cNvPr id="153" name="Rectangles"/>
          <p:cNvSpPr>
            <a:spLocks/>
          </p:cNvSpPr>
          <p:nvPr/>
        </p:nvSpPr>
        <p:spPr>
          <a:xfrm>
            <a:off x="6966644" y="2436193"/>
            <a:ext cx="4120121" cy="38626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600" b="0" i="0" u="none" strike="noStrike" kern="1200" cap="none" spc="0" baseline="0">
                <a:solidFill>
                  <a:srgbClr val="333333"/>
                </a:solidFill>
                <a:latin typeface="Noto Sans SC" charset="-122"/>
                <a:ea typeface="Noto Sans SC" charset="-122"/>
                <a:cs typeface="Noto Sans SC" charset="-122"/>
                <a:sym typeface="Noto Sans SC" charset="-122"/>
              </a:rPr>
              <a:t>稳定性不足</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54" name="直线连接线"/>
          <p:cNvCxnSpPr>
            <a:cxnSpLocks/>
          </p:cNvCxnSpPr>
          <p:nvPr/>
        </p:nvCxnSpPr>
        <p:spPr>
          <a:xfrm>
            <a:off x="6322886" y="2957077"/>
            <a:ext cx="4763889" cy="12874"/>
          </a:xfrm>
          <a:prstGeom prst="straightConnector1">
            <a:avLst/>
          </a:prstGeom>
          <a:solidFill>
            <a:srgbClr val="DEE0E3"/>
          </a:solidFill>
          <a:ln w="12700" cap="flat" cmpd="sng">
            <a:solidFill>
              <a:srgbClr val="DDDDDD"/>
            </a:solidFill>
            <a:prstDash val="dash"/>
            <a:round/>
          </a:ln>
        </p:spPr>
      </p:cxnSp>
      <p:sp>
        <p:nvSpPr>
          <p:cNvPr id="155" name="Rectangles"/>
          <p:cNvSpPr>
            <a:spLocks/>
          </p:cNvSpPr>
          <p:nvPr/>
        </p:nvSpPr>
        <p:spPr>
          <a:xfrm>
            <a:off x="6322876" y="3144339"/>
            <a:ext cx="4635137" cy="643768"/>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08000"/>
              </a:lnSpc>
              <a:spcBef>
                <a:spcPts val="0"/>
              </a:spcBef>
              <a:spcAft>
                <a:spcPts val="0"/>
              </a:spcAft>
              <a:buNone/>
            </a:pPr>
            <a:r>
              <a:rPr lang="zh-CN" altLang="en-US" sz="1600" b="0" i="0" u="none" strike="noStrike" kern="1200" cap="none" spc="0" baseline="0">
                <a:solidFill>
                  <a:srgbClr val="666666"/>
                </a:solidFill>
                <a:latin typeface="Noto Sans SC" charset="-122"/>
                <a:ea typeface="Noto Sans SC" charset="-122"/>
                <a:cs typeface="Noto Sans SC" charset="-122"/>
                <a:sym typeface="Noto Sans SC" charset="-122"/>
              </a:rPr>
              <a:t>在高低温、电压波动等复杂恶劣工况下，物理特征易发生漂移，导致PUF响应的唯一性与可靠性出现波动。</a:t>
            </a:r>
            <a:endParaRPr lang="zh-CN" altLang="en-US" sz="1600" b="0" i="0" u="none" strike="noStrike" kern="1200" cap="none" spc="0" baseline="0">
              <a:solidFill>
                <a:schemeClr val="tx1"/>
              </a:solidFill>
              <a:latin typeface="Microsoft YaHei" charset="0"/>
              <a:ea typeface="Microsoft YaHei" charset="0"/>
              <a:cs typeface="Microsoft YaHei" charset="0"/>
            </a:endParaRPr>
          </a:p>
        </p:txBody>
      </p:sp>
      <p:sp>
        <p:nvSpPr>
          <p:cNvPr id="156" name="Rounded rectangle"/>
          <p:cNvSpPr>
            <a:spLocks/>
          </p:cNvSpPr>
          <p:nvPr/>
        </p:nvSpPr>
        <p:spPr>
          <a:xfrm>
            <a:off x="528955" y="4109992"/>
            <a:ext cx="5278906" cy="1673800"/>
          </a:xfrm>
          <a:prstGeom prst="roundRect">
            <a:avLst>
              <a:gd name="adj" fmla="val 0"/>
            </a:avLst>
          </a:prstGeom>
          <a:solidFill>
            <a:srgbClr val="F8F9FA"/>
          </a:solidFill>
          <a:ln w="12700" cap="flat" cmpd="sng">
            <a:solidFill>
              <a:srgbClr val="DDDDDD"/>
            </a:solidFill>
            <a:prstDash val="solid"/>
            <a:round/>
          </a:ln>
        </p:spPr>
      </p:sp>
      <p:sp>
        <p:nvSpPr>
          <p:cNvPr id="157" name="Rounded rectangle"/>
          <p:cNvSpPr>
            <a:spLocks/>
          </p:cNvSpPr>
          <p:nvPr/>
        </p:nvSpPr>
        <p:spPr>
          <a:xfrm>
            <a:off x="528955" y="4109992"/>
            <a:ext cx="51501" cy="1673800"/>
          </a:xfrm>
          <a:prstGeom prst="roundRect">
            <a:avLst>
              <a:gd name="adj" fmla="val 0"/>
            </a:avLst>
          </a:prstGeom>
          <a:solidFill>
            <a:srgbClr val="6B8E23"/>
          </a:solidFill>
          <a:ln w="25400" cap="flat" cmpd="sng">
            <a:noFill/>
            <a:prstDash val="solid"/>
            <a:round/>
          </a:ln>
        </p:spPr>
      </p:sp>
      <p:pic>
        <p:nvPicPr>
          <p:cNvPr id="158" name="Images"/>
          <p:cNvPicPr>
            <a:picLocks/>
          </p:cNvPicPr>
          <p:nvPr/>
        </p:nvPicPr>
        <p:blipFill>
          <a:blip r:embed="rId5" cstate="print"/>
          <a:stretch>
            <a:fillRect/>
          </a:stretch>
        </p:blipFill>
        <p:spPr>
          <a:xfrm>
            <a:off x="786462" y="4367500"/>
            <a:ext cx="412011" cy="412011"/>
          </a:xfrm>
          <a:prstGeom prst="rect">
            <a:avLst/>
          </a:prstGeom>
          <a:noFill/>
          <a:ln w="12700" cap="flat" cmpd="sng">
            <a:noFill/>
            <a:prstDash val="solid"/>
            <a:miter/>
          </a:ln>
        </p:spPr>
      </p:pic>
      <p:sp>
        <p:nvSpPr>
          <p:cNvPr id="159" name="Rectangles"/>
          <p:cNvSpPr>
            <a:spLocks/>
          </p:cNvSpPr>
          <p:nvPr/>
        </p:nvSpPr>
        <p:spPr>
          <a:xfrm>
            <a:off x="1430231" y="4367500"/>
            <a:ext cx="4120121" cy="38626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600" b="0" i="0" u="none" strike="noStrike" kern="1200" cap="none" spc="0" baseline="0">
                <a:solidFill>
                  <a:srgbClr val="333333"/>
                </a:solidFill>
                <a:latin typeface="Noto Sans SC" charset="-122"/>
                <a:ea typeface="Noto Sans SC" charset="-122"/>
                <a:cs typeface="Noto Sans SC" charset="-122"/>
                <a:sym typeface="Noto Sans SC" charset="-122"/>
              </a:rPr>
              <a:t>适配性较差</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60" name="直线连接线"/>
          <p:cNvCxnSpPr>
            <a:cxnSpLocks/>
          </p:cNvCxnSpPr>
          <p:nvPr/>
        </p:nvCxnSpPr>
        <p:spPr>
          <a:xfrm>
            <a:off x="722336" y="4837584"/>
            <a:ext cx="4763891" cy="12874"/>
          </a:xfrm>
          <a:prstGeom prst="straightConnector1">
            <a:avLst/>
          </a:prstGeom>
          <a:solidFill>
            <a:srgbClr val="DEE0E3"/>
          </a:solidFill>
          <a:ln w="12700" cap="flat" cmpd="sng">
            <a:solidFill>
              <a:srgbClr val="DDDDDD"/>
            </a:solidFill>
            <a:prstDash val="dash"/>
            <a:round/>
          </a:ln>
        </p:spPr>
      </p:cxnSp>
      <p:sp>
        <p:nvSpPr>
          <p:cNvPr id="161" name="Rectangles"/>
          <p:cNvSpPr>
            <a:spLocks/>
          </p:cNvSpPr>
          <p:nvPr/>
        </p:nvSpPr>
        <p:spPr>
          <a:xfrm>
            <a:off x="786462" y="5015079"/>
            <a:ext cx="4635137" cy="643767"/>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08000"/>
              </a:lnSpc>
              <a:spcBef>
                <a:spcPts val="0"/>
              </a:spcBef>
              <a:spcAft>
                <a:spcPts val="0"/>
              </a:spcAft>
              <a:buNone/>
            </a:pPr>
            <a:r>
              <a:rPr lang="zh-CN" altLang="en-US" sz="1600" b="0" i="0" u="none" strike="noStrike" kern="1200" cap="none" spc="0" baseline="0">
                <a:solidFill>
                  <a:srgbClr val="666666"/>
                </a:solidFill>
                <a:latin typeface="Noto Sans SC" charset="-122"/>
                <a:ea typeface="Noto Sans SC" charset="-122"/>
                <a:cs typeface="Noto Sans SC" charset="-122"/>
                <a:sym typeface="Noto Sans SC" charset="-122"/>
              </a:rPr>
              <a:t>在高频次、高并发的高速认证场景中，PUF的动态重构速度与响应延迟可能成为系统性能的关键瓶颈。</a:t>
            </a:r>
            <a:endParaRPr lang="zh-CN" altLang="en-US" sz="1600" b="0" i="0" u="none" strike="noStrike" kern="1200" cap="none" spc="0" baseline="0">
              <a:solidFill>
                <a:schemeClr val="tx1"/>
              </a:solidFill>
              <a:latin typeface="Microsoft YaHei" charset="0"/>
              <a:ea typeface="Microsoft YaHei" charset="0"/>
              <a:cs typeface="Microsoft YaHei" charset="0"/>
            </a:endParaRPr>
          </a:p>
        </p:txBody>
      </p:sp>
      <p:sp>
        <p:nvSpPr>
          <p:cNvPr id="162" name="Rounded rectangle"/>
          <p:cNvSpPr>
            <a:spLocks/>
          </p:cNvSpPr>
          <p:nvPr/>
        </p:nvSpPr>
        <p:spPr>
          <a:xfrm>
            <a:off x="6065369" y="4109992"/>
            <a:ext cx="5278906" cy="1673800"/>
          </a:xfrm>
          <a:prstGeom prst="roundRect">
            <a:avLst>
              <a:gd name="adj" fmla="val 0"/>
            </a:avLst>
          </a:prstGeom>
          <a:solidFill>
            <a:srgbClr val="F8F9FA"/>
          </a:solidFill>
          <a:ln w="12700" cap="flat" cmpd="sng">
            <a:solidFill>
              <a:srgbClr val="DDDDDD"/>
            </a:solidFill>
            <a:prstDash val="solid"/>
            <a:round/>
          </a:ln>
        </p:spPr>
      </p:sp>
      <p:sp>
        <p:nvSpPr>
          <p:cNvPr id="163" name="Rounded rectangle"/>
          <p:cNvSpPr>
            <a:spLocks/>
          </p:cNvSpPr>
          <p:nvPr/>
        </p:nvSpPr>
        <p:spPr>
          <a:xfrm>
            <a:off x="6065369" y="4109992"/>
            <a:ext cx="51500" cy="1673800"/>
          </a:xfrm>
          <a:prstGeom prst="roundRect">
            <a:avLst>
              <a:gd name="adj" fmla="val 0"/>
            </a:avLst>
          </a:prstGeom>
          <a:solidFill>
            <a:srgbClr val="6B8E23"/>
          </a:solidFill>
          <a:ln w="25400" cap="flat" cmpd="sng">
            <a:noFill/>
            <a:prstDash val="solid"/>
            <a:round/>
          </a:ln>
        </p:spPr>
      </p:sp>
      <p:pic>
        <p:nvPicPr>
          <p:cNvPr id="164" name="Images"/>
          <p:cNvPicPr>
            <a:picLocks/>
          </p:cNvPicPr>
          <p:nvPr/>
        </p:nvPicPr>
        <p:blipFill>
          <a:blip r:embed="rId6" cstate="print"/>
          <a:stretch>
            <a:fillRect/>
          </a:stretch>
        </p:blipFill>
        <p:spPr>
          <a:xfrm>
            <a:off x="6322876" y="4367500"/>
            <a:ext cx="412012" cy="412011"/>
          </a:xfrm>
          <a:prstGeom prst="rect">
            <a:avLst/>
          </a:prstGeom>
          <a:noFill/>
          <a:ln w="12700" cap="flat" cmpd="sng">
            <a:noFill/>
            <a:prstDash val="solid"/>
            <a:miter/>
          </a:ln>
        </p:spPr>
      </p:pic>
      <p:sp>
        <p:nvSpPr>
          <p:cNvPr id="165" name="Rectangles"/>
          <p:cNvSpPr>
            <a:spLocks/>
          </p:cNvSpPr>
          <p:nvPr/>
        </p:nvSpPr>
        <p:spPr>
          <a:xfrm>
            <a:off x="6966644" y="4367500"/>
            <a:ext cx="4120121" cy="38626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600" b="0" i="0" u="none" strike="noStrike" kern="1200" cap="none" spc="0" baseline="0">
                <a:solidFill>
                  <a:srgbClr val="333333"/>
                </a:solidFill>
                <a:latin typeface="Noto Sans SC" charset="-122"/>
                <a:ea typeface="Noto Sans SC" charset="-122"/>
                <a:cs typeface="Noto Sans SC" charset="-122"/>
                <a:sym typeface="Noto Sans SC" charset="-122"/>
              </a:rPr>
              <a:t>策略固化单一</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66" name="直线连接线"/>
          <p:cNvCxnSpPr>
            <a:cxnSpLocks/>
          </p:cNvCxnSpPr>
          <p:nvPr/>
        </p:nvCxnSpPr>
        <p:spPr>
          <a:xfrm>
            <a:off x="6322886" y="4836949"/>
            <a:ext cx="4763889" cy="12874"/>
          </a:xfrm>
          <a:prstGeom prst="straightConnector1">
            <a:avLst/>
          </a:prstGeom>
          <a:solidFill>
            <a:srgbClr val="DEE0E3"/>
          </a:solidFill>
          <a:ln w="12700" cap="flat" cmpd="sng">
            <a:solidFill>
              <a:srgbClr val="DDDDDD"/>
            </a:solidFill>
            <a:prstDash val="dash"/>
            <a:round/>
          </a:ln>
        </p:spPr>
      </p:cxnSp>
      <p:sp>
        <p:nvSpPr>
          <p:cNvPr id="167" name="Rectangles"/>
          <p:cNvSpPr>
            <a:spLocks/>
          </p:cNvSpPr>
          <p:nvPr/>
        </p:nvSpPr>
        <p:spPr>
          <a:xfrm>
            <a:off x="6322876" y="5011269"/>
            <a:ext cx="4635137" cy="643767"/>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08000"/>
              </a:lnSpc>
              <a:spcBef>
                <a:spcPts val="0"/>
              </a:spcBef>
              <a:spcAft>
                <a:spcPts val="0"/>
              </a:spcAft>
              <a:buNone/>
            </a:pPr>
            <a:r>
              <a:rPr lang="zh-CN" altLang="en-US" sz="1600" b="0" i="0" u="none" strike="noStrike" kern="1200" cap="none" spc="0" baseline="0">
                <a:solidFill>
                  <a:srgbClr val="666666"/>
                </a:solidFill>
                <a:latin typeface="Noto Sans SC" charset="-122"/>
                <a:ea typeface="Noto Sans SC" charset="-122"/>
                <a:cs typeface="Noto Sans SC" charset="-122"/>
                <a:sym typeface="Noto Sans SC" charset="-122"/>
              </a:rPr>
              <a:t>当前主流重构策略多基于预设规则，缺乏自适应学习与动态演化能力，智能化程度不足，难以应对复杂的攻击手段。</a:t>
            </a:r>
            <a:endParaRPr lang="zh-CN" altLang="en-US" sz="1600" b="0" i="0" u="none" strike="noStrike" kern="1200" cap="none" spc="0" baseline="0">
              <a:solidFill>
                <a:schemeClr val="tx1"/>
              </a:solidFill>
              <a:latin typeface="Microsoft YaHei" charset="0"/>
              <a:ea typeface="Microsoft YaHei" charset="0"/>
              <a:cs typeface="Microsoft YaHei" charset="0"/>
            </a:endParaRPr>
          </a:p>
        </p:txBody>
      </p:sp>
      <p:sp>
        <p:nvSpPr>
          <p:cNvPr id="168" name="Rectangles"/>
          <p:cNvSpPr>
            <a:spLocks/>
          </p:cNvSpPr>
          <p:nvPr/>
        </p:nvSpPr>
        <p:spPr>
          <a:xfrm>
            <a:off x="581025" y="1250948"/>
            <a:ext cx="10762615" cy="64389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16000"/>
              </a:lnSpc>
              <a:spcBef>
                <a:spcPts val="0"/>
              </a:spcBef>
              <a:spcAft>
                <a:spcPts val="0"/>
              </a:spcAft>
              <a:buNone/>
            </a:pPr>
            <a:r>
              <a:rPr lang="zh-CN" altLang="en-US" sz="1600" b="0" i="0" u="none" strike="noStrike" kern="1200" cap="none" spc="0" baseline="0">
                <a:solidFill>
                  <a:srgbClr val="666666"/>
                </a:solidFill>
                <a:latin typeface="Noto Sans SC" charset="-122"/>
                <a:ea typeface="Noto Sans SC" charset="-122"/>
                <a:cs typeface="Noto Sans SC" charset="-122"/>
                <a:sym typeface="Noto Sans SC" charset="-122"/>
              </a:rPr>
              <a:t>尽管可重构PUF技术在硬件安全领域前景广阔，但受限于当前工艺与算法，其在实际落地过程中仍面临诸多技术瓶颈，制约了全场景的规模化普及应用。</a:t>
            </a:r>
          </a:p>
        </p:txBody>
      </p:sp>
    </p:spTree>
    <p:extLst>
      <p:ext uri="{BB962C8B-B14F-4D97-AF65-F5344CB8AC3E}">
        <p14:creationId xmlns:p14="http://schemas.microsoft.com/office/powerpoint/2010/main" val="270253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2"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可重构</a:t>
            </a:r>
            <a:r>
              <a:rPr lang="en-US" altLang="zh-CN"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PUF</a:t>
            </a: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的未来发展趋势</a:t>
            </a:r>
          </a:p>
        </p:txBody>
      </p:sp>
      <p:sp>
        <p:nvSpPr>
          <p:cNvPr id="173"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7</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pic>
        <p:nvPicPr>
          <p:cNvPr id="174" name="Images"/>
          <p:cNvPicPr>
            <a:picLocks/>
          </p:cNvPicPr>
          <p:nvPr/>
        </p:nvPicPr>
        <p:blipFill>
          <a:blip r:embed="rId3" cstate="print"/>
          <a:stretch>
            <a:fillRect/>
          </a:stretch>
        </p:blipFill>
        <p:spPr>
          <a:xfrm>
            <a:off x="892810" y="1465580"/>
            <a:ext cx="457200" cy="457200"/>
          </a:xfrm>
          <a:prstGeom prst="rect">
            <a:avLst/>
          </a:prstGeom>
          <a:noFill/>
          <a:ln w="12700" cap="flat" cmpd="sng">
            <a:noFill/>
            <a:prstDash val="solid"/>
            <a:miter/>
          </a:ln>
        </p:spPr>
      </p:pic>
      <p:sp>
        <p:nvSpPr>
          <p:cNvPr id="175" name="Rectangles"/>
          <p:cNvSpPr>
            <a:spLocks/>
          </p:cNvSpPr>
          <p:nvPr/>
        </p:nvSpPr>
        <p:spPr>
          <a:xfrm>
            <a:off x="1527809" y="1427480"/>
            <a:ext cx="4063999" cy="381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800" b="0" i="0" u="none" strike="noStrike" kern="1200" cap="none" spc="0" baseline="0">
                <a:solidFill>
                  <a:srgbClr val="556B2F"/>
                </a:solidFill>
                <a:latin typeface="Noto Sans SC" charset="-122"/>
                <a:ea typeface="Noto Sans SC" charset="-122"/>
                <a:cs typeface="Noto Sans SC" charset="-122"/>
                <a:sym typeface="Noto Sans SC" charset="-122"/>
              </a:rPr>
              <a:t>趋势一：智能自适应重构</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76" name="直线连接线"/>
          <p:cNvCxnSpPr>
            <a:cxnSpLocks/>
          </p:cNvCxnSpPr>
          <p:nvPr/>
        </p:nvCxnSpPr>
        <p:spPr>
          <a:xfrm>
            <a:off x="892819" y="2094230"/>
            <a:ext cx="4699017" cy="12700"/>
          </a:xfrm>
          <a:prstGeom prst="straightConnector1">
            <a:avLst/>
          </a:prstGeom>
          <a:solidFill>
            <a:srgbClr val="DEE0E3"/>
          </a:solidFill>
          <a:ln w="12700" cap="flat" cmpd="sng">
            <a:solidFill>
              <a:srgbClr val="DDDDDD"/>
            </a:solidFill>
            <a:prstDash val="solid"/>
            <a:round/>
          </a:ln>
        </p:spPr>
      </p:cxnSp>
      <p:sp>
        <p:nvSpPr>
          <p:cNvPr id="177" name="Rectangles"/>
          <p:cNvSpPr>
            <a:spLocks/>
          </p:cNvSpPr>
          <p:nvPr/>
        </p:nvSpPr>
        <p:spPr>
          <a:xfrm>
            <a:off x="892810" y="2207260"/>
            <a:ext cx="4698999" cy="888999"/>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16000"/>
              </a:lnSpc>
              <a:spcBef>
                <a:spcPts val="0"/>
              </a:spcBef>
              <a:spcAft>
                <a:spcPts val="0"/>
              </a:spcAft>
              <a:buNone/>
            </a:pPr>
            <a:r>
              <a:rPr lang="zh-CN" altLang="en-US" sz="1600" b="0" i="0" u="none" strike="noStrike" kern="1200" cap="none" spc="0" baseline="0">
                <a:solidFill>
                  <a:srgbClr val="333333"/>
                </a:solidFill>
                <a:latin typeface="Noto Sans SC" charset="-122"/>
                <a:ea typeface="Noto Sans SC" charset="-122"/>
                <a:cs typeface="Noto Sans SC" charset="-122"/>
                <a:sym typeface="Noto Sans SC" charset="-122"/>
              </a:rPr>
              <a:t>从固定周期重构转向基于状态感知和智能识别的自适应重构，实现“无攻击稳运行、遇攻击快迭代”的主动防御，大幅提升系统对未知威胁的响应速度。</a:t>
            </a:r>
            <a:endParaRPr lang="zh-CN" altLang="en-US" sz="1600" b="0" i="0" u="none" strike="noStrike" kern="1200" cap="none" spc="0" baseline="0">
              <a:solidFill>
                <a:schemeClr val="tx1"/>
              </a:solidFill>
              <a:latin typeface="Microsoft YaHei" charset="0"/>
              <a:ea typeface="Microsoft YaHei" charset="0"/>
              <a:cs typeface="Microsoft YaHei" charset="0"/>
            </a:endParaRPr>
          </a:p>
        </p:txBody>
      </p:sp>
      <p:pic>
        <p:nvPicPr>
          <p:cNvPr id="178" name="Images"/>
          <p:cNvPicPr>
            <a:picLocks/>
          </p:cNvPicPr>
          <p:nvPr/>
        </p:nvPicPr>
        <p:blipFill>
          <a:blip r:embed="rId4" cstate="print"/>
          <a:stretch>
            <a:fillRect/>
          </a:stretch>
        </p:blipFill>
        <p:spPr>
          <a:xfrm>
            <a:off x="892810" y="3878580"/>
            <a:ext cx="457200" cy="457200"/>
          </a:xfrm>
          <a:prstGeom prst="rect">
            <a:avLst/>
          </a:prstGeom>
          <a:noFill/>
          <a:ln w="12700" cap="flat" cmpd="sng">
            <a:noFill/>
            <a:prstDash val="solid"/>
            <a:miter/>
          </a:ln>
        </p:spPr>
      </p:pic>
      <p:sp>
        <p:nvSpPr>
          <p:cNvPr id="179" name="Rectangles"/>
          <p:cNvSpPr>
            <a:spLocks/>
          </p:cNvSpPr>
          <p:nvPr/>
        </p:nvSpPr>
        <p:spPr>
          <a:xfrm>
            <a:off x="1527809" y="3840480"/>
            <a:ext cx="4063999" cy="381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800" b="0" i="0" u="none" strike="noStrike" kern="1200" cap="none" spc="0" baseline="0">
                <a:solidFill>
                  <a:srgbClr val="556B2F"/>
                </a:solidFill>
                <a:latin typeface="Noto Sans SC" charset="-122"/>
                <a:ea typeface="Noto Sans SC" charset="-122"/>
                <a:cs typeface="Noto Sans SC" charset="-122"/>
                <a:sym typeface="Noto Sans SC" charset="-122"/>
              </a:rPr>
              <a:t>趋势二：轻量化低功耗适配</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80" name="直线连接线"/>
          <p:cNvCxnSpPr>
            <a:cxnSpLocks/>
          </p:cNvCxnSpPr>
          <p:nvPr/>
        </p:nvCxnSpPr>
        <p:spPr>
          <a:xfrm>
            <a:off x="892819" y="4507230"/>
            <a:ext cx="4699017" cy="12699"/>
          </a:xfrm>
          <a:prstGeom prst="straightConnector1">
            <a:avLst/>
          </a:prstGeom>
          <a:solidFill>
            <a:srgbClr val="DEE0E3"/>
          </a:solidFill>
          <a:ln w="12700" cap="flat" cmpd="sng">
            <a:solidFill>
              <a:srgbClr val="DDDDDD"/>
            </a:solidFill>
            <a:prstDash val="solid"/>
            <a:round/>
          </a:ln>
        </p:spPr>
      </p:cxnSp>
      <p:sp>
        <p:nvSpPr>
          <p:cNvPr id="181" name="Rectangles"/>
          <p:cNvSpPr>
            <a:spLocks/>
          </p:cNvSpPr>
          <p:nvPr/>
        </p:nvSpPr>
        <p:spPr>
          <a:xfrm>
            <a:off x="892810" y="4640580"/>
            <a:ext cx="4698999" cy="889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16000"/>
              </a:lnSpc>
              <a:spcBef>
                <a:spcPts val="0"/>
              </a:spcBef>
              <a:spcAft>
                <a:spcPts val="0"/>
              </a:spcAft>
              <a:buNone/>
            </a:pPr>
            <a:r>
              <a:rPr lang="zh-CN" altLang="en-US" sz="1600" b="0" i="0" u="none" strike="noStrike" kern="1200" cap="none" spc="0" baseline="0">
                <a:solidFill>
                  <a:srgbClr val="333333"/>
                </a:solidFill>
                <a:latin typeface="Noto Sans SC" charset="-122"/>
                <a:ea typeface="Noto Sans SC" charset="-122"/>
                <a:cs typeface="Noto Sans SC" charset="-122"/>
                <a:sym typeface="Noto Sans SC" charset="-122"/>
              </a:rPr>
              <a:t>通过精简电路架构和优化底层算法，大幅降低硬件开销与能耗，完美适配物联网终端、可穿戴设备等资源受限场景，拓展技术应用边界。</a:t>
            </a:r>
            <a:endParaRPr lang="zh-CN" altLang="en-US" sz="1600" b="0" i="0" u="none" strike="noStrike" kern="1200" cap="none" spc="0" baseline="0">
              <a:solidFill>
                <a:schemeClr val="tx1"/>
              </a:solidFill>
              <a:latin typeface="Microsoft YaHei" charset="0"/>
              <a:ea typeface="Microsoft YaHei" charset="0"/>
              <a:cs typeface="Microsoft YaHei" charset="0"/>
            </a:endParaRPr>
          </a:p>
        </p:txBody>
      </p:sp>
      <p:pic>
        <p:nvPicPr>
          <p:cNvPr id="182" name="Images"/>
          <p:cNvPicPr>
            <a:picLocks/>
          </p:cNvPicPr>
          <p:nvPr/>
        </p:nvPicPr>
        <p:blipFill>
          <a:blip r:embed="rId5" cstate="print"/>
          <a:stretch>
            <a:fillRect/>
          </a:stretch>
        </p:blipFill>
        <p:spPr>
          <a:xfrm>
            <a:off x="6353810" y="1465580"/>
            <a:ext cx="457200" cy="457200"/>
          </a:xfrm>
          <a:prstGeom prst="rect">
            <a:avLst/>
          </a:prstGeom>
          <a:noFill/>
          <a:ln w="12700" cap="flat" cmpd="sng">
            <a:noFill/>
            <a:prstDash val="solid"/>
            <a:miter/>
          </a:ln>
        </p:spPr>
      </p:pic>
      <p:sp>
        <p:nvSpPr>
          <p:cNvPr id="183" name="Rectangles"/>
          <p:cNvSpPr>
            <a:spLocks/>
          </p:cNvSpPr>
          <p:nvPr/>
        </p:nvSpPr>
        <p:spPr>
          <a:xfrm>
            <a:off x="6988810" y="1427480"/>
            <a:ext cx="4064000" cy="381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800" b="0" i="0" u="none" strike="noStrike" kern="1200" cap="none" spc="0" baseline="0">
                <a:solidFill>
                  <a:srgbClr val="556B2F"/>
                </a:solidFill>
                <a:latin typeface="Noto Sans SC" charset="-122"/>
                <a:ea typeface="Noto Sans SC" charset="-122"/>
                <a:cs typeface="Noto Sans SC" charset="-122"/>
                <a:sym typeface="Noto Sans SC" charset="-122"/>
              </a:rPr>
              <a:t>趋势三：多技术融合防护</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84" name="直线连接线"/>
          <p:cNvCxnSpPr>
            <a:cxnSpLocks/>
          </p:cNvCxnSpPr>
          <p:nvPr/>
        </p:nvCxnSpPr>
        <p:spPr>
          <a:xfrm>
            <a:off x="6353819" y="2094230"/>
            <a:ext cx="4699016" cy="12700"/>
          </a:xfrm>
          <a:prstGeom prst="straightConnector1">
            <a:avLst/>
          </a:prstGeom>
          <a:solidFill>
            <a:srgbClr val="DEE0E3"/>
          </a:solidFill>
          <a:ln w="12700" cap="flat" cmpd="sng">
            <a:solidFill>
              <a:srgbClr val="DDDDDD"/>
            </a:solidFill>
            <a:prstDash val="solid"/>
            <a:round/>
          </a:ln>
        </p:spPr>
      </p:cxnSp>
      <p:sp>
        <p:nvSpPr>
          <p:cNvPr id="185" name="Rectangles"/>
          <p:cNvSpPr>
            <a:spLocks/>
          </p:cNvSpPr>
          <p:nvPr/>
        </p:nvSpPr>
        <p:spPr>
          <a:xfrm>
            <a:off x="6353810" y="2227580"/>
            <a:ext cx="4699000" cy="888999"/>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16000"/>
              </a:lnSpc>
              <a:spcBef>
                <a:spcPts val="0"/>
              </a:spcBef>
              <a:spcAft>
                <a:spcPts val="0"/>
              </a:spcAft>
              <a:buNone/>
            </a:pPr>
            <a:r>
              <a:rPr lang="zh-CN" altLang="en-US" sz="1600" b="0" i="0" u="none" strike="noStrike" kern="1200" cap="none" spc="0" baseline="0">
                <a:solidFill>
                  <a:srgbClr val="333333"/>
                </a:solidFill>
                <a:latin typeface="Noto Sans SC" charset="-122"/>
                <a:ea typeface="Noto Sans SC" charset="-122"/>
                <a:cs typeface="Noto Sans SC" charset="-122"/>
                <a:sym typeface="Noto Sans SC" charset="-122"/>
              </a:rPr>
              <a:t>深度融合后量子密码、AI主动防御与新型纳米存储器件，构建多层次、复合型的立体防护体系，形成攻防一体的纵深安全格局，应对复杂攻击。</a:t>
            </a:r>
          </a:p>
        </p:txBody>
      </p:sp>
      <p:pic>
        <p:nvPicPr>
          <p:cNvPr id="186" name="Images"/>
          <p:cNvPicPr>
            <a:picLocks/>
          </p:cNvPicPr>
          <p:nvPr/>
        </p:nvPicPr>
        <p:blipFill>
          <a:blip r:embed="rId6" cstate="print"/>
          <a:stretch>
            <a:fillRect/>
          </a:stretch>
        </p:blipFill>
        <p:spPr>
          <a:xfrm>
            <a:off x="6353810" y="3878580"/>
            <a:ext cx="457200" cy="457200"/>
          </a:xfrm>
          <a:prstGeom prst="rect">
            <a:avLst/>
          </a:prstGeom>
          <a:noFill/>
          <a:ln w="12700" cap="flat" cmpd="sng">
            <a:noFill/>
            <a:prstDash val="solid"/>
            <a:miter/>
          </a:ln>
        </p:spPr>
      </p:pic>
      <p:sp>
        <p:nvSpPr>
          <p:cNvPr id="187" name="Rectangles"/>
          <p:cNvSpPr>
            <a:spLocks/>
          </p:cNvSpPr>
          <p:nvPr/>
        </p:nvSpPr>
        <p:spPr>
          <a:xfrm>
            <a:off x="6988810" y="3840480"/>
            <a:ext cx="4064000" cy="381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25000"/>
              </a:lnSpc>
              <a:spcBef>
                <a:spcPts val="0"/>
              </a:spcBef>
              <a:spcAft>
                <a:spcPts val="0"/>
              </a:spcAft>
              <a:buNone/>
            </a:pPr>
            <a:r>
              <a:rPr lang="zh-CN" altLang="en-US" sz="1800" b="0" i="0" u="none" strike="noStrike" kern="1200" cap="none" spc="0" baseline="0">
                <a:solidFill>
                  <a:srgbClr val="556B2F"/>
                </a:solidFill>
                <a:latin typeface="Noto Sans SC" charset="-122"/>
                <a:ea typeface="Noto Sans SC" charset="-122"/>
                <a:cs typeface="Noto Sans SC" charset="-122"/>
                <a:sym typeface="Noto Sans SC" charset="-122"/>
              </a:rPr>
              <a:t>趋势四：标准化与规模化商用</a:t>
            </a:r>
            <a:endParaRPr lang="zh-CN" altLang="en-US" sz="1100" b="0" i="0" u="none" strike="noStrike" kern="1200" cap="none" spc="0" baseline="0">
              <a:solidFill>
                <a:schemeClr val="tx1"/>
              </a:solidFill>
              <a:latin typeface="Microsoft YaHei" charset="0"/>
              <a:ea typeface="Microsoft YaHei" charset="0"/>
              <a:cs typeface="Microsoft YaHei" charset="0"/>
            </a:endParaRPr>
          </a:p>
        </p:txBody>
      </p:sp>
      <p:cxnSp>
        <p:nvCxnSpPr>
          <p:cNvPr id="188" name="直线连接线"/>
          <p:cNvCxnSpPr>
            <a:cxnSpLocks/>
          </p:cNvCxnSpPr>
          <p:nvPr/>
        </p:nvCxnSpPr>
        <p:spPr>
          <a:xfrm>
            <a:off x="6353819" y="4507230"/>
            <a:ext cx="4699016" cy="12699"/>
          </a:xfrm>
          <a:prstGeom prst="straightConnector1">
            <a:avLst/>
          </a:prstGeom>
          <a:solidFill>
            <a:srgbClr val="DEE0E3"/>
          </a:solidFill>
          <a:ln w="12700" cap="flat" cmpd="sng">
            <a:solidFill>
              <a:srgbClr val="DDDDDD"/>
            </a:solidFill>
            <a:prstDash val="solid"/>
            <a:round/>
          </a:ln>
        </p:spPr>
      </p:cxnSp>
      <p:sp>
        <p:nvSpPr>
          <p:cNvPr id="189" name="Rectangles"/>
          <p:cNvSpPr>
            <a:spLocks/>
          </p:cNvSpPr>
          <p:nvPr/>
        </p:nvSpPr>
        <p:spPr>
          <a:xfrm>
            <a:off x="6353810" y="4640580"/>
            <a:ext cx="4699000" cy="889000"/>
          </a:xfrm>
          <a:prstGeom prst="rect">
            <a:avLst/>
          </a:prstGeom>
          <a:noFill/>
          <a:ln w="12700" cap="flat" cmpd="sng">
            <a:noFill/>
            <a:prstDash val="solid"/>
            <a:round/>
          </a:ln>
        </p:spPr>
        <p:txBody>
          <a:bodyPr vert="horz" wrap="square" lIns="0" tIns="0" rIns="0" bIns="0" anchor="ctr" anchorCtr="0">
            <a:prstTxWarp prst="textNoShape">
              <a:avLst/>
            </a:prstTxWarp>
          </a:bodyPr>
          <a:lstStyle/>
          <a:p>
            <a:pPr marL="0" indent="0" algn="l">
              <a:lnSpc>
                <a:spcPct val="116000"/>
              </a:lnSpc>
              <a:spcBef>
                <a:spcPts val="0"/>
              </a:spcBef>
              <a:spcAft>
                <a:spcPts val="0"/>
              </a:spcAft>
              <a:buNone/>
            </a:pPr>
            <a:r>
              <a:rPr lang="zh-CN" altLang="en-US" sz="1600" b="0" i="0" u="none" strike="noStrike" kern="1200" cap="none" spc="0" baseline="0">
                <a:solidFill>
                  <a:srgbClr val="333333"/>
                </a:solidFill>
                <a:latin typeface="Noto Sans SC" charset="-122"/>
                <a:ea typeface="Noto Sans SC" charset="-122"/>
                <a:cs typeface="Noto Sans SC" charset="-122"/>
                <a:sym typeface="Noto Sans SC" charset="-122"/>
              </a:rPr>
              <a:t>随着行业规范和评测标准的统一完善，该技术有望成为高安全芯片的标配，广泛应用于金融、政务、国防等关键信息基础设施领域。</a:t>
            </a:r>
            <a:endParaRPr lang="zh-CN" altLang="en-US" sz="1600" b="0" i="0" u="none" strike="noStrike" kern="1200" cap="none" spc="0" baseline="0">
              <a:solidFill>
                <a:schemeClr val="tx1"/>
              </a:solidFill>
              <a:latin typeface="Microsoft YaHei" charset="0"/>
              <a:ea typeface="Microsoft YaHei" charset="0"/>
              <a:cs typeface="Microsoft YaHei" charset="0"/>
            </a:endParaRPr>
          </a:p>
        </p:txBody>
      </p:sp>
    </p:spTree>
    <p:extLst>
      <p:ext uri="{BB962C8B-B14F-4D97-AF65-F5344CB8AC3E}">
        <p14:creationId xmlns:p14="http://schemas.microsoft.com/office/powerpoint/2010/main" val="847937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4"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en-US" altLang="zh-CN" sz="3600" b="0" i="0" u="none" strike="noStrike" kern="1200" cap="none" spc="0" baseline="0">
                <a:solidFill>
                  <a:schemeClr val="accent1"/>
                </a:solidFill>
                <a:latin typeface="Microsoft YaHei" charset="0"/>
                <a:ea typeface="Microsoft YaHei" charset="0"/>
                <a:cs typeface="Microsoft YaHei" charset="0"/>
                <a:sym typeface="Microsoft YaHei" charset="0"/>
              </a:rPr>
              <a:t>PUF</a:t>
            </a:r>
            <a:r>
              <a:rPr lang="zh-CN" altLang="en-US" sz="3600" b="0" i="0" u="none" strike="noStrike" kern="1200" cap="none" spc="0" baseline="0">
                <a:solidFill>
                  <a:schemeClr val="accent1"/>
                </a:solidFill>
                <a:latin typeface="Microsoft YaHei" charset="0"/>
                <a:ea typeface="Microsoft YaHei" charset="0"/>
                <a:cs typeface="Microsoft YaHei" charset="0"/>
                <a:sym typeface="Microsoft YaHei" charset="0"/>
              </a:rPr>
              <a:t>的核心安全属性</a:t>
            </a:r>
          </a:p>
        </p:txBody>
      </p:sp>
      <p:sp>
        <p:nvSpPr>
          <p:cNvPr id="195"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8</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sp>
        <p:nvSpPr>
          <p:cNvPr id="196" name="Rectangles"/>
          <p:cNvSpPr>
            <a:spLocks/>
          </p:cNvSpPr>
          <p:nvPr/>
        </p:nvSpPr>
        <p:spPr>
          <a:xfrm>
            <a:off x="7903552" y="1566232"/>
            <a:ext cx="3600000" cy="4543614"/>
          </a:xfrm>
          <a:prstGeom prst="rect">
            <a:avLst/>
          </a:prstGeom>
          <a:noFill/>
          <a:ln w="12700" cap="flat" cmpd="sng">
            <a:solidFill>
              <a:srgbClr val="505122"/>
            </a:solidFill>
            <a:prstDash val="solid"/>
            <a:round/>
          </a:ln>
          <a:effectLst>
            <a:outerShdw blurRad="127000" algn="ctr" rotWithShape="0">
              <a:srgbClr val="000000">
                <a:alpha val="19607"/>
              </a:srgbClr>
            </a:outerShdw>
          </a:effectLst>
        </p:spPr>
      </p:sp>
      <p:sp>
        <p:nvSpPr>
          <p:cNvPr id="197" name="Rectangles"/>
          <p:cNvSpPr>
            <a:spLocks/>
          </p:cNvSpPr>
          <p:nvPr/>
        </p:nvSpPr>
        <p:spPr>
          <a:xfrm>
            <a:off x="1333737" y="2635909"/>
            <a:ext cx="2289573" cy="560063"/>
          </a:xfrm>
          <a:prstGeom prst="rect">
            <a:avLst/>
          </a:prstGeom>
          <a:noFill/>
          <a:ln w="12700" cap="flat" cmpd="sng">
            <a:noFill/>
            <a:prstDash val="solid"/>
            <a:miter/>
          </a:ln>
          <a:scene3d>
            <a:camera prst="legacyPerspectiveLeft"/>
            <a:lightRig rig="legacyFlat4" dir="t"/>
          </a:scene3d>
          <a:sp3d prstMaterial="legacyMatte">
            <a:bevelT w="13500" h="13500" prst="angle"/>
            <a:bevelB w="13500" h="13500" prst="angle"/>
          </a:sp3d>
        </p:spPr>
        <p:txBody>
          <a:bodyPr vert="horz" wrap="square" lIns="91440" tIns="45720" rIns="91440" bIns="45720" anchor="ctr" anchorCtr="0">
            <a:prstTxWarp prst="textNoShape">
              <a:avLst/>
            </a:prstTxWarp>
          </a:bodyPr>
          <a:lstStyle/>
          <a:p>
            <a:pPr marL="0" indent="0" algn="ctr" eaLnBrk="0" latinLnBrk="0" hangingPunct="0">
              <a:lnSpc>
                <a:spcPct val="129000"/>
              </a:lnSpc>
              <a:spcBef>
                <a:spcPts val="0"/>
              </a:spcBef>
              <a:spcAft>
                <a:spcPts val="0"/>
              </a:spcAft>
              <a:buNone/>
            </a:pPr>
            <a:r>
              <a:rPr lang="zh-CN" altLang="en-US" sz="2400" b="0" i="0" u="none" strike="noStrike" kern="1200" cap="none" spc="0" baseline="0">
                <a:solidFill>
                  <a:schemeClr val="tx1"/>
                </a:solidFill>
                <a:latin typeface="Microsoft YaHei" charset="0"/>
                <a:ea typeface="Microsoft YaHei" charset="0"/>
                <a:cs typeface="Microsoft YaHei" charset="0"/>
                <a:sym typeface="Microsoft YaHei" charset="0"/>
              </a:rPr>
              <a:t>不可克隆性</a:t>
            </a:r>
          </a:p>
        </p:txBody>
      </p:sp>
      <p:sp>
        <p:nvSpPr>
          <p:cNvPr id="198" name="曲线"/>
          <p:cNvSpPr>
            <a:spLocks/>
          </p:cNvSpPr>
          <p:nvPr/>
        </p:nvSpPr>
        <p:spPr>
          <a:xfrm>
            <a:off x="5846397" y="2134186"/>
            <a:ext cx="504162" cy="503999"/>
          </a:xfrm>
          <a:custGeom>
            <a:avLst/>
            <a:gdLst>
              <a:gd name="T1" fmla="*/ 0 w 21600"/>
              <a:gd name="T2" fmla="*/ 0 h 21600"/>
              <a:gd name="T3" fmla="*/ 21600 w 21600"/>
              <a:gd name="T4" fmla="*/ 21600 h 21600"/>
            </a:gdLst>
            <a:ahLst/>
            <a:cxnLst/>
            <a:rect l="T1" t="T2" r="T3" b="T4"/>
            <a:pathLst>
              <a:path w="21600" h="21600">
                <a:moveTo>
                  <a:pt x="10345" y="8255"/>
                </a:moveTo>
                <a:cubicBezTo>
                  <a:pt x="10426" y="8255"/>
                  <a:pt x="10488" y="8315"/>
                  <a:pt x="10518" y="8351"/>
                </a:cubicBezTo>
                <a:cubicBezTo>
                  <a:pt x="10587" y="8437"/>
                  <a:pt x="10691" y="8483"/>
                  <a:pt x="10803" y="8483"/>
                </a:cubicBezTo>
                <a:cubicBezTo>
                  <a:pt x="10912" y="8483"/>
                  <a:pt x="11017" y="8437"/>
                  <a:pt x="11087" y="8351"/>
                </a:cubicBezTo>
                <a:cubicBezTo>
                  <a:pt x="11117" y="8315"/>
                  <a:pt x="11178" y="8255"/>
                  <a:pt x="11264" y="8255"/>
                </a:cubicBezTo>
                <a:cubicBezTo>
                  <a:pt x="11333" y="8255"/>
                  <a:pt x="11416" y="8296"/>
                  <a:pt x="11474" y="8366"/>
                </a:cubicBezTo>
                <a:cubicBezTo>
                  <a:pt x="11512" y="8410"/>
                  <a:pt x="11573" y="8503"/>
                  <a:pt x="11552" y="8632"/>
                </a:cubicBezTo>
                <a:lnTo>
                  <a:pt x="10803" y="12900"/>
                </a:lnTo>
                <a:lnTo>
                  <a:pt x="10053" y="8636"/>
                </a:lnTo>
                <a:cubicBezTo>
                  <a:pt x="10035" y="8503"/>
                  <a:pt x="10107" y="8402"/>
                  <a:pt x="10138" y="8366"/>
                </a:cubicBezTo>
                <a:cubicBezTo>
                  <a:pt x="10197" y="8300"/>
                  <a:pt x="10277" y="8255"/>
                  <a:pt x="10345" y="8255"/>
                </a:cubicBezTo>
              </a:path>
              <a:path w="21600" h="21600">
                <a:moveTo>
                  <a:pt x="10803" y="4411"/>
                </a:moveTo>
                <a:cubicBezTo>
                  <a:pt x="12837" y="4411"/>
                  <a:pt x="14491" y="5953"/>
                  <a:pt x="14491" y="7849"/>
                </a:cubicBezTo>
                <a:cubicBezTo>
                  <a:pt x="14491" y="9266"/>
                  <a:pt x="13955" y="10047"/>
                  <a:pt x="13339" y="10956"/>
                </a:cubicBezTo>
                <a:cubicBezTo>
                  <a:pt x="12826" y="11709"/>
                  <a:pt x="12202" y="12619"/>
                  <a:pt x="12014" y="13819"/>
                </a:cubicBezTo>
                <a:lnTo>
                  <a:pt x="11389" y="13819"/>
                </a:lnTo>
                <a:lnTo>
                  <a:pt x="12280" y="8756"/>
                </a:lnTo>
                <a:cubicBezTo>
                  <a:pt x="12283" y="8753"/>
                  <a:pt x="12283" y="8749"/>
                  <a:pt x="12283" y="8746"/>
                </a:cubicBezTo>
                <a:cubicBezTo>
                  <a:pt x="12330" y="8435"/>
                  <a:pt x="12238" y="8122"/>
                  <a:pt x="12035" y="7882"/>
                </a:cubicBezTo>
                <a:cubicBezTo>
                  <a:pt x="11836" y="7654"/>
                  <a:pt x="11549" y="7516"/>
                  <a:pt x="11264" y="7516"/>
                </a:cubicBezTo>
                <a:cubicBezTo>
                  <a:pt x="11102" y="7516"/>
                  <a:pt x="10942" y="7561"/>
                  <a:pt x="10803" y="7639"/>
                </a:cubicBezTo>
                <a:cubicBezTo>
                  <a:pt x="10662" y="7561"/>
                  <a:pt x="10503" y="7516"/>
                  <a:pt x="10345" y="7516"/>
                </a:cubicBezTo>
                <a:cubicBezTo>
                  <a:pt x="10060" y="7516"/>
                  <a:pt x="9783" y="7650"/>
                  <a:pt x="9580" y="7886"/>
                </a:cubicBezTo>
                <a:cubicBezTo>
                  <a:pt x="9370" y="8126"/>
                  <a:pt x="9278" y="8440"/>
                  <a:pt x="9322" y="8746"/>
                </a:cubicBezTo>
                <a:cubicBezTo>
                  <a:pt x="9325" y="8749"/>
                  <a:pt x="9325" y="8753"/>
                  <a:pt x="9325" y="8756"/>
                </a:cubicBezTo>
                <a:lnTo>
                  <a:pt x="10215" y="13819"/>
                </a:lnTo>
                <a:lnTo>
                  <a:pt x="9595" y="13819"/>
                </a:lnTo>
                <a:cubicBezTo>
                  <a:pt x="9406" y="12619"/>
                  <a:pt x="8782" y="11704"/>
                  <a:pt x="8269" y="10952"/>
                </a:cubicBezTo>
                <a:cubicBezTo>
                  <a:pt x="7648" y="10047"/>
                  <a:pt x="7118" y="9266"/>
                  <a:pt x="7118" y="7849"/>
                </a:cubicBezTo>
                <a:cubicBezTo>
                  <a:pt x="7118" y="5953"/>
                  <a:pt x="8772" y="4411"/>
                  <a:pt x="10803" y="4411"/>
                </a:cubicBezTo>
              </a:path>
              <a:path w="21600" h="21600">
                <a:moveTo>
                  <a:pt x="10801" y="3202"/>
                </a:moveTo>
                <a:cubicBezTo>
                  <a:pt x="8102" y="3202"/>
                  <a:pt x="5904" y="5289"/>
                  <a:pt x="5904" y="7849"/>
                </a:cubicBezTo>
                <a:cubicBezTo>
                  <a:pt x="5904" y="9639"/>
                  <a:pt x="6598" y="10653"/>
                  <a:pt x="7267" y="11634"/>
                </a:cubicBezTo>
                <a:cubicBezTo>
                  <a:pt x="7829" y="12450"/>
                  <a:pt x="8405" y="13298"/>
                  <a:pt x="8442" y="14443"/>
                </a:cubicBezTo>
                <a:cubicBezTo>
                  <a:pt x="8448" y="14722"/>
                  <a:pt x="8652" y="14954"/>
                  <a:pt x="8917" y="15014"/>
                </a:cubicBezTo>
                <a:cubicBezTo>
                  <a:pt x="8671" y="15087"/>
                  <a:pt x="8489" y="15320"/>
                  <a:pt x="8489" y="15590"/>
                </a:cubicBezTo>
                <a:cubicBezTo>
                  <a:pt x="8489" y="15830"/>
                  <a:pt x="8630" y="16036"/>
                  <a:pt x="8833" y="16136"/>
                </a:cubicBezTo>
                <a:cubicBezTo>
                  <a:pt x="8630" y="16232"/>
                  <a:pt x="8489" y="16437"/>
                  <a:pt x="8489" y="16677"/>
                </a:cubicBezTo>
                <a:cubicBezTo>
                  <a:pt x="8489" y="17014"/>
                  <a:pt x="8759" y="17283"/>
                  <a:pt x="9095" y="17283"/>
                </a:cubicBezTo>
                <a:lnTo>
                  <a:pt x="9463" y="17283"/>
                </a:lnTo>
                <a:cubicBezTo>
                  <a:pt x="9578" y="17917"/>
                  <a:pt x="10133" y="18401"/>
                  <a:pt x="10801" y="18401"/>
                </a:cubicBezTo>
                <a:cubicBezTo>
                  <a:pt x="11470" y="18401"/>
                  <a:pt x="12026" y="17917"/>
                  <a:pt x="12142" y="17283"/>
                </a:cubicBezTo>
                <a:lnTo>
                  <a:pt x="12511" y="17283"/>
                </a:lnTo>
                <a:cubicBezTo>
                  <a:pt x="12843" y="17283"/>
                  <a:pt x="13116" y="17014"/>
                  <a:pt x="13116" y="16677"/>
                </a:cubicBezTo>
                <a:cubicBezTo>
                  <a:pt x="13116" y="16437"/>
                  <a:pt x="12975" y="16232"/>
                  <a:pt x="12772" y="16136"/>
                </a:cubicBezTo>
                <a:cubicBezTo>
                  <a:pt x="12975" y="16036"/>
                  <a:pt x="13116" y="15830"/>
                  <a:pt x="13116" y="15590"/>
                </a:cubicBezTo>
                <a:cubicBezTo>
                  <a:pt x="13116" y="15320"/>
                  <a:pt x="12935" y="15092"/>
                  <a:pt x="12692" y="15014"/>
                </a:cubicBezTo>
                <a:cubicBezTo>
                  <a:pt x="12958" y="14959"/>
                  <a:pt x="13157" y="14726"/>
                  <a:pt x="13168" y="14443"/>
                </a:cubicBezTo>
                <a:cubicBezTo>
                  <a:pt x="13201" y="13298"/>
                  <a:pt x="13777" y="12454"/>
                  <a:pt x="14339" y="11634"/>
                </a:cubicBezTo>
                <a:cubicBezTo>
                  <a:pt x="15007" y="10653"/>
                  <a:pt x="15698" y="9639"/>
                  <a:pt x="15698" y="7849"/>
                </a:cubicBezTo>
                <a:cubicBezTo>
                  <a:pt x="15698" y="5289"/>
                  <a:pt x="13501" y="3202"/>
                  <a:pt x="10801" y="3202"/>
                </a:cubicBezTo>
              </a:path>
              <a:path w="21600" h="21600">
                <a:moveTo>
                  <a:pt x="12137" y="11"/>
                </a:moveTo>
                <a:cubicBezTo>
                  <a:pt x="12216" y="18"/>
                  <a:pt x="12285" y="66"/>
                  <a:pt x="12323" y="135"/>
                </a:cubicBezTo>
                <a:cubicBezTo>
                  <a:pt x="12887" y="1186"/>
                  <a:pt x="13486" y="1656"/>
                  <a:pt x="14261" y="1656"/>
                </a:cubicBezTo>
                <a:cubicBezTo>
                  <a:pt x="14679" y="1656"/>
                  <a:pt x="15163" y="1522"/>
                  <a:pt x="15739" y="1243"/>
                </a:cubicBezTo>
                <a:cubicBezTo>
                  <a:pt x="15808" y="1210"/>
                  <a:pt x="15893" y="1212"/>
                  <a:pt x="15963" y="1249"/>
                </a:cubicBezTo>
                <a:cubicBezTo>
                  <a:pt x="16034" y="1291"/>
                  <a:pt x="16082" y="1360"/>
                  <a:pt x="16089" y="1437"/>
                </a:cubicBezTo>
                <a:cubicBezTo>
                  <a:pt x="16262" y="3031"/>
                  <a:pt x="16905" y="3680"/>
                  <a:pt x="18298" y="3680"/>
                </a:cubicBezTo>
                <a:cubicBezTo>
                  <a:pt x="18457" y="3680"/>
                  <a:pt x="18629" y="3673"/>
                  <a:pt x="18811" y="3655"/>
                </a:cubicBezTo>
                <a:cubicBezTo>
                  <a:pt x="18888" y="3647"/>
                  <a:pt x="18969" y="3680"/>
                  <a:pt x="19021" y="3739"/>
                </a:cubicBezTo>
                <a:cubicBezTo>
                  <a:pt x="19074" y="3803"/>
                  <a:pt x="19091" y="3884"/>
                  <a:pt x="19074" y="3962"/>
                </a:cubicBezTo>
                <a:cubicBezTo>
                  <a:pt x="18845" y="4850"/>
                  <a:pt x="18867" y="5484"/>
                  <a:pt x="19143" y="5969"/>
                </a:cubicBezTo>
                <a:cubicBezTo>
                  <a:pt x="19421" y="6448"/>
                  <a:pt x="19959" y="6787"/>
                  <a:pt x="20842" y="7045"/>
                </a:cubicBezTo>
                <a:cubicBezTo>
                  <a:pt x="20916" y="7068"/>
                  <a:pt x="20979" y="7123"/>
                  <a:pt x="21004" y="7201"/>
                </a:cubicBezTo>
                <a:cubicBezTo>
                  <a:pt x="21030" y="7275"/>
                  <a:pt x="21020" y="7356"/>
                  <a:pt x="20975" y="7422"/>
                </a:cubicBezTo>
                <a:cubicBezTo>
                  <a:pt x="19930" y="8920"/>
                  <a:pt x="20073" y="9894"/>
                  <a:pt x="21503" y="11015"/>
                </a:cubicBezTo>
                <a:cubicBezTo>
                  <a:pt x="21563" y="11067"/>
                  <a:pt x="21600" y="11141"/>
                  <a:pt x="21595" y="11222"/>
                </a:cubicBezTo>
                <a:cubicBezTo>
                  <a:pt x="21592" y="11299"/>
                  <a:pt x="21551" y="11373"/>
                  <a:pt x="21485" y="11414"/>
                </a:cubicBezTo>
                <a:cubicBezTo>
                  <a:pt x="19986" y="12399"/>
                  <a:pt x="19757" y="13379"/>
                  <a:pt x="20673" y="14917"/>
                </a:cubicBezTo>
                <a:cubicBezTo>
                  <a:pt x="20712" y="14984"/>
                  <a:pt x="20716" y="15069"/>
                  <a:pt x="20684" y="15143"/>
                </a:cubicBezTo>
                <a:cubicBezTo>
                  <a:pt x="20649" y="15213"/>
                  <a:pt x="20588" y="15269"/>
                  <a:pt x="20505" y="15284"/>
                </a:cubicBezTo>
                <a:cubicBezTo>
                  <a:pt x="19609" y="15463"/>
                  <a:pt x="19048" y="15759"/>
                  <a:pt x="18736" y="16212"/>
                </a:cubicBezTo>
                <a:cubicBezTo>
                  <a:pt x="18426" y="16663"/>
                  <a:pt x="18357" y="17287"/>
                  <a:pt x="18509" y="18175"/>
                </a:cubicBezTo>
                <a:cubicBezTo>
                  <a:pt x="18516" y="18198"/>
                  <a:pt x="18516" y="18220"/>
                  <a:pt x="18516" y="18241"/>
                </a:cubicBezTo>
                <a:cubicBezTo>
                  <a:pt x="18516" y="18379"/>
                  <a:pt x="18409" y="18486"/>
                  <a:pt x="18271" y="18486"/>
                </a:cubicBezTo>
                <a:cubicBezTo>
                  <a:pt x="18257" y="18486"/>
                  <a:pt x="18243" y="18486"/>
                  <a:pt x="18227" y="18482"/>
                </a:cubicBezTo>
                <a:cubicBezTo>
                  <a:pt x="17929" y="18431"/>
                  <a:pt x="17652" y="18405"/>
                  <a:pt x="17407" y="18405"/>
                </a:cubicBezTo>
                <a:cubicBezTo>
                  <a:pt x="16222" y="18405"/>
                  <a:pt x="15623" y="19006"/>
                  <a:pt x="15340" y="20481"/>
                </a:cubicBezTo>
                <a:cubicBezTo>
                  <a:pt x="15325" y="20558"/>
                  <a:pt x="15272" y="20625"/>
                  <a:pt x="15199" y="20658"/>
                </a:cubicBezTo>
                <a:cubicBezTo>
                  <a:pt x="15129" y="20691"/>
                  <a:pt x="15045" y="20687"/>
                  <a:pt x="14973" y="20648"/>
                </a:cubicBezTo>
                <a:cubicBezTo>
                  <a:pt x="14357" y="20290"/>
                  <a:pt x="13841" y="20116"/>
                  <a:pt x="13386" y="20116"/>
                </a:cubicBezTo>
                <a:cubicBezTo>
                  <a:pt x="12687" y="20116"/>
                  <a:pt x="12082" y="20551"/>
                  <a:pt x="11476" y="21485"/>
                </a:cubicBezTo>
                <a:cubicBezTo>
                  <a:pt x="11461" y="21507"/>
                  <a:pt x="11447" y="21526"/>
                  <a:pt x="11429" y="21540"/>
                </a:cubicBezTo>
                <a:cubicBezTo>
                  <a:pt x="11411" y="21555"/>
                  <a:pt x="11389" y="21570"/>
                  <a:pt x="11366" y="21576"/>
                </a:cubicBezTo>
                <a:cubicBezTo>
                  <a:pt x="11363" y="21581"/>
                  <a:pt x="11363" y="21581"/>
                  <a:pt x="11363" y="21581"/>
                </a:cubicBezTo>
                <a:cubicBezTo>
                  <a:pt x="11359" y="21581"/>
                  <a:pt x="11354" y="21581"/>
                  <a:pt x="11352" y="21585"/>
                </a:cubicBezTo>
                <a:cubicBezTo>
                  <a:pt x="11329" y="21592"/>
                  <a:pt x="11307" y="21596"/>
                  <a:pt x="11285" y="21596"/>
                </a:cubicBezTo>
                <a:cubicBezTo>
                  <a:pt x="11278" y="21600"/>
                  <a:pt x="11273" y="21600"/>
                  <a:pt x="11269" y="21600"/>
                </a:cubicBezTo>
                <a:cubicBezTo>
                  <a:pt x="11252" y="21600"/>
                  <a:pt x="11232" y="21596"/>
                  <a:pt x="11215" y="21592"/>
                </a:cubicBezTo>
                <a:cubicBezTo>
                  <a:pt x="11203" y="21588"/>
                  <a:pt x="11196" y="21588"/>
                  <a:pt x="11188" y="21585"/>
                </a:cubicBezTo>
                <a:cubicBezTo>
                  <a:pt x="11171" y="21576"/>
                  <a:pt x="11156" y="21570"/>
                  <a:pt x="11140" y="21559"/>
                </a:cubicBezTo>
                <a:cubicBezTo>
                  <a:pt x="11140" y="21559"/>
                  <a:pt x="11137" y="21559"/>
                  <a:pt x="11137" y="21559"/>
                </a:cubicBezTo>
                <a:cubicBezTo>
                  <a:pt x="11115" y="21543"/>
                  <a:pt x="11092" y="21526"/>
                  <a:pt x="11074" y="21504"/>
                </a:cubicBezTo>
                <a:cubicBezTo>
                  <a:pt x="10458" y="20702"/>
                  <a:pt x="9885" y="20330"/>
                  <a:pt x="9276" y="20330"/>
                </a:cubicBezTo>
                <a:cubicBezTo>
                  <a:pt x="8792" y="20330"/>
                  <a:pt x="8250" y="20562"/>
                  <a:pt x="7614" y="21042"/>
                </a:cubicBezTo>
                <a:cubicBezTo>
                  <a:pt x="7552" y="21090"/>
                  <a:pt x="7467" y="21104"/>
                  <a:pt x="7388" y="21079"/>
                </a:cubicBezTo>
                <a:cubicBezTo>
                  <a:pt x="7314" y="21057"/>
                  <a:pt x="7255" y="20994"/>
                  <a:pt x="7229" y="20921"/>
                </a:cubicBezTo>
                <a:cubicBezTo>
                  <a:pt x="6819" y="19604"/>
                  <a:pt x="6218" y="19039"/>
                  <a:pt x="5217" y="19039"/>
                </a:cubicBezTo>
                <a:cubicBezTo>
                  <a:pt x="4892" y="19039"/>
                  <a:pt x="4531" y="19097"/>
                  <a:pt x="4105" y="19212"/>
                </a:cubicBezTo>
                <a:cubicBezTo>
                  <a:pt x="4028" y="19234"/>
                  <a:pt x="3947" y="19216"/>
                  <a:pt x="3884" y="19168"/>
                </a:cubicBezTo>
                <a:cubicBezTo>
                  <a:pt x="3821" y="19117"/>
                  <a:pt x="3787" y="19039"/>
                  <a:pt x="3796" y="18958"/>
                </a:cubicBezTo>
                <a:cubicBezTo>
                  <a:pt x="3862" y="18051"/>
                  <a:pt x="3729" y="17430"/>
                  <a:pt x="3375" y="17017"/>
                </a:cubicBezTo>
                <a:cubicBezTo>
                  <a:pt x="3023" y="16601"/>
                  <a:pt x="2432" y="16368"/>
                  <a:pt x="1525" y="16286"/>
                </a:cubicBezTo>
                <a:cubicBezTo>
                  <a:pt x="1443" y="16283"/>
                  <a:pt x="1373" y="16235"/>
                  <a:pt x="1332" y="16169"/>
                </a:cubicBezTo>
                <a:cubicBezTo>
                  <a:pt x="1292" y="16098"/>
                  <a:pt x="1287" y="16013"/>
                  <a:pt x="1321" y="15940"/>
                </a:cubicBezTo>
                <a:cubicBezTo>
                  <a:pt x="1706" y="15102"/>
                  <a:pt x="1798" y="14468"/>
                  <a:pt x="1613" y="13941"/>
                </a:cubicBezTo>
                <a:cubicBezTo>
                  <a:pt x="1428" y="13409"/>
                  <a:pt x="962" y="12967"/>
                  <a:pt x="143" y="12549"/>
                </a:cubicBezTo>
                <a:cubicBezTo>
                  <a:pt x="73" y="12513"/>
                  <a:pt x="21" y="12447"/>
                  <a:pt x="10" y="12366"/>
                </a:cubicBezTo>
                <a:cubicBezTo>
                  <a:pt x="0" y="12288"/>
                  <a:pt x="25" y="12210"/>
                  <a:pt x="83" y="12154"/>
                </a:cubicBezTo>
                <a:cubicBezTo>
                  <a:pt x="744" y="11510"/>
                  <a:pt x="1063" y="10949"/>
                  <a:pt x="1085" y="10383"/>
                </a:cubicBezTo>
                <a:cubicBezTo>
                  <a:pt x="1107" y="9819"/>
                  <a:pt x="834" y="9233"/>
                  <a:pt x="224" y="8540"/>
                </a:cubicBezTo>
                <a:cubicBezTo>
                  <a:pt x="173" y="8480"/>
                  <a:pt x="151" y="8399"/>
                  <a:pt x="168" y="8321"/>
                </a:cubicBezTo>
                <a:cubicBezTo>
                  <a:pt x="187" y="8245"/>
                  <a:pt x="243" y="8182"/>
                  <a:pt x="316" y="8149"/>
                </a:cubicBezTo>
                <a:cubicBezTo>
                  <a:pt x="1165" y="7801"/>
                  <a:pt x="1665" y="7400"/>
                  <a:pt x="1886" y="6891"/>
                </a:cubicBezTo>
                <a:cubicBezTo>
                  <a:pt x="2112" y="6382"/>
                  <a:pt x="2068" y="5744"/>
                  <a:pt x="1746" y="4883"/>
                </a:cubicBezTo>
                <a:cubicBezTo>
                  <a:pt x="1719" y="4809"/>
                  <a:pt x="1730" y="4724"/>
                  <a:pt x="1775" y="4658"/>
                </a:cubicBezTo>
                <a:cubicBezTo>
                  <a:pt x="1820" y="4592"/>
                  <a:pt x="1894" y="4556"/>
                  <a:pt x="1975" y="4551"/>
                </a:cubicBezTo>
                <a:cubicBezTo>
                  <a:pt x="3765" y="4532"/>
                  <a:pt x="4430" y="3862"/>
                  <a:pt x="4430" y="2073"/>
                </a:cubicBezTo>
                <a:cubicBezTo>
                  <a:pt x="4430" y="1992"/>
                  <a:pt x="4471" y="1918"/>
                  <a:pt x="4537" y="1870"/>
                </a:cubicBezTo>
                <a:cubicBezTo>
                  <a:pt x="4601" y="1825"/>
                  <a:pt x="4685" y="1815"/>
                  <a:pt x="4760" y="1839"/>
                </a:cubicBezTo>
                <a:cubicBezTo>
                  <a:pt x="5257" y="2017"/>
                  <a:pt x="5675" y="2101"/>
                  <a:pt x="6045" y="2101"/>
                </a:cubicBezTo>
                <a:cubicBezTo>
                  <a:pt x="6926" y="2101"/>
                  <a:pt x="7533" y="1570"/>
                  <a:pt x="8012" y="372"/>
                </a:cubicBezTo>
                <a:cubicBezTo>
                  <a:pt x="8043" y="297"/>
                  <a:pt x="8104" y="243"/>
                  <a:pt x="8183" y="225"/>
                </a:cubicBezTo>
                <a:cubicBezTo>
                  <a:pt x="8260" y="206"/>
                  <a:pt x="8341" y="227"/>
                  <a:pt x="8401" y="279"/>
                </a:cubicBezTo>
                <a:cubicBezTo>
                  <a:pt x="9051" y="848"/>
                  <a:pt x="9616" y="1120"/>
                  <a:pt x="10133" y="1120"/>
                </a:cubicBezTo>
                <a:cubicBezTo>
                  <a:pt x="10709" y="1120"/>
                  <a:pt x="11278" y="792"/>
                  <a:pt x="11923" y="87"/>
                </a:cubicBezTo>
                <a:cubicBezTo>
                  <a:pt x="11979" y="29"/>
                  <a:pt x="12061" y="0"/>
                  <a:pt x="12137" y="11"/>
                </a:cubicBezTo>
                <a:close/>
              </a:path>
            </a:pathLst>
          </a:custGeom>
          <a:solidFill>
            <a:srgbClr val="EAB908"/>
          </a:solidFill>
          <a:ln cap="flat" cmpd="sng">
            <a:noFill/>
            <a:prstDash val="solid"/>
            <a:round/>
          </a:ln>
          <a:scene3d>
            <a:camera prst="legacyPerspectiveRight">
              <a:rot lat="0" lon="21540000" rev="0"/>
            </a:camera>
            <a:lightRig rig="legacyFlat4" dir="t"/>
          </a:scene3d>
          <a:sp3d prstMaterial="legacyMatte">
            <a:bevelT w="13500" h="13500" prst="angle"/>
            <a:bevelB w="13500" h="13500" prst="angle"/>
          </a:sp3d>
        </p:spPr>
      </p:sp>
      <p:sp>
        <p:nvSpPr>
          <p:cNvPr id="199" name="Rectangles"/>
          <p:cNvSpPr>
            <a:spLocks/>
          </p:cNvSpPr>
          <p:nvPr/>
        </p:nvSpPr>
        <p:spPr>
          <a:xfrm>
            <a:off x="4953692" y="2585109"/>
            <a:ext cx="2289573" cy="560065"/>
          </a:xfrm>
          <a:prstGeom prst="rect">
            <a:avLst/>
          </a:prstGeom>
          <a:noFill/>
          <a:ln w="12700" cap="flat" cmpd="sng">
            <a:noFill/>
            <a:prstDash val="solid"/>
            <a:miter/>
          </a:ln>
          <a:scene3d>
            <a:camera prst="legacyPerspectiveRight">
              <a:rot lat="0" lon="21540000" rev="0"/>
            </a:camera>
            <a:lightRig rig="legacyFlat4" dir="t"/>
          </a:scene3d>
          <a:sp3d prstMaterial="legacyMatte">
            <a:bevelT w="13500" h="13500" prst="angle"/>
            <a:bevelB w="13500" h="13500" prst="angle"/>
          </a:sp3d>
        </p:spPr>
        <p:txBody>
          <a:bodyPr vert="horz" wrap="square" lIns="91440" tIns="45720" rIns="91440" bIns="45720" anchor="ctr" anchorCtr="0">
            <a:prstTxWarp prst="textNoShape">
              <a:avLst/>
            </a:prstTxWarp>
          </a:bodyPr>
          <a:lstStyle/>
          <a:p>
            <a:pPr marL="0" indent="0" algn="ctr" eaLnBrk="0" latinLnBrk="0" hangingPunct="0">
              <a:lnSpc>
                <a:spcPct val="129000"/>
              </a:lnSpc>
              <a:spcBef>
                <a:spcPts val="0"/>
              </a:spcBef>
              <a:spcAft>
                <a:spcPts val="0"/>
              </a:spcAft>
              <a:buNone/>
            </a:pPr>
            <a:r>
              <a:rPr lang="zh-CN" altLang="en-US" sz="2400" b="0" i="0" u="none" strike="noStrike" kern="1200" cap="none" spc="0" baseline="0">
                <a:solidFill>
                  <a:schemeClr val="tx1"/>
                </a:solidFill>
                <a:latin typeface="Microsoft YaHei" charset="0"/>
                <a:ea typeface="Microsoft YaHei" charset="0"/>
                <a:cs typeface="Microsoft YaHei" charset="0"/>
                <a:sym typeface="Microsoft YaHei" charset="0"/>
              </a:rPr>
              <a:t>不可预测性</a:t>
            </a:r>
          </a:p>
        </p:txBody>
      </p:sp>
      <p:sp>
        <p:nvSpPr>
          <p:cNvPr id="200" name="曲线"/>
          <p:cNvSpPr>
            <a:spLocks/>
          </p:cNvSpPr>
          <p:nvPr/>
        </p:nvSpPr>
        <p:spPr>
          <a:xfrm>
            <a:off x="9461057" y="2134186"/>
            <a:ext cx="484991" cy="503999"/>
          </a:xfrm>
          <a:custGeom>
            <a:avLst/>
            <a:gdLst>
              <a:gd name="T1" fmla="*/ 0 w 21600"/>
              <a:gd name="T2" fmla="*/ 0 h 21600"/>
              <a:gd name="T3" fmla="*/ 21600 w 21600"/>
              <a:gd name="T4" fmla="*/ 21600 h 21600"/>
            </a:gdLst>
            <a:ahLst/>
            <a:cxnLst/>
            <a:rect l="T1" t="T2" r="T3" b="T4"/>
            <a:pathLst>
              <a:path w="21600" h="21600">
                <a:moveTo>
                  <a:pt x="10818" y="0"/>
                </a:moveTo>
                <a:lnTo>
                  <a:pt x="10818" y="0"/>
                </a:lnTo>
                <a:cubicBezTo>
                  <a:pt x="4840" y="0"/>
                  <a:pt x="0" y="4650"/>
                  <a:pt x="0" y="10394"/>
                </a:cubicBezTo>
                <a:cubicBezTo>
                  <a:pt x="0" y="14023"/>
                  <a:pt x="1943" y="17301"/>
                  <a:pt x="5096" y="19202"/>
                </a:cubicBezTo>
                <a:lnTo>
                  <a:pt x="4583" y="20120"/>
                </a:lnTo>
                <a:cubicBezTo>
                  <a:pt x="4399" y="20436"/>
                  <a:pt x="4399" y="20823"/>
                  <a:pt x="4583" y="21105"/>
                </a:cubicBezTo>
                <a:cubicBezTo>
                  <a:pt x="4766" y="21423"/>
                  <a:pt x="5096" y="21600"/>
                  <a:pt x="5464" y="21600"/>
                </a:cubicBezTo>
                <a:lnTo>
                  <a:pt x="14045" y="21600"/>
                </a:lnTo>
                <a:cubicBezTo>
                  <a:pt x="14411" y="21600"/>
                  <a:pt x="14777" y="21423"/>
                  <a:pt x="14961" y="21105"/>
                </a:cubicBezTo>
                <a:lnTo>
                  <a:pt x="15841" y="19556"/>
                </a:lnTo>
                <a:cubicBezTo>
                  <a:pt x="16942" y="19027"/>
                  <a:pt x="17896" y="18287"/>
                  <a:pt x="18738" y="17406"/>
                </a:cubicBezTo>
                <a:cubicBezTo>
                  <a:pt x="18921" y="17229"/>
                  <a:pt x="19032" y="16983"/>
                  <a:pt x="19032" y="16736"/>
                </a:cubicBezTo>
                <a:lnTo>
                  <a:pt x="19032" y="13636"/>
                </a:lnTo>
                <a:lnTo>
                  <a:pt x="20279" y="13636"/>
                </a:lnTo>
                <a:cubicBezTo>
                  <a:pt x="20755" y="13636"/>
                  <a:pt x="21195" y="13318"/>
                  <a:pt x="21306" y="12861"/>
                </a:cubicBezTo>
                <a:cubicBezTo>
                  <a:pt x="21526" y="12049"/>
                  <a:pt x="21600" y="11205"/>
                  <a:pt x="21600" y="10394"/>
                </a:cubicBezTo>
                <a:cubicBezTo>
                  <a:pt x="21600" y="4650"/>
                  <a:pt x="16759" y="0"/>
                  <a:pt x="10818" y="0"/>
                </a:cubicBezTo>
              </a:path>
              <a:path w="21600" h="21600">
                <a:moveTo>
                  <a:pt x="15365" y="10007"/>
                </a:moveTo>
                <a:lnTo>
                  <a:pt x="13935" y="10007"/>
                </a:lnTo>
                <a:cubicBezTo>
                  <a:pt x="13752" y="10923"/>
                  <a:pt x="13274" y="11733"/>
                  <a:pt x="12541" y="12297"/>
                </a:cubicBezTo>
                <a:lnTo>
                  <a:pt x="12541" y="12648"/>
                </a:lnTo>
                <a:cubicBezTo>
                  <a:pt x="12541" y="13178"/>
                  <a:pt x="12247" y="13636"/>
                  <a:pt x="11844" y="13882"/>
                </a:cubicBezTo>
                <a:lnTo>
                  <a:pt x="11844" y="15291"/>
                </a:lnTo>
                <a:cubicBezTo>
                  <a:pt x="11844" y="15714"/>
                  <a:pt x="11478" y="16032"/>
                  <a:pt x="11074" y="16032"/>
                </a:cubicBezTo>
                <a:lnTo>
                  <a:pt x="8581" y="16032"/>
                </a:lnTo>
                <a:cubicBezTo>
                  <a:pt x="8177" y="16032"/>
                  <a:pt x="7811" y="15714"/>
                  <a:pt x="7811" y="15291"/>
                </a:cubicBezTo>
                <a:lnTo>
                  <a:pt x="7811" y="13882"/>
                </a:lnTo>
                <a:cubicBezTo>
                  <a:pt x="7406" y="13636"/>
                  <a:pt x="7114" y="13178"/>
                  <a:pt x="7114" y="12648"/>
                </a:cubicBezTo>
                <a:lnTo>
                  <a:pt x="7114" y="12297"/>
                </a:lnTo>
                <a:cubicBezTo>
                  <a:pt x="6379" y="11733"/>
                  <a:pt x="5903" y="10923"/>
                  <a:pt x="5720" y="10007"/>
                </a:cubicBezTo>
                <a:lnTo>
                  <a:pt x="4290" y="10007"/>
                </a:lnTo>
                <a:cubicBezTo>
                  <a:pt x="3886" y="10007"/>
                  <a:pt x="3520" y="9689"/>
                  <a:pt x="3520" y="9267"/>
                </a:cubicBezTo>
                <a:cubicBezTo>
                  <a:pt x="3520" y="8878"/>
                  <a:pt x="3886" y="8527"/>
                  <a:pt x="4290" y="8527"/>
                </a:cubicBezTo>
                <a:lnTo>
                  <a:pt x="5720" y="8527"/>
                </a:lnTo>
                <a:cubicBezTo>
                  <a:pt x="5830" y="7962"/>
                  <a:pt x="6086" y="7470"/>
                  <a:pt x="6379" y="7011"/>
                </a:cubicBezTo>
                <a:lnTo>
                  <a:pt x="5389" y="6024"/>
                </a:lnTo>
                <a:cubicBezTo>
                  <a:pt x="5096" y="5742"/>
                  <a:pt x="5096" y="5285"/>
                  <a:pt x="5389" y="5002"/>
                </a:cubicBezTo>
                <a:cubicBezTo>
                  <a:pt x="5683" y="4721"/>
                  <a:pt x="6159" y="4721"/>
                  <a:pt x="6454" y="5002"/>
                </a:cubicBezTo>
                <a:lnTo>
                  <a:pt x="7481" y="5990"/>
                </a:lnTo>
                <a:cubicBezTo>
                  <a:pt x="7957" y="5672"/>
                  <a:pt x="8471" y="5460"/>
                  <a:pt x="9058" y="5355"/>
                </a:cubicBezTo>
                <a:lnTo>
                  <a:pt x="9058" y="3946"/>
                </a:lnTo>
                <a:cubicBezTo>
                  <a:pt x="9058" y="3557"/>
                  <a:pt x="9424" y="3241"/>
                  <a:pt x="9827" y="3241"/>
                </a:cubicBezTo>
                <a:cubicBezTo>
                  <a:pt x="10267" y="3241"/>
                  <a:pt x="10598" y="3557"/>
                  <a:pt x="10598" y="3946"/>
                </a:cubicBezTo>
                <a:lnTo>
                  <a:pt x="10598" y="5355"/>
                </a:lnTo>
                <a:cubicBezTo>
                  <a:pt x="11184" y="5460"/>
                  <a:pt x="11698" y="5672"/>
                  <a:pt x="12175" y="5990"/>
                </a:cubicBezTo>
                <a:lnTo>
                  <a:pt x="13201" y="5002"/>
                </a:lnTo>
                <a:cubicBezTo>
                  <a:pt x="13495" y="4721"/>
                  <a:pt x="13971" y="4721"/>
                  <a:pt x="14264" y="5002"/>
                </a:cubicBezTo>
                <a:cubicBezTo>
                  <a:pt x="14594" y="5285"/>
                  <a:pt x="14594" y="5742"/>
                  <a:pt x="14264" y="6024"/>
                </a:cubicBezTo>
                <a:lnTo>
                  <a:pt x="13274" y="7011"/>
                </a:lnTo>
                <a:cubicBezTo>
                  <a:pt x="13605" y="7470"/>
                  <a:pt x="13825" y="7962"/>
                  <a:pt x="13935" y="8527"/>
                </a:cubicBezTo>
                <a:lnTo>
                  <a:pt x="15365" y="8527"/>
                </a:lnTo>
                <a:cubicBezTo>
                  <a:pt x="15769" y="8527"/>
                  <a:pt x="16135" y="8878"/>
                  <a:pt x="16135" y="9267"/>
                </a:cubicBezTo>
                <a:cubicBezTo>
                  <a:pt x="16135" y="9689"/>
                  <a:pt x="15769" y="10007"/>
                  <a:pt x="15365" y="10007"/>
                </a:cubicBezTo>
              </a:path>
              <a:path w="21600" h="21600">
                <a:moveTo>
                  <a:pt x="12468" y="9267"/>
                </a:moveTo>
                <a:cubicBezTo>
                  <a:pt x="12468" y="10253"/>
                  <a:pt x="11881" y="11134"/>
                  <a:pt x="11037" y="11521"/>
                </a:cubicBezTo>
                <a:lnTo>
                  <a:pt x="11037" y="12648"/>
                </a:lnTo>
                <a:lnTo>
                  <a:pt x="8616" y="12648"/>
                </a:lnTo>
                <a:lnTo>
                  <a:pt x="8616" y="11521"/>
                </a:lnTo>
                <a:cubicBezTo>
                  <a:pt x="7774" y="11134"/>
                  <a:pt x="7187" y="10253"/>
                  <a:pt x="7187" y="9267"/>
                </a:cubicBezTo>
                <a:cubicBezTo>
                  <a:pt x="7187" y="7891"/>
                  <a:pt x="8361" y="6730"/>
                  <a:pt x="9827" y="6730"/>
                </a:cubicBezTo>
                <a:cubicBezTo>
                  <a:pt x="11295" y="6730"/>
                  <a:pt x="12468" y="7891"/>
                  <a:pt x="12468" y="9267"/>
                </a:cubicBezTo>
                <a:close/>
              </a:path>
            </a:pathLst>
          </a:custGeom>
          <a:solidFill>
            <a:schemeClr val="accent3"/>
          </a:solidFill>
          <a:ln cap="flat" cmpd="sng">
            <a:noFill/>
            <a:prstDash val="solid"/>
            <a:round/>
          </a:ln>
        </p:spPr>
      </p:sp>
      <p:sp>
        <p:nvSpPr>
          <p:cNvPr id="201" name="Rectangles"/>
          <p:cNvSpPr>
            <a:spLocks/>
          </p:cNvSpPr>
          <p:nvPr/>
        </p:nvSpPr>
        <p:spPr>
          <a:xfrm>
            <a:off x="8558766" y="2585109"/>
            <a:ext cx="2289573" cy="56006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ctr" eaLnBrk="0" latinLnBrk="0" hangingPunct="0">
              <a:lnSpc>
                <a:spcPct val="129000"/>
              </a:lnSpc>
              <a:spcBef>
                <a:spcPts val="0"/>
              </a:spcBef>
              <a:spcAft>
                <a:spcPts val="0"/>
              </a:spcAft>
              <a:buNone/>
            </a:pPr>
            <a:r>
              <a:rPr lang="zh-CN" altLang="en-US" sz="2400" b="0" i="0" u="none" strike="noStrike" kern="1200" cap="none" spc="0" baseline="0">
                <a:solidFill>
                  <a:schemeClr val="tx1"/>
                </a:solidFill>
                <a:latin typeface="Microsoft YaHei" charset="0"/>
                <a:ea typeface="Microsoft YaHei" charset="0"/>
                <a:cs typeface="Microsoft YaHei" charset="0"/>
                <a:sym typeface="Microsoft YaHei" charset="0"/>
              </a:rPr>
              <a:t>物理绑定性</a:t>
            </a:r>
          </a:p>
        </p:txBody>
      </p:sp>
      <p:sp>
        <p:nvSpPr>
          <p:cNvPr id="202" name="Rectangles"/>
          <p:cNvSpPr>
            <a:spLocks/>
          </p:cNvSpPr>
          <p:nvPr/>
        </p:nvSpPr>
        <p:spPr>
          <a:xfrm>
            <a:off x="4298478" y="1566232"/>
            <a:ext cx="3599999" cy="4543613"/>
          </a:xfrm>
          <a:prstGeom prst="rect">
            <a:avLst/>
          </a:prstGeom>
          <a:noFill/>
          <a:ln w="12700" cap="flat" cmpd="sng">
            <a:solidFill>
              <a:srgbClr val="505122"/>
            </a:solidFill>
            <a:prstDash val="solid"/>
            <a:round/>
          </a:ln>
          <a:effectLst>
            <a:outerShdw blurRad="50800" algn="l" rotWithShape="0">
              <a:srgbClr val="000000">
                <a:alpha val="39607"/>
              </a:srgbClr>
            </a:outerShdw>
          </a:effectLst>
        </p:spPr>
      </p:sp>
      <p:sp>
        <p:nvSpPr>
          <p:cNvPr id="203" name="Rectangles"/>
          <p:cNvSpPr>
            <a:spLocks/>
          </p:cNvSpPr>
          <p:nvPr/>
        </p:nvSpPr>
        <p:spPr>
          <a:xfrm>
            <a:off x="660400" y="1566232"/>
            <a:ext cx="3636246" cy="4543614"/>
          </a:xfrm>
          <a:prstGeom prst="rect">
            <a:avLst/>
          </a:prstGeom>
          <a:noFill/>
          <a:ln w="12700" cap="flat" cmpd="sng">
            <a:solidFill>
              <a:srgbClr val="505122"/>
            </a:solidFill>
            <a:prstDash val="solid"/>
            <a:round/>
          </a:ln>
          <a:effectLst>
            <a:outerShdw blurRad="50800" algn="l" rotWithShape="0">
              <a:srgbClr val="000000">
                <a:alpha val="39607"/>
              </a:srgbClr>
            </a:outerShdw>
          </a:effectLst>
        </p:spPr>
      </p:sp>
      <p:sp>
        <p:nvSpPr>
          <p:cNvPr id="204" name="曲线"/>
          <p:cNvSpPr>
            <a:spLocks/>
          </p:cNvSpPr>
          <p:nvPr/>
        </p:nvSpPr>
        <p:spPr>
          <a:xfrm>
            <a:off x="2226142" y="2134186"/>
            <a:ext cx="504761" cy="503999"/>
          </a:xfrm>
          <a:custGeom>
            <a:avLst/>
            <a:gdLst>
              <a:gd name="T1" fmla="*/ 0 w 21600"/>
              <a:gd name="T2" fmla="*/ 0 h 21600"/>
              <a:gd name="T3" fmla="*/ 21600 w 21600"/>
              <a:gd name="T4" fmla="*/ 21600 h 21600"/>
            </a:gdLst>
            <a:ahLst/>
            <a:cxnLst/>
            <a:rect l="T1" t="T2" r="T3" b="T4"/>
            <a:pathLst>
              <a:path w="21600" h="21600">
                <a:moveTo>
                  <a:pt x="10798" y="0"/>
                </a:moveTo>
                <a:cubicBezTo>
                  <a:pt x="4834" y="0"/>
                  <a:pt x="0" y="4833"/>
                  <a:pt x="0" y="10797"/>
                </a:cubicBezTo>
                <a:cubicBezTo>
                  <a:pt x="0" y="16765"/>
                  <a:pt x="4834" y="21600"/>
                  <a:pt x="10798" y="21600"/>
                </a:cubicBezTo>
                <a:cubicBezTo>
                  <a:pt x="16765" y="21600"/>
                  <a:pt x="21600" y="16765"/>
                  <a:pt x="21600" y="10797"/>
                </a:cubicBezTo>
                <a:cubicBezTo>
                  <a:pt x="21600" y="4833"/>
                  <a:pt x="16765" y="0"/>
                  <a:pt x="10798" y="0"/>
                </a:cubicBezTo>
              </a:path>
              <a:path w="21600" h="21600">
                <a:moveTo>
                  <a:pt x="10295" y="5109"/>
                </a:moveTo>
                <a:lnTo>
                  <a:pt x="10295" y="3727"/>
                </a:lnTo>
                <a:cubicBezTo>
                  <a:pt x="10295" y="3446"/>
                  <a:pt x="10521" y="3220"/>
                  <a:pt x="10798" y="3220"/>
                </a:cubicBezTo>
                <a:cubicBezTo>
                  <a:pt x="11077" y="3220"/>
                  <a:pt x="11303" y="3446"/>
                  <a:pt x="11303" y="3727"/>
                </a:cubicBezTo>
                <a:lnTo>
                  <a:pt x="11303" y="5109"/>
                </a:lnTo>
                <a:lnTo>
                  <a:pt x="11303" y="5109"/>
                </a:lnTo>
                <a:cubicBezTo>
                  <a:pt x="11303" y="5385"/>
                  <a:pt x="11077" y="5612"/>
                  <a:pt x="10798" y="5612"/>
                </a:cubicBezTo>
                <a:cubicBezTo>
                  <a:pt x="10521" y="5612"/>
                  <a:pt x="10295" y="5385"/>
                  <a:pt x="10295" y="5109"/>
                </a:cubicBezTo>
                <a:lnTo>
                  <a:pt x="10295" y="5109"/>
                </a:lnTo>
              </a:path>
              <a:path w="21600" h="21600">
                <a:moveTo>
                  <a:pt x="6049" y="9597"/>
                </a:moveTo>
                <a:cubicBezTo>
                  <a:pt x="6005" y="9840"/>
                  <a:pt x="5794" y="10013"/>
                  <a:pt x="5555" y="10013"/>
                </a:cubicBezTo>
                <a:cubicBezTo>
                  <a:pt x="5526" y="10013"/>
                  <a:pt x="5497" y="10008"/>
                  <a:pt x="5465" y="10005"/>
                </a:cubicBezTo>
                <a:lnTo>
                  <a:pt x="4102" y="9765"/>
                </a:lnTo>
                <a:cubicBezTo>
                  <a:pt x="3831" y="9715"/>
                  <a:pt x="3647" y="9457"/>
                  <a:pt x="3694" y="9184"/>
                </a:cubicBezTo>
                <a:cubicBezTo>
                  <a:pt x="3744" y="8909"/>
                  <a:pt x="4002" y="8725"/>
                  <a:pt x="4278" y="8776"/>
                </a:cubicBezTo>
                <a:lnTo>
                  <a:pt x="5640" y="9017"/>
                </a:lnTo>
                <a:cubicBezTo>
                  <a:pt x="5912" y="9062"/>
                  <a:pt x="6096" y="9325"/>
                  <a:pt x="6049" y="9597"/>
                </a:cubicBezTo>
              </a:path>
              <a:path w="21600" h="21600">
                <a:moveTo>
                  <a:pt x="6992" y="6679"/>
                </a:moveTo>
                <a:lnTo>
                  <a:pt x="6099" y="5619"/>
                </a:lnTo>
                <a:cubicBezTo>
                  <a:pt x="5924" y="5403"/>
                  <a:pt x="5948" y="5088"/>
                  <a:pt x="6163" y="4908"/>
                </a:cubicBezTo>
                <a:cubicBezTo>
                  <a:pt x="6374" y="4730"/>
                  <a:pt x="6690" y="4758"/>
                  <a:pt x="6869" y="4970"/>
                </a:cubicBezTo>
                <a:lnTo>
                  <a:pt x="7761" y="6030"/>
                </a:lnTo>
                <a:cubicBezTo>
                  <a:pt x="7938" y="6246"/>
                  <a:pt x="7913" y="6561"/>
                  <a:pt x="7697" y="6741"/>
                </a:cubicBezTo>
                <a:cubicBezTo>
                  <a:pt x="7604" y="6820"/>
                  <a:pt x="7489" y="6858"/>
                  <a:pt x="7375" y="6858"/>
                </a:cubicBezTo>
                <a:cubicBezTo>
                  <a:pt x="7232" y="6858"/>
                  <a:pt x="7088" y="6798"/>
                  <a:pt x="6992" y="6679"/>
                </a:cubicBezTo>
              </a:path>
              <a:path w="21600" h="21600">
                <a:moveTo>
                  <a:pt x="13481" y="13234"/>
                </a:moveTo>
                <a:cubicBezTo>
                  <a:pt x="13058" y="13857"/>
                  <a:pt x="12622" y="14500"/>
                  <a:pt x="12592" y="15366"/>
                </a:cubicBezTo>
                <a:cubicBezTo>
                  <a:pt x="12585" y="15581"/>
                  <a:pt x="12435" y="15757"/>
                  <a:pt x="12231" y="15804"/>
                </a:cubicBezTo>
                <a:cubicBezTo>
                  <a:pt x="12421" y="15861"/>
                  <a:pt x="12554" y="16034"/>
                  <a:pt x="12554" y="16241"/>
                </a:cubicBezTo>
                <a:cubicBezTo>
                  <a:pt x="12554" y="16424"/>
                  <a:pt x="12450" y="16578"/>
                  <a:pt x="12295" y="16653"/>
                </a:cubicBezTo>
                <a:cubicBezTo>
                  <a:pt x="12450" y="16729"/>
                  <a:pt x="12554" y="16887"/>
                  <a:pt x="12554" y="17065"/>
                </a:cubicBezTo>
                <a:cubicBezTo>
                  <a:pt x="12554" y="17319"/>
                  <a:pt x="12349" y="17527"/>
                  <a:pt x="12095" y="17527"/>
                </a:cubicBezTo>
                <a:lnTo>
                  <a:pt x="11815" y="17527"/>
                </a:lnTo>
                <a:cubicBezTo>
                  <a:pt x="11729" y="18007"/>
                  <a:pt x="11306" y="18373"/>
                  <a:pt x="10798" y="18373"/>
                </a:cubicBezTo>
                <a:cubicBezTo>
                  <a:pt x="10292" y="18373"/>
                  <a:pt x="9869" y="18007"/>
                  <a:pt x="9782" y="17527"/>
                </a:cubicBezTo>
                <a:lnTo>
                  <a:pt x="9503" y="17527"/>
                </a:lnTo>
                <a:cubicBezTo>
                  <a:pt x="9248" y="17527"/>
                  <a:pt x="9041" y="17319"/>
                  <a:pt x="9041" y="17065"/>
                </a:cubicBezTo>
                <a:cubicBezTo>
                  <a:pt x="9041" y="16887"/>
                  <a:pt x="9148" y="16729"/>
                  <a:pt x="9303" y="16653"/>
                </a:cubicBezTo>
                <a:cubicBezTo>
                  <a:pt x="9148" y="16578"/>
                  <a:pt x="9041" y="16424"/>
                  <a:pt x="9041" y="16241"/>
                </a:cubicBezTo>
                <a:cubicBezTo>
                  <a:pt x="9041" y="16034"/>
                  <a:pt x="9181" y="15857"/>
                  <a:pt x="9368" y="15801"/>
                </a:cubicBezTo>
                <a:cubicBezTo>
                  <a:pt x="9167" y="15757"/>
                  <a:pt x="9012" y="15581"/>
                  <a:pt x="9005" y="15366"/>
                </a:cubicBezTo>
                <a:cubicBezTo>
                  <a:pt x="8980" y="14500"/>
                  <a:pt x="8539" y="13855"/>
                  <a:pt x="8117" y="13234"/>
                </a:cubicBezTo>
                <a:cubicBezTo>
                  <a:pt x="7607" y="12489"/>
                  <a:pt x="7080" y="11719"/>
                  <a:pt x="7080" y="10359"/>
                </a:cubicBezTo>
                <a:cubicBezTo>
                  <a:pt x="7080" y="8414"/>
                  <a:pt x="8750" y="6829"/>
                  <a:pt x="10798" y="6829"/>
                </a:cubicBezTo>
                <a:cubicBezTo>
                  <a:pt x="12847" y="6829"/>
                  <a:pt x="14513" y="8414"/>
                  <a:pt x="14513" y="10359"/>
                </a:cubicBezTo>
                <a:cubicBezTo>
                  <a:pt x="14513" y="11719"/>
                  <a:pt x="13991" y="12489"/>
                  <a:pt x="13481" y="13234"/>
                </a:cubicBezTo>
              </a:path>
              <a:path w="21600" h="21600">
                <a:moveTo>
                  <a:pt x="14606" y="6679"/>
                </a:moveTo>
                <a:cubicBezTo>
                  <a:pt x="14506" y="6798"/>
                  <a:pt x="14366" y="6858"/>
                  <a:pt x="14224" y="6858"/>
                </a:cubicBezTo>
                <a:cubicBezTo>
                  <a:pt x="14108" y="6858"/>
                  <a:pt x="13994" y="6820"/>
                  <a:pt x="13901" y="6741"/>
                </a:cubicBezTo>
                <a:cubicBezTo>
                  <a:pt x="13686" y="6561"/>
                  <a:pt x="13661" y="6246"/>
                  <a:pt x="13836" y="6030"/>
                </a:cubicBezTo>
                <a:lnTo>
                  <a:pt x="14728" y="4970"/>
                </a:lnTo>
                <a:cubicBezTo>
                  <a:pt x="14904" y="4758"/>
                  <a:pt x="15224" y="4730"/>
                  <a:pt x="15435" y="4908"/>
                </a:cubicBezTo>
                <a:cubicBezTo>
                  <a:pt x="15647" y="5088"/>
                  <a:pt x="15675" y="5403"/>
                  <a:pt x="15496" y="5619"/>
                </a:cubicBezTo>
                <a:lnTo>
                  <a:pt x="14606" y="6679"/>
                </a:lnTo>
              </a:path>
              <a:path w="21600" h="21600">
                <a:moveTo>
                  <a:pt x="17496" y="9765"/>
                </a:moveTo>
                <a:lnTo>
                  <a:pt x="16130" y="10005"/>
                </a:lnTo>
                <a:cubicBezTo>
                  <a:pt x="16102" y="10008"/>
                  <a:pt x="16073" y="10013"/>
                  <a:pt x="16044" y="10013"/>
                </a:cubicBezTo>
                <a:cubicBezTo>
                  <a:pt x="15803" y="10013"/>
                  <a:pt x="15592" y="9840"/>
                  <a:pt x="15549" y="9597"/>
                </a:cubicBezTo>
                <a:cubicBezTo>
                  <a:pt x="15500" y="9325"/>
                  <a:pt x="15683" y="9062"/>
                  <a:pt x="15958" y="9017"/>
                </a:cubicBezTo>
                <a:lnTo>
                  <a:pt x="17320" y="8776"/>
                </a:lnTo>
                <a:cubicBezTo>
                  <a:pt x="17593" y="8725"/>
                  <a:pt x="17853" y="8909"/>
                  <a:pt x="17904" y="9184"/>
                </a:cubicBezTo>
                <a:cubicBezTo>
                  <a:pt x="17950" y="9457"/>
                  <a:pt x="17767" y="9715"/>
                  <a:pt x="17496" y="9765"/>
                </a:cubicBezTo>
                <a:close/>
              </a:path>
            </a:pathLst>
          </a:custGeom>
          <a:solidFill>
            <a:schemeClr val="accent1"/>
          </a:solidFill>
          <a:ln cap="flat" cmpd="sng">
            <a:noFill/>
            <a:prstDash val="solid"/>
            <a:round/>
          </a:ln>
        </p:spPr>
      </p:sp>
      <p:sp>
        <p:nvSpPr>
          <p:cNvPr id="205" name="Rectangles"/>
          <p:cNvSpPr>
            <a:spLocks/>
          </p:cNvSpPr>
          <p:nvPr/>
        </p:nvSpPr>
        <p:spPr>
          <a:xfrm>
            <a:off x="858476" y="3434771"/>
            <a:ext cx="3240094" cy="170238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zh-CN" altLang="en-US" sz="1800" b="0" i="0" u="none" strike="noStrike" kern="1200" cap="none" spc="0" baseline="0">
                <a:solidFill>
                  <a:schemeClr val="tx1"/>
                </a:solidFill>
                <a:latin typeface="Microsoft YaHei" charset="0"/>
                <a:ea typeface="宋体" charset="0"/>
                <a:cs typeface="Times New Roman" pitchFamily="18" charset="0"/>
              </a:rPr>
              <a:t>由于</a:t>
            </a:r>
            <a:r>
              <a:rPr lang="en-US" altLang="zh-CN" sz="1800" b="0" i="0" u="none" strike="noStrike" kern="1200" cap="none" spc="0" baseline="0">
                <a:solidFill>
                  <a:schemeClr val="tx1"/>
                </a:solidFill>
                <a:latin typeface="Microsoft YaHei" charset="0"/>
                <a:ea typeface="宋体" charset="0"/>
                <a:cs typeface="Times New Roman" pitchFamily="18" charset="0"/>
              </a:rPr>
              <a:t>PUF</a:t>
            </a:r>
            <a:r>
              <a:rPr lang="zh-CN" altLang="en-US" sz="1800" b="0" i="0" u="none" strike="noStrike" kern="1200" cap="none" spc="0" baseline="0">
                <a:solidFill>
                  <a:schemeClr val="tx1"/>
                </a:solidFill>
                <a:latin typeface="Microsoft YaHei" charset="0"/>
                <a:ea typeface="宋体" charset="0"/>
                <a:cs typeface="Times New Roman" pitchFamily="18" charset="0"/>
              </a:rPr>
              <a:t>的独特性源自不可控制的制造随机性，任何试图制造完全相同的</a:t>
            </a:r>
            <a:r>
              <a:rPr lang="en-US" altLang="zh-CN" sz="1800" b="0" i="0" u="none" strike="noStrike" kern="1200" cap="none" spc="0" baseline="0">
                <a:solidFill>
                  <a:schemeClr val="tx1"/>
                </a:solidFill>
                <a:latin typeface="Microsoft YaHei" charset="0"/>
                <a:ea typeface="宋体" charset="0"/>
                <a:cs typeface="Times New Roman" pitchFamily="18" charset="0"/>
              </a:rPr>
              <a:t>PUF</a:t>
            </a:r>
            <a:r>
              <a:rPr lang="zh-CN" altLang="en-US" sz="1800" b="0" i="0" u="none" strike="noStrike" kern="1200" cap="none" spc="0" baseline="0">
                <a:solidFill>
                  <a:schemeClr val="tx1"/>
                </a:solidFill>
                <a:latin typeface="Microsoft YaHei" charset="0"/>
                <a:ea typeface="宋体" charset="0"/>
                <a:cs typeface="Times New Roman" pitchFamily="18" charset="0"/>
              </a:rPr>
              <a:t>的尝试在物理上都面临巨大障碍。</a:t>
            </a:r>
            <a:endParaRPr lang="zh-CN" altLang="en-US" sz="1800" b="0" i="0" u="none" strike="noStrike" kern="1200" cap="none" spc="0" baseline="0">
              <a:solidFill>
                <a:schemeClr val="tx1"/>
              </a:solidFill>
              <a:latin typeface="Microsoft YaHei" charset="0"/>
              <a:ea typeface="Microsoft YaHei" charset="0"/>
              <a:cs typeface="Microsoft YaHei" charset="0"/>
            </a:endParaRPr>
          </a:p>
        </p:txBody>
      </p:sp>
      <p:sp>
        <p:nvSpPr>
          <p:cNvPr id="206" name="Rectangles"/>
          <p:cNvSpPr>
            <a:spLocks/>
          </p:cNvSpPr>
          <p:nvPr/>
        </p:nvSpPr>
        <p:spPr>
          <a:xfrm>
            <a:off x="4575912" y="3429000"/>
            <a:ext cx="3156246" cy="1286891"/>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zh-CN" altLang="en-US" sz="1800" b="0" i="0" u="none" strike="noStrike" kern="1200" cap="none" spc="0" baseline="0">
                <a:solidFill>
                  <a:schemeClr val="tx1"/>
                </a:solidFill>
                <a:latin typeface="Microsoft YaHei" charset="0"/>
                <a:ea typeface="宋体" charset="0"/>
                <a:cs typeface="Times New Roman" pitchFamily="18" charset="0"/>
              </a:rPr>
              <a:t>即使攻击者掌握了大量挑战</a:t>
            </a:r>
            <a:r>
              <a:rPr lang="en-US" altLang="zh-CN" sz="1800" b="0" i="0" u="none" strike="noStrike" kern="1200" cap="none" spc="0" baseline="0">
                <a:solidFill>
                  <a:schemeClr val="tx1"/>
                </a:solidFill>
                <a:latin typeface="Microsoft YaHei" charset="0"/>
                <a:ea typeface="宋体" charset="0"/>
                <a:cs typeface="Times New Roman" pitchFamily="18" charset="0"/>
              </a:rPr>
              <a:t>-</a:t>
            </a:r>
            <a:r>
              <a:rPr lang="zh-CN" altLang="en-US" sz="1800" b="0" i="0" u="none" strike="noStrike" kern="1200" cap="none" spc="0" baseline="0">
                <a:solidFill>
                  <a:schemeClr val="tx1"/>
                </a:solidFill>
                <a:latin typeface="Microsoft YaHei" charset="0"/>
                <a:ea typeface="宋体" charset="0"/>
                <a:cs typeface="Times New Roman" pitchFamily="18" charset="0"/>
              </a:rPr>
              <a:t>响应对，也难以推断出未观测挑战对应的响应值。</a:t>
            </a:r>
            <a:endParaRPr lang="zh-CN" altLang="en-US" sz="1800" b="0" i="0" u="none" strike="noStrike" kern="1200" cap="none" spc="0" baseline="0">
              <a:solidFill>
                <a:schemeClr val="tx1"/>
              </a:solidFill>
              <a:latin typeface="Microsoft YaHei" charset="0"/>
              <a:ea typeface="Microsoft YaHei" charset="0"/>
              <a:cs typeface="Microsoft YaHei" charset="0"/>
            </a:endParaRPr>
          </a:p>
        </p:txBody>
      </p:sp>
      <p:sp>
        <p:nvSpPr>
          <p:cNvPr id="207" name="Rectangles"/>
          <p:cNvSpPr>
            <a:spLocks/>
          </p:cNvSpPr>
          <p:nvPr/>
        </p:nvSpPr>
        <p:spPr>
          <a:xfrm>
            <a:off x="8149229" y="3356458"/>
            <a:ext cx="3182927" cy="2117886"/>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50000"/>
              </a:lnSpc>
              <a:spcBef>
                <a:spcPts val="0"/>
              </a:spcBef>
              <a:spcAft>
                <a:spcPts val="0"/>
              </a:spcAft>
              <a:buNone/>
            </a:pPr>
            <a:r>
              <a:rPr lang="en-US" altLang="zh-CN" sz="1800" b="0" i="0" u="none" strike="noStrike" kern="1200" cap="none" spc="0" baseline="0">
                <a:solidFill>
                  <a:schemeClr val="tx1"/>
                </a:solidFill>
                <a:latin typeface="宋体" charset="0"/>
                <a:ea typeface="Microsoft YaHei" charset="0"/>
                <a:cs typeface="Times New Roman" pitchFamily="18" charset="0"/>
              </a:rPr>
              <a:t>PUF</a:t>
            </a:r>
            <a:r>
              <a:rPr lang="zh-CN" altLang="en-US" sz="1800" b="0" i="0" u="none" strike="noStrike" kern="1200" cap="none" spc="0" baseline="0">
                <a:solidFill>
                  <a:schemeClr val="tx1"/>
                </a:solidFill>
                <a:latin typeface="Microsoft YaHei" charset="0"/>
                <a:ea typeface="宋体" charset="0"/>
                <a:cs typeface="Times New Roman" pitchFamily="18" charset="0"/>
              </a:rPr>
              <a:t>的密钥信息与芯片本身形成不可分割的绑定关系。任何试图物理探取密钥的尝试都可能会改变或破坏</a:t>
            </a:r>
            <a:r>
              <a:rPr lang="en-US" altLang="zh-CN" sz="1800" b="0" i="0" u="none" strike="noStrike" kern="1200" cap="none" spc="0" baseline="0">
                <a:solidFill>
                  <a:schemeClr val="tx1"/>
                </a:solidFill>
                <a:latin typeface="Microsoft YaHei" charset="0"/>
                <a:ea typeface="宋体" charset="0"/>
                <a:cs typeface="Times New Roman" pitchFamily="18" charset="0"/>
              </a:rPr>
              <a:t>PUF</a:t>
            </a:r>
            <a:r>
              <a:rPr lang="zh-CN" altLang="en-US" sz="1800" b="0" i="0" u="none" strike="noStrike" kern="1200" cap="none" spc="0" baseline="0">
                <a:solidFill>
                  <a:schemeClr val="tx1"/>
                </a:solidFill>
                <a:latin typeface="Microsoft YaHei" charset="0"/>
                <a:ea typeface="宋体" charset="0"/>
                <a:cs typeface="Times New Roman" pitchFamily="18" charset="0"/>
              </a:rPr>
              <a:t>的物理特性，使密钥失效。</a:t>
            </a:r>
            <a:endParaRPr lang="zh-CN" altLang="en-US" sz="1800" b="0" i="0" u="none" strike="noStrike" kern="1200" cap="none" spc="0" baseline="0">
              <a:solidFill>
                <a:schemeClr val="tx1"/>
              </a:solidFill>
              <a:latin typeface="Microsoft YaHei" charset="0"/>
              <a:ea typeface="Microsoft YaHei" charset="0"/>
              <a:cs typeface="Microsoft YaHei" charset="0"/>
            </a:endParaRPr>
          </a:p>
        </p:txBody>
      </p:sp>
    </p:spTree>
    <p:extLst>
      <p:ext uri="{BB962C8B-B14F-4D97-AF65-F5344CB8AC3E}">
        <p14:creationId xmlns:p14="http://schemas.microsoft.com/office/powerpoint/2010/main" val="879708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1"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Helvetica" pitchFamily="2" charset="0"/>
                <a:ea typeface="Microsoft YaHei" charset="0"/>
                <a:cs typeface="Microsoft YaHei" charset="0"/>
              </a:rPr>
              <a:t>9</a:t>
            </a:fld>
            <a:endParaRPr lang="zh-CN" altLang="en-US" sz="1200" b="0" i="0" u="none" strike="noStrike" kern="1200" cap="none" spc="0" baseline="0">
              <a:solidFill>
                <a:schemeClr val="tx1"/>
              </a:solidFill>
              <a:latin typeface="Helvetica" pitchFamily="2" charset="0"/>
              <a:ea typeface="Microsoft YaHei" charset="0"/>
              <a:cs typeface="Microsoft YaHei" charset="0"/>
            </a:endParaRPr>
          </a:p>
        </p:txBody>
      </p:sp>
      <p:sp>
        <p:nvSpPr>
          <p:cNvPr id="212"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zh-CN" altLang="en-US" sz="3600" b="0" i="0" u="none" strike="noStrike" kern="1200" cap="none" spc="0" baseline="0">
                <a:solidFill>
                  <a:schemeClr val="accent1"/>
                </a:solidFill>
                <a:latin typeface="微软雅黑" pitchFamily="34" charset="-122"/>
                <a:ea typeface="微软雅黑" pitchFamily="34" charset="-122"/>
                <a:cs typeface="Microsoft YaHei" charset="0"/>
                <a:sym typeface="Microsoft YaHei" charset="0"/>
              </a:rPr>
              <a:t>动态冗余异构</a:t>
            </a:r>
            <a:r>
              <a:rPr lang="en-US" altLang="zh-CN" sz="3600" b="0" i="0" u="none" strike="noStrike" kern="1200" cap="none" spc="0" baseline="0">
                <a:solidFill>
                  <a:schemeClr val="accent1"/>
                </a:solidFill>
                <a:latin typeface="微软雅黑" pitchFamily="34" charset="-122"/>
                <a:ea typeface="微软雅黑" pitchFamily="34" charset="-122"/>
                <a:cs typeface="Microsoft YaHei" charset="0"/>
                <a:sym typeface="Microsoft YaHei" charset="0"/>
              </a:rPr>
              <a:t>DHR</a:t>
            </a:r>
            <a:endParaRPr lang="zh-CN" altLang="en-US" sz="3600" b="0" i="0" u="none" strike="noStrike" kern="1200" cap="none" spc="0" baseline="0">
              <a:solidFill>
                <a:schemeClr val="accent1"/>
              </a:solidFill>
              <a:latin typeface="微软雅黑" pitchFamily="34" charset="-122"/>
              <a:ea typeface="微软雅黑" pitchFamily="34" charset="-122"/>
              <a:cs typeface="Lucida Sans" charset="0"/>
            </a:endParaRPr>
          </a:p>
        </p:txBody>
      </p:sp>
      <p:sp>
        <p:nvSpPr>
          <p:cNvPr id="213" name="Rectangles"/>
          <p:cNvSpPr>
            <a:spLocks/>
          </p:cNvSpPr>
          <p:nvPr/>
        </p:nvSpPr>
        <p:spPr>
          <a:xfrm>
            <a:off x="6309569" y="5879190"/>
            <a:ext cx="3996956" cy="33855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图1</a:t>
            </a:r>
            <a:r>
              <a:rPr lang="en-US" altLang="zh-CN" sz="1600" b="0" i="0" u="none" strike="noStrike" kern="1200" cap="none" spc="0" baseline="0">
                <a:solidFill>
                  <a:srgbClr val="191919"/>
                </a:solidFill>
                <a:latin typeface="等线 Light" pitchFamily="2" charset="-122"/>
                <a:ea typeface="等线 Light" pitchFamily="2" charset="-122"/>
                <a:cs typeface="Microsoft YaHei" charset="0"/>
              </a:rPr>
              <a:t>	</a:t>
            </a: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动态冗余异构</a:t>
            </a:r>
            <a:r>
              <a:rPr lang="en-US" altLang="zh-CN" sz="1600" b="0" i="0" u="none" strike="noStrike" kern="1200" cap="none" spc="0" baseline="0">
                <a:solidFill>
                  <a:srgbClr val="191919"/>
                </a:solidFill>
                <a:latin typeface="等线 Light" pitchFamily="2" charset="-122"/>
                <a:ea typeface="等线 Light" pitchFamily="2" charset="-122"/>
                <a:cs typeface="Microsoft YaHei" charset="0"/>
              </a:rPr>
              <a:t>DHR</a:t>
            </a: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流程图</a:t>
            </a:r>
            <a:r>
              <a:rPr lang="en-US" altLang="zh-CN" sz="1600" b="0" i="0" u="none" strike="noStrike" kern="1200" cap="none" spc="0" baseline="0">
                <a:solidFill>
                  <a:srgbClr val="191919"/>
                </a:solidFill>
                <a:latin typeface="等线 Light" pitchFamily="2" charset="-122"/>
                <a:ea typeface="等线 Light" pitchFamily="2" charset="-122"/>
                <a:cs typeface="Microsoft YaHei" charset="0"/>
              </a:rPr>
              <a:t> </a:t>
            </a:r>
            <a:endParaRPr lang="zh-CN" altLang="en-US" sz="1600" b="0" i="0" u="none" strike="noStrike" kern="1200" cap="none" spc="0" baseline="0">
              <a:solidFill>
                <a:schemeClr val="tx1"/>
              </a:solidFill>
              <a:latin typeface="等线 Light" pitchFamily="2" charset="-122"/>
              <a:ea typeface="等线 Light" pitchFamily="2" charset="-122"/>
              <a:cs typeface="Microsoft YaHei" charset="0"/>
            </a:endParaRPr>
          </a:p>
        </p:txBody>
      </p:sp>
      <p:pic>
        <p:nvPicPr>
          <p:cNvPr id="214" name="Images"/>
          <p:cNvPicPr>
            <a:picLocks/>
          </p:cNvPicPr>
          <p:nvPr/>
        </p:nvPicPr>
        <p:blipFill>
          <a:blip r:embed="rId3" cstate="print"/>
          <a:stretch>
            <a:fillRect/>
          </a:stretch>
        </p:blipFill>
        <p:spPr>
          <a:xfrm>
            <a:off x="4610501" y="1357679"/>
            <a:ext cx="7395092" cy="4546711"/>
          </a:xfrm>
          <a:prstGeom prst="rect">
            <a:avLst/>
          </a:prstGeom>
          <a:noFill/>
          <a:ln w="12700" cap="flat" cmpd="sng">
            <a:noFill/>
            <a:prstDash val="solid"/>
            <a:miter/>
          </a:ln>
        </p:spPr>
      </p:pic>
      <p:sp>
        <p:nvSpPr>
          <p:cNvPr id="215" name="Rectangles"/>
          <p:cNvSpPr>
            <a:spLocks/>
          </p:cNvSpPr>
          <p:nvPr/>
        </p:nvSpPr>
        <p:spPr>
          <a:xfrm>
            <a:off x="86627" y="2590764"/>
            <a:ext cx="4803005" cy="132343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3200" b="0" i="0" u="none" strike="noStrike" kern="1200" cap="none" spc="0" baseline="0">
                <a:solidFill>
                  <a:schemeClr val="accent5"/>
                </a:solidFill>
                <a:latin typeface="Microsoft YaHei" charset="0"/>
                <a:ea typeface="Microsoft YaHei" charset="0"/>
                <a:cs typeface="Microsoft YaHei" charset="0"/>
              </a:rPr>
              <a:t>内生安全的核心主张：</a:t>
            </a:r>
            <a:endParaRPr lang="en-US" altLang="zh-CN" sz="3200" b="0" i="0" u="none" strike="noStrike" kern="1200" cap="none" spc="0" baseline="0">
              <a:solidFill>
                <a:schemeClr val="accent5"/>
              </a:solidFill>
              <a:latin typeface="Microsoft YaHei" charset="0"/>
              <a:ea typeface="Microsoft YaHei" charset="0"/>
              <a:cs typeface="Microsoft YaHei" charset="0"/>
            </a:endParaRPr>
          </a:p>
          <a:p>
            <a:pPr marL="0" indent="0" algn="l">
              <a:lnSpc>
                <a:spcPct val="100000"/>
              </a:lnSpc>
              <a:spcBef>
                <a:spcPts val="0"/>
              </a:spcBef>
              <a:spcAft>
                <a:spcPts val="0"/>
              </a:spcAft>
              <a:buNone/>
            </a:pPr>
            <a:r>
              <a:rPr lang="zh-CN" altLang="en-US" sz="2400" b="0" i="0" u="none" strike="noStrike" kern="1200" cap="none" spc="0" baseline="0">
                <a:solidFill>
                  <a:schemeClr val="tx1"/>
                </a:solidFill>
                <a:latin typeface="Microsoft YaHei" charset="0"/>
                <a:ea typeface="Microsoft YaHei" charset="0"/>
                <a:cs typeface="Microsoft YaHei" charset="0"/>
              </a:rPr>
              <a:t>让系统的结构本身决定其安全性，而非依赖对攻击的预见和认识能力</a:t>
            </a:r>
          </a:p>
        </p:txBody>
      </p:sp>
    </p:spTree>
    <p:extLst>
      <p:ext uri="{BB962C8B-B14F-4D97-AF65-F5344CB8AC3E}">
        <p14:creationId xmlns:p14="http://schemas.microsoft.com/office/powerpoint/2010/main" val="17527262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9"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en-US" altLang="zh-CN" sz="32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ESC0830</a:t>
            </a:r>
            <a:r>
              <a:rPr lang="zh-CN" altLang="en-US" sz="32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a:t>
            </a:r>
            <a:r>
              <a:rPr lang="zh-CN" altLang="en-US" sz="3200" b="0" i="0" u="none" strike="noStrike" kern="1200" cap="none" spc="0" baseline="0">
                <a:solidFill>
                  <a:schemeClr val="accent1"/>
                </a:solidFill>
                <a:latin typeface="微软雅黑" pitchFamily="34" charset="-122"/>
                <a:ea typeface="微软雅黑" pitchFamily="34" charset="-122"/>
                <a:cs typeface="Lucida Sans" charset="0"/>
              </a:rPr>
              <a:t>全球首款异构多核拟态</a:t>
            </a:r>
            <a:r>
              <a:rPr lang="en-US" altLang="zh-CN" sz="3200" b="0" i="0" u="none" strike="noStrike" kern="1200" cap="none" spc="0" baseline="0">
                <a:solidFill>
                  <a:schemeClr val="accent1"/>
                </a:solidFill>
                <a:latin typeface="微软雅黑" pitchFamily="34" charset="-122"/>
                <a:ea typeface="微软雅黑" pitchFamily="34" charset="-122"/>
                <a:cs typeface="Lucida Sans" charset="0"/>
              </a:rPr>
              <a:t>MCU</a:t>
            </a:r>
            <a:r>
              <a:rPr lang="zh-CN" altLang="en-US" sz="3200" b="0" i="0" u="none" strike="noStrike" kern="1200" cap="none" spc="0" baseline="0">
                <a:solidFill>
                  <a:schemeClr val="accent1"/>
                </a:solidFill>
                <a:latin typeface="微软雅黑" pitchFamily="34" charset="-122"/>
                <a:ea typeface="微软雅黑" pitchFamily="34" charset="-122"/>
                <a:cs typeface="Lucida Sans" charset="0"/>
              </a:rPr>
              <a:t>芯片</a:t>
            </a:r>
            <a:endParaRPr lang="zh-CN" altLang="en-US" sz="32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endParaRPr>
          </a:p>
        </p:txBody>
      </p:sp>
      <p:sp>
        <p:nvSpPr>
          <p:cNvPr id="220"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10</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sp>
        <p:nvSpPr>
          <p:cNvPr id="221" name="曲线"/>
          <p:cNvSpPr>
            <a:spLocks/>
          </p:cNvSpPr>
          <p:nvPr/>
        </p:nvSpPr>
        <p:spPr>
          <a:xfrm>
            <a:off x="5270035" y="2067890"/>
            <a:ext cx="311779" cy="324000"/>
          </a:xfrm>
          <a:custGeom>
            <a:avLst/>
            <a:gdLst>
              <a:gd name="T1" fmla="*/ 0 w 21600"/>
              <a:gd name="T2" fmla="*/ 0 h 21600"/>
              <a:gd name="T3" fmla="*/ 21600 w 21600"/>
              <a:gd name="T4" fmla="*/ 21600 h 21600"/>
            </a:gdLst>
            <a:ahLst/>
            <a:cxnLst/>
            <a:rect l="T1" t="T2" r="T3" b="T4"/>
            <a:pathLst>
              <a:path w="21600" h="21600">
                <a:moveTo>
                  <a:pt x="10818" y="0"/>
                </a:moveTo>
                <a:lnTo>
                  <a:pt x="10818" y="0"/>
                </a:lnTo>
                <a:cubicBezTo>
                  <a:pt x="4840" y="0"/>
                  <a:pt x="0" y="4651"/>
                  <a:pt x="0" y="10394"/>
                </a:cubicBezTo>
                <a:cubicBezTo>
                  <a:pt x="0" y="14023"/>
                  <a:pt x="1943" y="17300"/>
                  <a:pt x="5097" y="19203"/>
                </a:cubicBezTo>
                <a:lnTo>
                  <a:pt x="4583" y="20119"/>
                </a:lnTo>
                <a:cubicBezTo>
                  <a:pt x="4399" y="20436"/>
                  <a:pt x="4399" y="20824"/>
                  <a:pt x="4583" y="21105"/>
                </a:cubicBezTo>
                <a:cubicBezTo>
                  <a:pt x="4767" y="21422"/>
                  <a:pt x="5097" y="21600"/>
                  <a:pt x="5464" y="21600"/>
                </a:cubicBezTo>
                <a:lnTo>
                  <a:pt x="14044" y="21600"/>
                </a:lnTo>
                <a:cubicBezTo>
                  <a:pt x="14412" y="21600"/>
                  <a:pt x="14778" y="21422"/>
                  <a:pt x="14962" y="21105"/>
                </a:cubicBezTo>
                <a:lnTo>
                  <a:pt x="15842" y="19556"/>
                </a:lnTo>
                <a:cubicBezTo>
                  <a:pt x="16941" y="19026"/>
                  <a:pt x="17895" y="18286"/>
                  <a:pt x="18739" y="17405"/>
                </a:cubicBezTo>
                <a:cubicBezTo>
                  <a:pt x="18921" y="17230"/>
                  <a:pt x="19032" y="16983"/>
                  <a:pt x="19032" y="16736"/>
                </a:cubicBezTo>
                <a:lnTo>
                  <a:pt x="19032" y="13636"/>
                </a:lnTo>
                <a:lnTo>
                  <a:pt x="20278" y="13636"/>
                </a:lnTo>
                <a:cubicBezTo>
                  <a:pt x="20756" y="13636"/>
                  <a:pt x="21195" y="13319"/>
                  <a:pt x="21306" y="12860"/>
                </a:cubicBezTo>
                <a:cubicBezTo>
                  <a:pt x="21526" y="12050"/>
                  <a:pt x="21600" y="11204"/>
                  <a:pt x="21600" y="10394"/>
                </a:cubicBezTo>
                <a:cubicBezTo>
                  <a:pt x="21600" y="4651"/>
                  <a:pt x="16759" y="0"/>
                  <a:pt x="10818" y="0"/>
                </a:cubicBezTo>
              </a:path>
              <a:path w="21600" h="21600">
                <a:moveTo>
                  <a:pt x="15365" y="10006"/>
                </a:moveTo>
                <a:lnTo>
                  <a:pt x="13934" y="10006"/>
                </a:lnTo>
                <a:cubicBezTo>
                  <a:pt x="13752" y="10923"/>
                  <a:pt x="13275" y="11733"/>
                  <a:pt x="12541" y="12296"/>
                </a:cubicBezTo>
                <a:lnTo>
                  <a:pt x="12541" y="12648"/>
                </a:lnTo>
                <a:cubicBezTo>
                  <a:pt x="12541" y="13177"/>
                  <a:pt x="12247" y="13636"/>
                  <a:pt x="11844" y="13883"/>
                </a:cubicBezTo>
                <a:lnTo>
                  <a:pt x="11844" y="15292"/>
                </a:lnTo>
                <a:cubicBezTo>
                  <a:pt x="11844" y="15715"/>
                  <a:pt x="11478" y="16032"/>
                  <a:pt x="11075" y="16032"/>
                </a:cubicBezTo>
                <a:lnTo>
                  <a:pt x="8581" y="16032"/>
                </a:lnTo>
                <a:cubicBezTo>
                  <a:pt x="8176" y="16032"/>
                  <a:pt x="7811" y="15715"/>
                  <a:pt x="7811" y="15292"/>
                </a:cubicBezTo>
                <a:lnTo>
                  <a:pt x="7811" y="13883"/>
                </a:lnTo>
                <a:cubicBezTo>
                  <a:pt x="7407" y="13636"/>
                  <a:pt x="7113" y="13177"/>
                  <a:pt x="7113" y="12648"/>
                </a:cubicBezTo>
                <a:lnTo>
                  <a:pt x="7113" y="12296"/>
                </a:lnTo>
                <a:cubicBezTo>
                  <a:pt x="6380" y="11733"/>
                  <a:pt x="5903" y="10923"/>
                  <a:pt x="5720" y="10006"/>
                </a:cubicBezTo>
                <a:lnTo>
                  <a:pt x="4290" y="10006"/>
                </a:lnTo>
                <a:cubicBezTo>
                  <a:pt x="3887" y="10006"/>
                  <a:pt x="3519" y="9689"/>
                  <a:pt x="3519" y="9266"/>
                </a:cubicBezTo>
                <a:cubicBezTo>
                  <a:pt x="3519" y="8879"/>
                  <a:pt x="3887" y="8527"/>
                  <a:pt x="4290" y="8527"/>
                </a:cubicBezTo>
                <a:lnTo>
                  <a:pt x="5720" y="8527"/>
                </a:lnTo>
                <a:cubicBezTo>
                  <a:pt x="5829" y="7962"/>
                  <a:pt x="6087" y="7470"/>
                  <a:pt x="6380" y="7012"/>
                </a:cubicBezTo>
                <a:lnTo>
                  <a:pt x="5389" y="6024"/>
                </a:lnTo>
                <a:cubicBezTo>
                  <a:pt x="5097" y="5743"/>
                  <a:pt x="5097" y="5285"/>
                  <a:pt x="5389" y="5003"/>
                </a:cubicBezTo>
                <a:cubicBezTo>
                  <a:pt x="5684" y="4720"/>
                  <a:pt x="6159" y="4720"/>
                  <a:pt x="6453" y="5003"/>
                </a:cubicBezTo>
                <a:lnTo>
                  <a:pt x="7480" y="5989"/>
                </a:lnTo>
                <a:cubicBezTo>
                  <a:pt x="7957" y="5672"/>
                  <a:pt x="8471" y="5460"/>
                  <a:pt x="9057" y="5354"/>
                </a:cubicBezTo>
                <a:lnTo>
                  <a:pt x="9057" y="3945"/>
                </a:lnTo>
                <a:cubicBezTo>
                  <a:pt x="9057" y="3558"/>
                  <a:pt x="9424" y="3241"/>
                  <a:pt x="9828" y="3241"/>
                </a:cubicBezTo>
                <a:cubicBezTo>
                  <a:pt x="10267" y="3241"/>
                  <a:pt x="10598" y="3558"/>
                  <a:pt x="10598" y="3945"/>
                </a:cubicBezTo>
                <a:lnTo>
                  <a:pt x="10598" y="5354"/>
                </a:lnTo>
                <a:cubicBezTo>
                  <a:pt x="11184" y="5460"/>
                  <a:pt x="11697" y="5672"/>
                  <a:pt x="12174" y="5989"/>
                </a:cubicBezTo>
                <a:lnTo>
                  <a:pt x="13202" y="5003"/>
                </a:lnTo>
                <a:cubicBezTo>
                  <a:pt x="13495" y="4720"/>
                  <a:pt x="13972" y="4720"/>
                  <a:pt x="14264" y="5003"/>
                </a:cubicBezTo>
                <a:cubicBezTo>
                  <a:pt x="14594" y="5285"/>
                  <a:pt x="14594" y="5743"/>
                  <a:pt x="14264" y="6024"/>
                </a:cubicBezTo>
                <a:lnTo>
                  <a:pt x="13275" y="7012"/>
                </a:lnTo>
                <a:cubicBezTo>
                  <a:pt x="13605" y="7470"/>
                  <a:pt x="13824" y="7962"/>
                  <a:pt x="13934" y="8527"/>
                </a:cubicBezTo>
                <a:lnTo>
                  <a:pt x="15365" y="8527"/>
                </a:lnTo>
                <a:cubicBezTo>
                  <a:pt x="15769" y="8527"/>
                  <a:pt x="16135" y="8879"/>
                  <a:pt x="16135" y="9266"/>
                </a:cubicBezTo>
                <a:cubicBezTo>
                  <a:pt x="16135" y="9689"/>
                  <a:pt x="15769" y="10006"/>
                  <a:pt x="15365" y="10006"/>
                </a:cubicBezTo>
              </a:path>
              <a:path w="21600" h="21600">
                <a:moveTo>
                  <a:pt x="12468" y="9266"/>
                </a:moveTo>
                <a:cubicBezTo>
                  <a:pt x="12468" y="10252"/>
                  <a:pt x="11881" y="11133"/>
                  <a:pt x="11038" y="11521"/>
                </a:cubicBezTo>
                <a:lnTo>
                  <a:pt x="11038" y="12648"/>
                </a:lnTo>
                <a:lnTo>
                  <a:pt x="8618" y="12648"/>
                </a:lnTo>
                <a:lnTo>
                  <a:pt x="8618" y="11521"/>
                </a:lnTo>
                <a:cubicBezTo>
                  <a:pt x="7773" y="11133"/>
                  <a:pt x="7187" y="10252"/>
                  <a:pt x="7187" y="9266"/>
                </a:cubicBezTo>
                <a:cubicBezTo>
                  <a:pt x="7187" y="7892"/>
                  <a:pt x="8361" y="6730"/>
                  <a:pt x="9828" y="6730"/>
                </a:cubicBezTo>
                <a:cubicBezTo>
                  <a:pt x="11294" y="6730"/>
                  <a:pt x="12468" y="7892"/>
                  <a:pt x="12468" y="9266"/>
                </a:cubicBezTo>
                <a:close/>
              </a:path>
            </a:pathLst>
          </a:custGeom>
          <a:solidFill>
            <a:schemeClr val="bg1"/>
          </a:solidFill>
          <a:ln cap="flat" cmpd="sng">
            <a:noFill/>
            <a:prstDash val="solid"/>
            <a:round/>
          </a:ln>
        </p:spPr>
      </p:sp>
      <p:pic>
        <p:nvPicPr>
          <p:cNvPr id="222" name="Images"/>
          <p:cNvPicPr>
            <a:picLocks/>
          </p:cNvPicPr>
          <p:nvPr/>
        </p:nvPicPr>
        <p:blipFill>
          <a:blip r:embed="rId3" cstate="print"/>
          <a:stretch>
            <a:fillRect/>
          </a:stretch>
        </p:blipFill>
        <p:spPr>
          <a:xfrm>
            <a:off x="6516182" y="1293791"/>
            <a:ext cx="5439797" cy="4079847"/>
          </a:xfrm>
          <a:prstGeom prst="rect">
            <a:avLst/>
          </a:prstGeom>
          <a:noFill/>
          <a:ln w="12700" cap="flat" cmpd="sng">
            <a:noFill/>
            <a:prstDash val="solid"/>
            <a:miter/>
          </a:ln>
        </p:spPr>
      </p:pic>
      <p:pic>
        <p:nvPicPr>
          <p:cNvPr id="223" name="Images"/>
          <p:cNvPicPr>
            <a:picLocks/>
          </p:cNvPicPr>
          <p:nvPr/>
        </p:nvPicPr>
        <p:blipFill>
          <a:blip r:embed="rId4" cstate="print"/>
          <a:stretch>
            <a:fillRect/>
          </a:stretch>
        </p:blipFill>
        <p:spPr>
          <a:xfrm>
            <a:off x="236021" y="1293791"/>
            <a:ext cx="6117858" cy="4079847"/>
          </a:xfrm>
          <a:prstGeom prst="rect">
            <a:avLst/>
          </a:prstGeom>
          <a:noFill/>
          <a:ln w="12700" cap="flat" cmpd="sng">
            <a:noFill/>
            <a:prstDash val="solid"/>
            <a:miter/>
          </a:ln>
        </p:spPr>
      </p:pic>
      <p:sp>
        <p:nvSpPr>
          <p:cNvPr id="224" name="Rectangles"/>
          <p:cNvSpPr>
            <a:spLocks/>
          </p:cNvSpPr>
          <p:nvPr/>
        </p:nvSpPr>
        <p:spPr>
          <a:xfrm>
            <a:off x="856308" y="5469453"/>
            <a:ext cx="4877285" cy="33855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图</a:t>
            </a:r>
            <a:r>
              <a:rPr lang="en-US" altLang="zh-CN" sz="1600" b="0" i="0" u="none" strike="noStrike" kern="1200" cap="none" spc="0" baseline="0">
                <a:solidFill>
                  <a:srgbClr val="191919"/>
                </a:solidFill>
                <a:latin typeface="等线 Light" pitchFamily="2" charset="-122"/>
                <a:ea typeface="等线 Light" pitchFamily="2" charset="-122"/>
                <a:cs typeface="Microsoft YaHei" charset="0"/>
              </a:rPr>
              <a:t>2      </a:t>
            </a: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紫金山实验室发布</a:t>
            </a:r>
            <a:r>
              <a:rPr lang="en-US" altLang="zh-CN" sz="1600" b="0" i="0" u="none" strike="noStrike" kern="1200" cap="none" spc="0" baseline="0">
                <a:solidFill>
                  <a:srgbClr val="191919"/>
                </a:solidFill>
                <a:latin typeface="等线 Light" pitchFamily="2" charset="-122"/>
                <a:ea typeface="等线 Light" pitchFamily="2" charset="-122"/>
                <a:cs typeface="Microsoft YaHei" charset="0"/>
              </a:rPr>
              <a:t>ESC0830</a:t>
            </a: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内生安全</a:t>
            </a:r>
            <a:r>
              <a:rPr lang="en-US" altLang="zh-CN" sz="1600" b="0" i="0" u="none" strike="noStrike" kern="1200" cap="none" spc="0" baseline="0">
                <a:solidFill>
                  <a:srgbClr val="191919"/>
                </a:solidFill>
                <a:latin typeface="等线 Light" pitchFamily="2" charset="-122"/>
                <a:ea typeface="等线 Light" pitchFamily="2" charset="-122"/>
                <a:cs typeface="Microsoft YaHei" charset="0"/>
              </a:rPr>
              <a:t>MCU</a:t>
            </a: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芯片</a:t>
            </a:r>
            <a:endParaRPr lang="zh-CN" altLang="en-US" sz="1600" b="0" i="0" u="none" strike="noStrike" kern="1200" cap="none" spc="0" baseline="0">
              <a:solidFill>
                <a:schemeClr val="tx1"/>
              </a:solidFill>
              <a:latin typeface="等线 Light" pitchFamily="2" charset="-122"/>
              <a:ea typeface="等线 Light" pitchFamily="2" charset="-122"/>
              <a:cs typeface="Microsoft YaHei" charset="0"/>
            </a:endParaRPr>
          </a:p>
        </p:txBody>
      </p:sp>
      <p:sp>
        <p:nvSpPr>
          <p:cNvPr id="225" name="Rectangles"/>
          <p:cNvSpPr>
            <a:spLocks/>
          </p:cNvSpPr>
          <p:nvPr/>
        </p:nvSpPr>
        <p:spPr>
          <a:xfrm>
            <a:off x="7260985" y="5469453"/>
            <a:ext cx="3996956" cy="338553"/>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图</a:t>
            </a:r>
            <a:r>
              <a:rPr lang="en-US" altLang="zh-CN" sz="1600" b="0" i="0" u="none" strike="noStrike" kern="1200" cap="none" spc="0" baseline="0">
                <a:solidFill>
                  <a:srgbClr val="191919"/>
                </a:solidFill>
                <a:latin typeface="等线 Light" pitchFamily="2" charset="-122"/>
                <a:ea typeface="等线 Light" pitchFamily="2" charset="-122"/>
                <a:cs typeface="Microsoft YaHei" charset="0"/>
              </a:rPr>
              <a:t>3     ESC0830</a:t>
            </a: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内生安全</a:t>
            </a:r>
            <a:r>
              <a:rPr lang="en-US" altLang="zh-CN" sz="1600" b="0" i="0" u="none" strike="noStrike" kern="1200" cap="none" spc="0" baseline="0">
                <a:solidFill>
                  <a:srgbClr val="191919"/>
                </a:solidFill>
                <a:latin typeface="等线 Light" pitchFamily="2" charset="-122"/>
                <a:ea typeface="等线 Light" pitchFamily="2" charset="-122"/>
                <a:cs typeface="Microsoft YaHei" charset="0"/>
              </a:rPr>
              <a:t>MCU</a:t>
            </a:r>
            <a:r>
              <a:rPr lang="zh-CN" altLang="en-US" sz="1600" b="0" i="0" u="none" strike="noStrike" kern="1200" cap="none" spc="0" baseline="0">
                <a:solidFill>
                  <a:srgbClr val="191919"/>
                </a:solidFill>
                <a:latin typeface="等线 Light" pitchFamily="2" charset="-122"/>
                <a:ea typeface="等线 Light" pitchFamily="2" charset="-122"/>
                <a:cs typeface="Microsoft YaHei" charset="0"/>
              </a:rPr>
              <a:t>芯片大小比对</a:t>
            </a:r>
            <a:endParaRPr lang="zh-CN" altLang="en-US" sz="1600" b="0" i="0" u="none" strike="noStrike" kern="1200" cap="none" spc="0" baseline="0">
              <a:solidFill>
                <a:schemeClr val="tx1"/>
              </a:solidFill>
              <a:latin typeface="等线 Light" pitchFamily="2" charset="-122"/>
              <a:ea typeface="等线 Light" pitchFamily="2" charset="-122"/>
              <a:cs typeface="Microsoft YaHei" charset="0"/>
            </a:endParaRPr>
          </a:p>
        </p:txBody>
      </p:sp>
    </p:spTree>
    <p:extLst>
      <p:ext uri="{BB962C8B-B14F-4D97-AF65-F5344CB8AC3E}">
        <p14:creationId xmlns:p14="http://schemas.microsoft.com/office/powerpoint/2010/main" val="1816117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9"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11</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sp>
        <p:nvSpPr>
          <p:cNvPr id="230"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en-US" altLang="zh-CN"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PUF</a:t>
            </a: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的“内生属性”</a:t>
            </a:r>
          </a:p>
        </p:txBody>
      </p:sp>
      <p:sp>
        <p:nvSpPr>
          <p:cNvPr id="231" name="Rectangles"/>
          <p:cNvSpPr>
            <a:spLocks/>
          </p:cNvSpPr>
          <p:nvPr/>
        </p:nvSpPr>
        <p:spPr>
          <a:xfrm>
            <a:off x="430729" y="1609180"/>
            <a:ext cx="6682339" cy="461664"/>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Microsoft YaHei" charset="0"/>
                <a:ea typeface="Microsoft YaHei" charset="0"/>
                <a:cs typeface="Microsoft YaHei" charset="0"/>
              </a:rPr>
              <a:t>PUF与内生安全在理念上具有很高的契合程度</a:t>
            </a:r>
            <a:endParaRPr lang="zh-CN" altLang="en-US" sz="2400" b="0" i="0" u="none" strike="noStrike" kern="1200" cap="none" spc="0" baseline="0">
              <a:solidFill>
                <a:schemeClr val="tx1"/>
              </a:solidFill>
              <a:latin typeface="Microsoft YaHei" charset="0"/>
              <a:ea typeface="Microsoft YaHei" charset="0"/>
              <a:cs typeface="Microsoft YaHei" charset="0"/>
            </a:endParaRPr>
          </a:p>
        </p:txBody>
      </p:sp>
      <p:sp>
        <p:nvSpPr>
          <p:cNvPr id="232" name="Rectangles"/>
          <p:cNvSpPr>
            <a:spLocks/>
          </p:cNvSpPr>
          <p:nvPr/>
        </p:nvSpPr>
        <p:spPr>
          <a:xfrm>
            <a:off x="1258077" y="4382233"/>
            <a:ext cx="9804534" cy="400109"/>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accent5"/>
                </a:solidFill>
                <a:latin typeface="Microsoft YaHei" charset="0"/>
                <a:ea typeface="Microsoft YaHei" charset="0"/>
                <a:cs typeface="Microsoft YaHei" charset="0"/>
              </a:rPr>
              <a:t>如果把内生安全看作一套宏观的系统安全论，那么PUF就是芯片级别的具体实现路径</a:t>
            </a:r>
          </a:p>
        </p:txBody>
      </p:sp>
      <p:sp>
        <p:nvSpPr>
          <p:cNvPr id="233" name="Rectangles"/>
          <p:cNvSpPr>
            <a:spLocks/>
          </p:cNvSpPr>
          <p:nvPr/>
        </p:nvSpPr>
        <p:spPr>
          <a:xfrm>
            <a:off x="401620" y="3198167"/>
            <a:ext cx="5758724" cy="4616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en-US" altLang="zh-CN" sz="2400" b="0" i="0" u="none" strike="noStrike" kern="1200" cap="none" spc="0" baseline="0">
                <a:solidFill>
                  <a:schemeClr val="tx1"/>
                </a:solidFill>
                <a:latin typeface="Microsoft YaHei" charset="0"/>
                <a:ea typeface="Microsoft YaHei" charset="0"/>
                <a:cs typeface="Microsoft YaHei" charset="0"/>
              </a:rPr>
              <a:t>PUF所呈现的“物理结构不可复制”理念</a:t>
            </a:r>
            <a:endParaRPr lang="zh-CN" altLang="en-US" sz="2400" b="0" i="0" u="none" strike="noStrike" kern="1200" cap="none" spc="0" baseline="0">
              <a:solidFill>
                <a:schemeClr val="tx1"/>
              </a:solidFill>
              <a:latin typeface="Microsoft YaHei" charset="0"/>
              <a:ea typeface="Microsoft YaHei" charset="0"/>
              <a:cs typeface="Microsoft YaHei" charset="0"/>
            </a:endParaRPr>
          </a:p>
        </p:txBody>
      </p:sp>
      <p:sp>
        <p:nvSpPr>
          <p:cNvPr id="234" name="Rectangles"/>
          <p:cNvSpPr>
            <a:spLocks/>
          </p:cNvSpPr>
          <p:nvPr/>
        </p:nvSpPr>
        <p:spPr>
          <a:xfrm>
            <a:off x="6922348" y="3198167"/>
            <a:ext cx="5025631" cy="461665"/>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400" b="0" i="0" u="none" strike="noStrike" kern="1200" cap="none" spc="0" baseline="0">
                <a:solidFill>
                  <a:schemeClr val="tx1"/>
                </a:solidFill>
                <a:latin typeface="Microsoft YaHei" charset="0"/>
                <a:ea typeface="Microsoft YaHei" charset="0"/>
                <a:cs typeface="Microsoft YaHei" charset="0"/>
              </a:rPr>
              <a:t>内生安全所追求的“结构决定安全”</a:t>
            </a:r>
          </a:p>
        </p:txBody>
      </p:sp>
      <p:sp>
        <p:nvSpPr>
          <p:cNvPr id="235" name="流程图: 过程"/>
          <p:cNvSpPr>
            <a:spLocks/>
          </p:cNvSpPr>
          <p:nvPr/>
        </p:nvSpPr>
        <p:spPr>
          <a:xfrm>
            <a:off x="330838" y="2993456"/>
            <a:ext cx="5900286" cy="866274"/>
          </a:xfrm>
          <a:prstGeom prst="flowChartProcess">
            <a:avLst/>
          </a:prstGeom>
          <a:noFill/>
          <a:ln w="38100" cap="flat" cmpd="sng">
            <a:solidFill>
              <a:srgbClr val="505122"/>
            </a:solidFill>
            <a:prstDash val="solid"/>
            <a:round/>
          </a:ln>
        </p:spPr>
      </p:sp>
      <p:sp>
        <p:nvSpPr>
          <p:cNvPr id="236" name="流程图: 过程"/>
          <p:cNvSpPr>
            <a:spLocks/>
          </p:cNvSpPr>
          <p:nvPr/>
        </p:nvSpPr>
        <p:spPr>
          <a:xfrm>
            <a:off x="6779021" y="2993456"/>
            <a:ext cx="5168959" cy="866274"/>
          </a:xfrm>
          <a:prstGeom prst="flowChartProcess">
            <a:avLst/>
          </a:prstGeom>
          <a:noFill/>
          <a:ln w="38100" cap="flat" cmpd="sng">
            <a:solidFill>
              <a:srgbClr val="505122"/>
            </a:solidFill>
            <a:prstDash val="solid"/>
            <a:round/>
          </a:ln>
        </p:spPr>
      </p:sp>
    </p:spTree>
    <p:extLst>
      <p:ext uri="{BB962C8B-B14F-4D97-AF65-F5344CB8AC3E}">
        <p14:creationId xmlns:p14="http://schemas.microsoft.com/office/powerpoint/2010/main" val="1879060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1" name="Rounded rectangle"/>
          <p:cNvSpPr>
            <a:spLocks/>
          </p:cNvSpPr>
          <p:nvPr/>
        </p:nvSpPr>
        <p:spPr>
          <a:xfrm>
            <a:off x="934391" y="1390817"/>
            <a:ext cx="3403096" cy="4463999"/>
          </a:xfrm>
          <a:prstGeom prst="roundRect">
            <a:avLst>
              <a:gd name="adj" fmla="val 2111"/>
            </a:avLst>
          </a:prstGeom>
          <a:solidFill>
            <a:schemeClr val="bg1"/>
          </a:solidFill>
          <a:ln w="6350" cap="flat" cmpd="sng">
            <a:solidFill>
              <a:srgbClr val="505122"/>
            </a:solidFill>
            <a:prstDash val="solid"/>
            <a:round/>
          </a:ln>
          <a:effectLst>
            <a:outerShdw blurRad="127000" algn="ctr" rotWithShape="0">
              <a:srgbClr val="000000">
                <a:alpha val="19607"/>
              </a:srgbClr>
            </a:outerShdw>
          </a:effectLst>
        </p:spPr>
      </p:sp>
      <p:sp>
        <p:nvSpPr>
          <p:cNvPr id="242" name="Rounded rectangle"/>
          <p:cNvSpPr>
            <a:spLocks/>
          </p:cNvSpPr>
          <p:nvPr/>
        </p:nvSpPr>
        <p:spPr>
          <a:xfrm>
            <a:off x="948165" y="1402365"/>
            <a:ext cx="3383999" cy="1082851"/>
          </a:xfrm>
          <a:prstGeom prst="roundRect">
            <a:avLst>
              <a:gd name="adj" fmla="val 5870"/>
            </a:avLst>
          </a:prstGeom>
          <a:solidFill>
            <a:srgbClr val="F2F2F2"/>
          </a:solidFill>
          <a:ln w="6350" cap="flat" cmpd="sng">
            <a:noFill/>
            <a:prstDash val="solid"/>
            <a:round/>
          </a:ln>
          <a:effectLst>
            <a:outerShdw blurRad="127000" algn="ctr" rotWithShape="0">
              <a:srgbClr val="000000">
                <a:alpha val="19607"/>
              </a:srgbClr>
            </a:outerShdw>
          </a:effectLst>
        </p:spPr>
      </p:sp>
      <p:sp>
        <p:nvSpPr>
          <p:cNvPr id="243" name="Rounded rectangle"/>
          <p:cNvSpPr>
            <a:spLocks/>
          </p:cNvSpPr>
          <p:nvPr/>
        </p:nvSpPr>
        <p:spPr>
          <a:xfrm>
            <a:off x="7855640" y="1390817"/>
            <a:ext cx="3403094" cy="4463999"/>
          </a:xfrm>
          <a:prstGeom prst="roundRect">
            <a:avLst>
              <a:gd name="adj" fmla="val 2037"/>
            </a:avLst>
          </a:prstGeom>
          <a:solidFill>
            <a:schemeClr val="bg1"/>
          </a:solidFill>
          <a:ln w="6350" cap="flat" cmpd="sng">
            <a:solidFill>
              <a:srgbClr val="EAB908"/>
            </a:solidFill>
            <a:prstDash val="solid"/>
            <a:round/>
          </a:ln>
          <a:effectLst>
            <a:outerShdw blurRad="127000" algn="ctr" rotWithShape="0">
              <a:srgbClr val="000000">
                <a:alpha val="19607"/>
              </a:srgbClr>
            </a:outerShdw>
          </a:effectLst>
        </p:spPr>
      </p:sp>
      <p:sp>
        <p:nvSpPr>
          <p:cNvPr id="244"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en-US" altLang="zh-CN"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PUF</a:t>
            </a: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与内生安全的双向协同可能性</a:t>
            </a:r>
          </a:p>
        </p:txBody>
      </p:sp>
      <p:sp>
        <p:nvSpPr>
          <p:cNvPr id="245"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12</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sp>
        <p:nvSpPr>
          <p:cNvPr id="246" name="Rectangles"/>
          <p:cNvSpPr>
            <a:spLocks/>
          </p:cNvSpPr>
          <p:nvPr/>
        </p:nvSpPr>
        <p:spPr>
          <a:xfrm>
            <a:off x="7993409" y="2573343"/>
            <a:ext cx="3107335" cy="3367722"/>
          </a:xfrm>
          <a:prstGeom prst="rect">
            <a:avLst/>
          </a:prstGeom>
          <a:noFill/>
          <a:ln w="12700" cap="flat" cmpd="sng">
            <a:noFill/>
            <a:prstDash val="solid"/>
            <a:round/>
          </a:ln>
        </p:spPr>
        <p:txBody>
          <a:bodyPr vert="horz" wrap="square" lIns="0" tIns="45720" rIns="0" bIns="45720" anchor="t" anchorCtr="0">
            <a:prstTxWarp prst="textNoShape">
              <a:avLst/>
            </a:prstTxWarp>
          </a:bodyPr>
          <a:lstStyle/>
          <a:p>
            <a:pPr marL="0" indent="0" algn="l" defTabSz="913638" eaLnBrk="0" latinLnBrk="0" hangingPunct="0">
              <a:lnSpc>
                <a:spcPct val="140000"/>
              </a:lnSpc>
              <a:spcBef>
                <a:spcPts val="0"/>
              </a:spcBef>
              <a:spcAft>
                <a:spcPts val="0"/>
              </a:spcAft>
              <a:buNone/>
            </a:pPr>
            <a:r>
              <a:rPr lang="zh-CN" altLang="en-US" sz="1800" b="0" i="0" u="none" strike="noStrike" kern="1200" cap="none" spc="0" baseline="0">
                <a:solidFill>
                  <a:schemeClr val="tx1"/>
                </a:solidFill>
                <a:latin typeface="Microsoft YaHei" charset="0"/>
                <a:ea typeface="Microsoft YaHei" charset="0"/>
                <a:cs typeface="Microsoft YaHei" charset="0"/>
              </a:rPr>
              <a:t>多PUF组合：DHR架构中多个异构PUF的组合使用，迫使攻击者对多个不同结构同时建模，显著增加攻击成本。</a:t>
            </a:r>
            <a:endParaRPr lang="en-US" altLang="zh-CN" sz="1800" b="0" i="0" u="none" strike="noStrike" kern="1200" cap="none" spc="0" baseline="0">
              <a:solidFill>
                <a:schemeClr val="tx1"/>
              </a:solidFill>
              <a:latin typeface="Microsoft YaHei" charset="0"/>
              <a:ea typeface="Microsoft YaHei" charset="0"/>
              <a:cs typeface="Microsoft YaHei" charset="0"/>
            </a:endParaRPr>
          </a:p>
          <a:p>
            <a:pPr marL="0" indent="0" algn="l" defTabSz="913638" eaLnBrk="0" latinLnBrk="0" hangingPunct="0">
              <a:lnSpc>
                <a:spcPct val="140000"/>
              </a:lnSpc>
              <a:spcBef>
                <a:spcPts val="0"/>
              </a:spcBef>
              <a:spcAft>
                <a:spcPts val="0"/>
              </a:spcAft>
              <a:buNone/>
            </a:pPr>
            <a:r>
              <a:rPr lang="zh-CN" altLang="en-US" sz="1800" b="0" i="0" u="none" strike="noStrike" kern="1200" cap="none" spc="0" baseline="0">
                <a:solidFill>
                  <a:schemeClr val="tx1"/>
                </a:solidFill>
                <a:latin typeface="Microsoft YaHei" charset="0"/>
                <a:ea typeface="Microsoft YaHei" charset="0"/>
                <a:cs typeface="Microsoft YaHei" charset="0"/>
              </a:rPr>
              <a:t>异常隔离：裁决器的多数投票机制能够容忍并隔离因故障注入或环境扰动导致的异常PUF响应。</a:t>
            </a:r>
            <a:endParaRPr lang="en-US" altLang="zh-CN" sz="1800" b="0" i="0" u="none" strike="noStrike" kern="1200" cap="none" spc="0" baseline="0">
              <a:solidFill>
                <a:schemeClr val="tx1"/>
              </a:solidFill>
              <a:latin typeface="Microsoft YaHei" charset="0"/>
              <a:ea typeface="Microsoft YaHei" charset="0"/>
              <a:cs typeface="Microsoft YaHei" charset="0"/>
            </a:endParaRPr>
          </a:p>
          <a:p>
            <a:pPr marL="171450" indent="-171450" algn="l" defTabSz="913638" eaLnBrk="0" latinLnBrk="0" hangingPunct="0">
              <a:lnSpc>
                <a:spcPct val="119000"/>
              </a:lnSpc>
              <a:spcBef>
                <a:spcPct val="0"/>
              </a:spcBef>
              <a:spcAft>
                <a:spcPct val="0"/>
              </a:spcAft>
              <a:buFont typeface="Arial" pitchFamily="34" charset="0"/>
              <a:buChar char="•"/>
            </a:pPr>
            <a:endParaRPr lang="zh-CN" altLang="en-US" sz="1800" b="0" i="0" u="none" strike="noStrike" kern="1200" cap="none" spc="0" baseline="0">
              <a:solidFill>
                <a:srgbClr val="000000"/>
              </a:solidFill>
              <a:latin typeface="Microsoft YaHei" charset="0"/>
              <a:ea typeface="Microsoft YaHei" charset="0"/>
              <a:cs typeface="Microsoft YaHei" charset="0"/>
              <a:sym typeface="Microsoft YaHei" charset="0"/>
            </a:endParaRPr>
          </a:p>
        </p:txBody>
      </p:sp>
      <p:grpSp>
        <p:nvGrpSpPr>
          <p:cNvPr id="254" name="Combination"/>
          <p:cNvGrpSpPr>
            <a:grpSpLocks/>
          </p:cNvGrpSpPr>
          <p:nvPr/>
        </p:nvGrpSpPr>
        <p:grpSpPr>
          <a:xfrm>
            <a:off x="4669476" y="2199494"/>
            <a:ext cx="2853046" cy="4036205"/>
            <a:chOff x="4669476" y="2199494"/>
            <a:chExt cx="2853046" cy="4036205"/>
          </a:xfrm>
        </p:grpSpPr>
        <p:sp>
          <p:nvSpPr>
            <p:cNvPr id="247" name="Rounded rectangle"/>
            <p:cNvSpPr>
              <a:spLocks/>
            </p:cNvSpPr>
            <p:nvPr/>
          </p:nvSpPr>
          <p:spPr>
            <a:xfrm>
              <a:off x="5899930" y="2199494"/>
              <a:ext cx="421119" cy="4036205"/>
            </a:xfrm>
            <a:prstGeom prst="roundRect">
              <a:avLst>
                <a:gd name="adj" fmla="val 13800"/>
              </a:avLst>
            </a:prstGeom>
            <a:solidFill>
              <a:srgbClr val="A6A6A6"/>
            </a:solidFill>
            <a:ln w="12700" cap="flat" cmpd="sng">
              <a:noFill/>
              <a:prstDash val="solid"/>
              <a:round/>
            </a:ln>
          </p:spPr>
        </p:sp>
        <p:grpSp>
          <p:nvGrpSpPr>
            <p:cNvPr id="250" name="Combination"/>
            <p:cNvGrpSpPr>
              <a:grpSpLocks/>
            </p:cNvGrpSpPr>
            <p:nvPr/>
          </p:nvGrpSpPr>
          <p:grpSpPr>
            <a:xfrm>
              <a:off x="5032387" y="3869332"/>
              <a:ext cx="2490135" cy="963498"/>
              <a:chOff x="5032387" y="3869332"/>
              <a:chExt cx="2490135" cy="963498"/>
            </a:xfrm>
          </p:grpSpPr>
          <p:sp>
            <p:nvSpPr>
              <p:cNvPr id="248" name="曲线"/>
              <p:cNvSpPr>
                <a:spLocks/>
              </p:cNvSpPr>
              <p:nvPr/>
            </p:nvSpPr>
            <p:spPr>
              <a:xfrm>
                <a:off x="5032387" y="3869332"/>
                <a:ext cx="2490135" cy="963498"/>
              </a:xfrm>
              <a:custGeom>
                <a:avLst/>
                <a:gdLst>
                  <a:gd name="T1" fmla="*/ 0 w 21600"/>
                  <a:gd name="T2" fmla="*/ 0 h 21600"/>
                  <a:gd name="T3" fmla="*/ 21600 w 21600"/>
                  <a:gd name="T4" fmla="*/ 21600 h 21600"/>
                </a:gdLst>
                <a:ahLst/>
                <a:cxnLst/>
                <a:rect l="T1" t="T2" r="T3" b="T4"/>
                <a:pathLst>
                  <a:path w="21600" h="21600">
                    <a:moveTo>
                      <a:pt x="251" y="0"/>
                    </a:moveTo>
                    <a:lnTo>
                      <a:pt x="8370" y="0"/>
                    </a:lnTo>
                    <a:lnTo>
                      <a:pt x="9099" y="0"/>
                    </a:lnTo>
                    <a:lnTo>
                      <a:pt x="18081" y="0"/>
                    </a:lnTo>
                    <a:lnTo>
                      <a:pt x="21600" y="10800"/>
                    </a:lnTo>
                    <a:lnTo>
                      <a:pt x="18081" y="21600"/>
                    </a:lnTo>
                    <a:lnTo>
                      <a:pt x="9099" y="21600"/>
                    </a:lnTo>
                    <a:lnTo>
                      <a:pt x="8370" y="21600"/>
                    </a:lnTo>
                    <a:lnTo>
                      <a:pt x="251" y="21600"/>
                    </a:lnTo>
                    <a:cubicBezTo>
                      <a:pt x="111" y="21600"/>
                      <a:pt x="0" y="21310"/>
                      <a:pt x="0" y="20955"/>
                    </a:cubicBezTo>
                    <a:lnTo>
                      <a:pt x="0" y="644"/>
                    </a:lnTo>
                    <a:cubicBezTo>
                      <a:pt x="0" y="288"/>
                      <a:pt x="111" y="0"/>
                      <a:pt x="251" y="0"/>
                    </a:cubicBezTo>
                    <a:close/>
                  </a:path>
                </a:pathLst>
              </a:custGeom>
              <a:solidFill>
                <a:srgbClr val="EAB908"/>
              </a:solidFill>
              <a:ln w="12700" cap="flat" cmpd="sng">
                <a:noFill/>
                <a:prstDash val="solid"/>
                <a:round/>
              </a:ln>
            </p:spPr>
          </p:sp>
          <p:sp>
            <p:nvSpPr>
              <p:cNvPr id="249" name="曲线"/>
              <p:cNvSpPr>
                <a:spLocks/>
              </p:cNvSpPr>
              <p:nvPr/>
            </p:nvSpPr>
            <p:spPr>
              <a:xfrm>
                <a:off x="6522842" y="4175392"/>
                <a:ext cx="349129" cy="351379"/>
              </a:xfrm>
              <a:custGeom>
                <a:avLst/>
                <a:gdLst>
                  <a:gd name="T1" fmla="*/ 0 w 21600"/>
                  <a:gd name="T2" fmla="*/ 0 h 21600"/>
                  <a:gd name="T3" fmla="*/ 21600 w 21600"/>
                  <a:gd name="T4" fmla="*/ 21600 h 21600"/>
                </a:gdLst>
                <a:ahLst/>
                <a:cxnLst/>
                <a:rect l="T1" t="T2" r="T3" b="T4"/>
                <a:pathLst>
                  <a:path w="21600" h="21600">
                    <a:moveTo>
                      <a:pt x="14" y="18527"/>
                    </a:moveTo>
                    <a:lnTo>
                      <a:pt x="21600" y="18527"/>
                    </a:lnTo>
                    <a:lnTo>
                      <a:pt x="21600" y="21600"/>
                    </a:lnTo>
                    <a:lnTo>
                      <a:pt x="14" y="21600"/>
                    </a:lnTo>
                  </a:path>
                  <a:path w="21600" h="21600">
                    <a:moveTo>
                      <a:pt x="14" y="12382"/>
                    </a:moveTo>
                    <a:lnTo>
                      <a:pt x="21600" y="12382"/>
                    </a:lnTo>
                    <a:lnTo>
                      <a:pt x="21600" y="15455"/>
                    </a:lnTo>
                    <a:lnTo>
                      <a:pt x="14" y="15455"/>
                    </a:lnTo>
                  </a:path>
                  <a:path w="21600" h="21600">
                    <a:moveTo>
                      <a:pt x="10808" y="6144"/>
                    </a:moveTo>
                    <a:lnTo>
                      <a:pt x="21600" y="6144"/>
                    </a:lnTo>
                    <a:lnTo>
                      <a:pt x="21600" y="9217"/>
                    </a:lnTo>
                    <a:lnTo>
                      <a:pt x="10808" y="9217"/>
                    </a:lnTo>
                  </a:path>
                  <a:path w="21600" h="21600">
                    <a:moveTo>
                      <a:pt x="4116" y="2513"/>
                    </a:moveTo>
                    <a:lnTo>
                      <a:pt x="3157" y="5866"/>
                    </a:lnTo>
                    <a:lnTo>
                      <a:pt x="5119" y="5866"/>
                    </a:lnTo>
                    <a:lnTo>
                      <a:pt x="4154" y="2513"/>
                    </a:lnTo>
                  </a:path>
                  <a:path w="21600" h="21600">
                    <a:moveTo>
                      <a:pt x="2984" y="91"/>
                    </a:moveTo>
                    <a:lnTo>
                      <a:pt x="5291" y="91"/>
                    </a:lnTo>
                    <a:lnTo>
                      <a:pt x="8283" y="9312"/>
                    </a:lnTo>
                    <a:lnTo>
                      <a:pt x="6123" y="9312"/>
                    </a:lnTo>
                    <a:lnTo>
                      <a:pt x="5596" y="7449"/>
                    </a:lnTo>
                    <a:lnTo>
                      <a:pt x="2678" y="7449"/>
                    </a:lnTo>
                    <a:lnTo>
                      <a:pt x="2159" y="9312"/>
                    </a:lnTo>
                    <a:lnTo>
                      <a:pt x="0" y="9312"/>
                    </a:lnTo>
                  </a:path>
                  <a:path w="21600" h="21600">
                    <a:moveTo>
                      <a:pt x="10808" y="0"/>
                    </a:moveTo>
                    <a:lnTo>
                      <a:pt x="21600" y="0"/>
                    </a:lnTo>
                    <a:lnTo>
                      <a:pt x="21600" y="3072"/>
                    </a:lnTo>
                    <a:lnTo>
                      <a:pt x="10808" y="3072"/>
                    </a:lnTo>
                    <a:close/>
                  </a:path>
                </a:pathLst>
              </a:custGeom>
              <a:solidFill>
                <a:schemeClr val="bg1"/>
              </a:solidFill>
              <a:ln cap="flat" cmpd="sng">
                <a:noFill/>
                <a:prstDash val="solid"/>
                <a:round/>
              </a:ln>
            </p:spPr>
          </p:sp>
        </p:grpSp>
        <p:grpSp>
          <p:nvGrpSpPr>
            <p:cNvPr id="253" name="Combination"/>
            <p:cNvGrpSpPr>
              <a:grpSpLocks/>
            </p:cNvGrpSpPr>
            <p:nvPr/>
          </p:nvGrpSpPr>
          <p:grpSpPr>
            <a:xfrm>
              <a:off x="4669476" y="2573343"/>
              <a:ext cx="2490137" cy="963498"/>
              <a:chOff x="4669476" y="2573343"/>
              <a:chExt cx="2490137" cy="963498"/>
            </a:xfrm>
          </p:grpSpPr>
          <p:sp>
            <p:nvSpPr>
              <p:cNvPr id="251" name="曲线"/>
              <p:cNvSpPr>
                <a:spLocks/>
              </p:cNvSpPr>
              <p:nvPr/>
            </p:nvSpPr>
            <p:spPr>
              <a:xfrm>
                <a:off x="4669476" y="2573343"/>
                <a:ext cx="2490137" cy="963498"/>
              </a:xfrm>
              <a:custGeom>
                <a:avLst/>
                <a:gdLst>
                  <a:gd name="T1" fmla="*/ 0 w 21600"/>
                  <a:gd name="T2" fmla="*/ 0 h 21600"/>
                  <a:gd name="T3" fmla="*/ 21600 w 21600"/>
                  <a:gd name="T4" fmla="*/ 21600 h 21600"/>
                </a:gdLst>
                <a:ahLst/>
                <a:cxnLst/>
                <a:rect l="T1" t="T2" r="T3" b="T4"/>
                <a:pathLst>
                  <a:path w="21600" h="21600">
                    <a:moveTo>
                      <a:pt x="251" y="0"/>
                    </a:moveTo>
                    <a:lnTo>
                      <a:pt x="8371" y="0"/>
                    </a:lnTo>
                    <a:lnTo>
                      <a:pt x="9099" y="0"/>
                    </a:lnTo>
                    <a:lnTo>
                      <a:pt x="18081" y="0"/>
                    </a:lnTo>
                    <a:lnTo>
                      <a:pt x="21600" y="10800"/>
                    </a:lnTo>
                    <a:lnTo>
                      <a:pt x="18081" y="21600"/>
                    </a:lnTo>
                    <a:lnTo>
                      <a:pt x="9099" y="21600"/>
                    </a:lnTo>
                    <a:lnTo>
                      <a:pt x="8371" y="21600"/>
                    </a:lnTo>
                    <a:lnTo>
                      <a:pt x="251" y="21600"/>
                    </a:lnTo>
                    <a:cubicBezTo>
                      <a:pt x="112" y="21600"/>
                      <a:pt x="0" y="21311"/>
                      <a:pt x="0" y="20954"/>
                    </a:cubicBezTo>
                    <a:lnTo>
                      <a:pt x="0" y="644"/>
                    </a:lnTo>
                    <a:cubicBezTo>
                      <a:pt x="0" y="288"/>
                      <a:pt x="112" y="0"/>
                      <a:pt x="251" y="0"/>
                    </a:cubicBezTo>
                    <a:close/>
                  </a:path>
                </a:pathLst>
              </a:custGeom>
              <a:solidFill>
                <a:schemeClr val="accent1"/>
              </a:solidFill>
              <a:ln w="12700" cap="flat" cmpd="sng">
                <a:noFill/>
                <a:prstDash val="solid"/>
                <a:round/>
              </a:ln>
            </p:spPr>
          </p:sp>
          <p:sp>
            <p:nvSpPr>
              <p:cNvPr id="252" name="曲线"/>
              <p:cNvSpPr>
                <a:spLocks/>
              </p:cNvSpPr>
              <p:nvPr/>
            </p:nvSpPr>
            <p:spPr>
              <a:xfrm>
                <a:off x="5344911" y="2879402"/>
                <a:ext cx="350308" cy="351379"/>
              </a:xfrm>
              <a:custGeom>
                <a:avLst/>
                <a:gdLst>
                  <a:gd name="T1" fmla="*/ 0 w 21600"/>
                  <a:gd name="T2" fmla="*/ 0 h 21600"/>
                  <a:gd name="T3" fmla="*/ 21600 w 21600"/>
                  <a:gd name="T4" fmla="*/ 21600 h 21600"/>
                </a:gdLst>
                <a:ahLst/>
                <a:cxnLst/>
                <a:rect l="T1" t="T2" r="T3" b="T4"/>
                <a:pathLst>
                  <a:path w="21600" h="21600">
                    <a:moveTo>
                      <a:pt x="0" y="18512"/>
                    </a:moveTo>
                    <a:lnTo>
                      <a:pt x="21600" y="18512"/>
                    </a:lnTo>
                    <a:lnTo>
                      <a:pt x="21600" y="21600"/>
                    </a:lnTo>
                    <a:lnTo>
                      <a:pt x="0" y="21600"/>
                    </a:lnTo>
                  </a:path>
                  <a:path w="21600" h="21600">
                    <a:moveTo>
                      <a:pt x="91" y="12433"/>
                    </a:moveTo>
                    <a:lnTo>
                      <a:pt x="12399" y="12433"/>
                    </a:lnTo>
                    <a:lnTo>
                      <a:pt x="12399" y="15519"/>
                    </a:lnTo>
                    <a:lnTo>
                      <a:pt x="91" y="15519"/>
                    </a:lnTo>
                  </a:path>
                  <a:path w="21600" h="21600">
                    <a:moveTo>
                      <a:pt x="18500" y="7762"/>
                    </a:moveTo>
                    <a:lnTo>
                      <a:pt x="18500" y="9256"/>
                    </a:lnTo>
                    <a:lnTo>
                      <a:pt x="21600" y="9256"/>
                    </a:lnTo>
                    <a:lnTo>
                      <a:pt x="21600" y="12340"/>
                    </a:lnTo>
                    <a:lnTo>
                      <a:pt x="18500" y="12340"/>
                    </a:lnTo>
                    <a:lnTo>
                      <a:pt x="18500" y="13932"/>
                    </a:lnTo>
                    <a:lnTo>
                      <a:pt x="13899" y="10847"/>
                    </a:lnTo>
                  </a:path>
                  <a:path w="21600" h="21600">
                    <a:moveTo>
                      <a:pt x="91" y="6171"/>
                    </a:moveTo>
                    <a:lnTo>
                      <a:pt x="12399" y="6171"/>
                    </a:lnTo>
                    <a:lnTo>
                      <a:pt x="12399" y="9257"/>
                    </a:lnTo>
                    <a:lnTo>
                      <a:pt x="91" y="9257"/>
                    </a:lnTo>
                  </a:path>
                  <a:path w="21600" h="21600">
                    <a:moveTo>
                      <a:pt x="0" y="0"/>
                    </a:moveTo>
                    <a:lnTo>
                      <a:pt x="21600" y="0"/>
                    </a:lnTo>
                    <a:lnTo>
                      <a:pt x="21600" y="3086"/>
                    </a:lnTo>
                    <a:lnTo>
                      <a:pt x="0" y="3086"/>
                    </a:lnTo>
                    <a:close/>
                  </a:path>
                </a:pathLst>
              </a:custGeom>
              <a:solidFill>
                <a:schemeClr val="bg1"/>
              </a:solidFill>
              <a:ln cap="flat" cmpd="sng">
                <a:noFill/>
                <a:prstDash val="solid"/>
                <a:round/>
              </a:ln>
            </p:spPr>
          </p:sp>
        </p:grpSp>
      </p:grpSp>
      <p:sp>
        <p:nvSpPr>
          <p:cNvPr id="255" name="Rectangles"/>
          <p:cNvSpPr>
            <a:spLocks/>
          </p:cNvSpPr>
          <p:nvPr/>
        </p:nvSpPr>
        <p:spPr>
          <a:xfrm>
            <a:off x="732598" y="1439866"/>
            <a:ext cx="3800900" cy="930271"/>
          </a:xfrm>
          <a:prstGeom prst="rect">
            <a:avLst/>
          </a:prstGeom>
          <a:noFill/>
          <a:ln w="12700" cap="flat" cmpd="sng">
            <a:noFill/>
            <a:prstDash val="solid"/>
            <a:round/>
          </a:ln>
        </p:spPr>
        <p:txBody>
          <a:bodyPr vert="horz" wrap="square" lIns="91440" tIns="45720" rIns="91440" bIns="45720" anchor="ctr" anchorCtr="0">
            <a:prstTxWarp prst="textNoShape">
              <a:avLst/>
            </a:prstTxWarp>
          </a:bodyPr>
          <a:lstStyle/>
          <a:p>
            <a:pPr marL="0" indent="0" algn="ctr" defTabSz="913638" eaLnBrk="0" fontAlgn="auto" latinLnBrk="0" hangingPunct="0">
              <a:lnSpc>
                <a:spcPct val="129000"/>
              </a:lnSpc>
              <a:spcBef>
                <a:spcPct val="0"/>
              </a:spcBef>
              <a:spcAft>
                <a:spcPts val="0"/>
              </a:spcAft>
              <a:buNone/>
            </a:pPr>
            <a:r>
              <a:rPr lang="en-US" altLang="zh-CN" sz="3200" b="0" i="0" u="none" strike="noStrike" kern="1200" cap="none" spc="0" baseline="0">
                <a:solidFill>
                  <a:schemeClr val="accent1"/>
                </a:solidFill>
                <a:latin typeface="Microsoft YaHei" charset="0"/>
                <a:ea typeface="Microsoft YaHei" charset="0"/>
                <a:cs typeface="Microsoft YaHei" charset="0"/>
                <a:sym typeface="Microsoft YaHei" charset="0"/>
              </a:rPr>
              <a:t>PUF</a:t>
            </a:r>
            <a:endParaRPr lang="zh-CN" altLang="en-US" sz="3200" b="0" i="0" u="none" strike="noStrike" kern="1200" cap="none" spc="0" baseline="0">
              <a:solidFill>
                <a:schemeClr val="accent1"/>
              </a:solidFill>
              <a:latin typeface="Microsoft YaHei" charset="0"/>
              <a:ea typeface="Microsoft YaHei" charset="0"/>
              <a:cs typeface="Microsoft YaHei" charset="0"/>
              <a:sym typeface="Microsoft YaHei" charset="0"/>
            </a:endParaRPr>
          </a:p>
        </p:txBody>
      </p:sp>
      <p:sp>
        <p:nvSpPr>
          <p:cNvPr id="256" name="Rounded rectangle"/>
          <p:cNvSpPr>
            <a:spLocks/>
          </p:cNvSpPr>
          <p:nvPr/>
        </p:nvSpPr>
        <p:spPr>
          <a:xfrm>
            <a:off x="7874813" y="1402365"/>
            <a:ext cx="3384000" cy="1082851"/>
          </a:xfrm>
          <a:prstGeom prst="roundRect">
            <a:avLst>
              <a:gd name="adj" fmla="val 5870"/>
            </a:avLst>
          </a:prstGeom>
          <a:solidFill>
            <a:srgbClr val="F2F2F2"/>
          </a:solidFill>
          <a:ln w="6350" cap="flat" cmpd="sng">
            <a:noFill/>
            <a:prstDash val="solid"/>
            <a:round/>
          </a:ln>
          <a:effectLst>
            <a:outerShdw blurRad="127000" algn="ctr" rotWithShape="0">
              <a:srgbClr val="000000">
                <a:alpha val="19607"/>
              </a:srgbClr>
            </a:outerShdw>
          </a:effectLst>
        </p:spPr>
      </p:sp>
      <p:sp>
        <p:nvSpPr>
          <p:cNvPr id="257" name="Rectangles"/>
          <p:cNvSpPr>
            <a:spLocks/>
          </p:cNvSpPr>
          <p:nvPr/>
        </p:nvSpPr>
        <p:spPr>
          <a:xfrm>
            <a:off x="8168966" y="1439866"/>
            <a:ext cx="2776444" cy="930271"/>
          </a:xfrm>
          <a:prstGeom prst="rect">
            <a:avLst/>
          </a:prstGeom>
          <a:noFill/>
          <a:ln w="12700" cap="flat" cmpd="sng">
            <a:noFill/>
            <a:prstDash val="solid"/>
            <a:round/>
          </a:ln>
        </p:spPr>
        <p:txBody>
          <a:bodyPr vert="horz" wrap="square" lIns="91440" tIns="45720" rIns="91440" bIns="45720" anchor="ctr" anchorCtr="0">
            <a:prstTxWarp prst="textNoShape">
              <a:avLst/>
            </a:prstTxWarp>
          </a:bodyPr>
          <a:lstStyle/>
          <a:p>
            <a:pPr marL="0" indent="0" algn="ctr" defTabSz="913638" eaLnBrk="0" fontAlgn="auto" latinLnBrk="0" hangingPunct="0">
              <a:lnSpc>
                <a:spcPct val="129000"/>
              </a:lnSpc>
              <a:spcBef>
                <a:spcPct val="0"/>
              </a:spcBef>
              <a:spcAft>
                <a:spcPts val="0"/>
              </a:spcAft>
              <a:buNone/>
            </a:pPr>
            <a:r>
              <a:rPr lang="zh-CN" altLang="en-US" sz="2800" b="0" i="0" u="none" strike="noStrike" kern="1200" cap="none" spc="0" baseline="0">
                <a:solidFill>
                  <a:srgbClr val="EAB908"/>
                </a:solidFill>
                <a:latin typeface="Microsoft YaHei" charset="0"/>
                <a:ea typeface="Microsoft YaHei" charset="0"/>
                <a:cs typeface="Microsoft YaHei" charset="0"/>
                <a:sym typeface="Microsoft YaHei" charset="0"/>
              </a:rPr>
              <a:t>内生安全架构</a:t>
            </a:r>
          </a:p>
        </p:txBody>
      </p:sp>
      <p:sp>
        <p:nvSpPr>
          <p:cNvPr id="258" name="Rectangles"/>
          <p:cNvSpPr>
            <a:spLocks/>
          </p:cNvSpPr>
          <p:nvPr/>
        </p:nvSpPr>
        <p:spPr>
          <a:xfrm>
            <a:off x="1094545" y="2485217"/>
            <a:ext cx="3107335" cy="3367722"/>
          </a:xfrm>
          <a:prstGeom prst="rect">
            <a:avLst/>
          </a:prstGeom>
          <a:noFill/>
          <a:ln w="12700" cap="flat" cmpd="sng">
            <a:noFill/>
            <a:prstDash val="solid"/>
            <a:round/>
          </a:ln>
        </p:spPr>
        <p:txBody>
          <a:bodyPr vert="horz" wrap="square" lIns="0" tIns="45720" rIns="0" bIns="45720" anchor="t" anchorCtr="0">
            <a:prstTxWarp prst="textNoShape">
              <a:avLst/>
            </a:prstTxWarp>
          </a:bodyPr>
          <a:lstStyle/>
          <a:p>
            <a:pPr marL="0" indent="0" algn="l" defTabSz="913638" eaLnBrk="0" latinLnBrk="0" hangingPunct="0">
              <a:lnSpc>
                <a:spcPct val="120000"/>
              </a:lnSpc>
              <a:spcBef>
                <a:spcPts val="0"/>
              </a:spcBef>
              <a:spcAft>
                <a:spcPts val="0"/>
              </a:spcAft>
              <a:buNone/>
            </a:pPr>
            <a:r>
              <a:rPr lang="zh-CN" altLang="en-US" sz="1800" b="0" i="0" u="none" strike="noStrike" kern="1200" cap="none" spc="0" baseline="0">
                <a:solidFill>
                  <a:schemeClr val="tx1"/>
                </a:solidFill>
                <a:latin typeface="Microsoft YaHei" charset="0"/>
                <a:ea typeface="Microsoft YaHei" charset="0"/>
                <a:cs typeface="Microsoft YaHei" charset="0"/>
              </a:rPr>
              <a:t>身份标识：PUF为每个异构执行体提供不可伪造的硬件身份，防止身份伪造和重放攻击。</a:t>
            </a:r>
            <a:endParaRPr lang="en-US" altLang="zh-CN" sz="1800" b="0" i="0" u="none" strike="noStrike" kern="1200" cap="none" spc="0" baseline="0">
              <a:solidFill>
                <a:schemeClr val="tx1"/>
              </a:solidFill>
              <a:latin typeface="Microsoft YaHei" charset="0"/>
              <a:ea typeface="Microsoft YaHei" charset="0"/>
              <a:cs typeface="Microsoft YaHei" charset="0"/>
            </a:endParaRPr>
          </a:p>
          <a:p>
            <a:pPr marL="0" indent="0" algn="l" defTabSz="913638" eaLnBrk="0" latinLnBrk="0" hangingPunct="0">
              <a:lnSpc>
                <a:spcPct val="120000"/>
              </a:lnSpc>
              <a:spcBef>
                <a:spcPts val="0"/>
              </a:spcBef>
              <a:spcAft>
                <a:spcPts val="0"/>
              </a:spcAft>
              <a:buNone/>
            </a:pPr>
            <a:r>
              <a:rPr lang="zh-CN" altLang="en-US" sz="1800" b="0" i="0" u="none" strike="noStrike" kern="1200" cap="none" spc="0" baseline="0">
                <a:solidFill>
                  <a:schemeClr val="tx1"/>
                </a:solidFill>
                <a:latin typeface="Microsoft YaHei" charset="0"/>
                <a:ea typeface="Microsoft YaHei" charset="0"/>
                <a:cs typeface="Microsoft YaHei" charset="0"/>
              </a:rPr>
              <a:t>随机熵源：PUF的物理噪声可为裁决器和调度器提供高质量的真随机数，用于动态轮换和挑战更新。</a:t>
            </a:r>
            <a:endParaRPr lang="en-US" altLang="zh-CN" sz="1800" b="0" i="0" u="none" strike="noStrike" kern="1200" cap="none" spc="0" baseline="0">
              <a:solidFill>
                <a:schemeClr val="tx1"/>
              </a:solidFill>
              <a:latin typeface="Microsoft YaHei" charset="0"/>
              <a:ea typeface="Microsoft YaHei" charset="0"/>
              <a:cs typeface="Microsoft YaHei" charset="0"/>
            </a:endParaRPr>
          </a:p>
          <a:p>
            <a:pPr marL="0" indent="0" algn="l" defTabSz="913638" eaLnBrk="0" latinLnBrk="0" hangingPunct="0">
              <a:lnSpc>
                <a:spcPct val="120000"/>
              </a:lnSpc>
              <a:spcBef>
                <a:spcPts val="0"/>
              </a:spcBef>
              <a:spcAft>
                <a:spcPts val="0"/>
              </a:spcAft>
              <a:buNone/>
            </a:pPr>
            <a:r>
              <a:rPr lang="zh-CN" altLang="en-US" sz="1800" b="0" i="0" u="none" strike="noStrike" kern="1200" cap="none" spc="0" baseline="0">
                <a:solidFill>
                  <a:schemeClr val="tx1"/>
                </a:solidFill>
                <a:latin typeface="Microsoft YaHei" charset="0"/>
                <a:ea typeface="Microsoft YaHei" charset="0"/>
                <a:cs typeface="Microsoft YaHei" charset="0"/>
              </a:rPr>
              <a:t>密钥保护：PUF可直接派生密钥而非存储密钥，降低攻击者窃取敏感数据的风险。</a:t>
            </a:r>
          </a:p>
        </p:txBody>
      </p:sp>
      <p:sp>
        <p:nvSpPr>
          <p:cNvPr id="259" name="Rectangles"/>
          <p:cNvSpPr>
            <a:spLocks/>
          </p:cNvSpPr>
          <p:nvPr/>
        </p:nvSpPr>
        <p:spPr>
          <a:xfrm>
            <a:off x="5959921" y="6314914"/>
            <a:ext cx="5443057" cy="400110"/>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0" algn="l">
              <a:lnSpc>
                <a:spcPct val="100000"/>
              </a:lnSpc>
              <a:spcBef>
                <a:spcPts val="0"/>
              </a:spcBef>
              <a:spcAft>
                <a:spcPts val="0"/>
              </a:spcAft>
              <a:buNone/>
            </a:pPr>
            <a:r>
              <a:rPr lang="zh-CN" altLang="en-US" sz="2000" b="0" i="0" u="none" strike="noStrike" kern="1200" cap="none" spc="0" baseline="0">
                <a:solidFill>
                  <a:schemeClr val="accent5"/>
                </a:solidFill>
                <a:latin typeface="Microsoft YaHei" charset="0"/>
                <a:ea typeface="Microsoft YaHei" charset="0"/>
                <a:cs typeface="Microsoft YaHei" charset="0"/>
              </a:rPr>
              <a:t>声明：以上结论仅为个人观点，未经科学验证</a:t>
            </a:r>
          </a:p>
        </p:txBody>
      </p:sp>
    </p:spTree>
    <p:extLst>
      <p:ext uri="{BB962C8B-B14F-4D97-AF65-F5344CB8AC3E}">
        <p14:creationId xmlns:p14="http://schemas.microsoft.com/office/powerpoint/2010/main" val="14186226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4" name="Rounded rectangle"/>
          <p:cNvSpPr>
            <a:spLocks/>
          </p:cNvSpPr>
          <p:nvPr/>
        </p:nvSpPr>
        <p:spPr>
          <a:xfrm>
            <a:off x="6603900" y="1968501"/>
            <a:ext cx="4608212" cy="4252416"/>
          </a:xfrm>
          <a:prstGeom prst="roundRect">
            <a:avLst>
              <a:gd name="adj" fmla="val 1435"/>
            </a:avLst>
          </a:prstGeom>
          <a:solidFill>
            <a:schemeClr val="bg1"/>
          </a:solidFill>
          <a:ln w="6350" cap="flat" cmpd="sng">
            <a:solidFill>
              <a:srgbClr val="EAB908"/>
            </a:solidFill>
            <a:prstDash val="solid"/>
            <a:round/>
          </a:ln>
          <a:effectLst>
            <a:outerShdw blurRad="127000" algn="ctr" rotWithShape="0">
              <a:srgbClr val="000000">
                <a:alpha val="19607"/>
              </a:srgbClr>
            </a:outerShdw>
          </a:effectLst>
        </p:spPr>
      </p:sp>
      <p:sp>
        <p:nvSpPr>
          <p:cNvPr id="265" name="Rounded rectangle"/>
          <p:cNvSpPr>
            <a:spLocks/>
          </p:cNvSpPr>
          <p:nvPr/>
        </p:nvSpPr>
        <p:spPr>
          <a:xfrm>
            <a:off x="980667" y="1968500"/>
            <a:ext cx="4608213" cy="4252417"/>
          </a:xfrm>
          <a:prstGeom prst="roundRect">
            <a:avLst>
              <a:gd name="adj" fmla="val 1435"/>
            </a:avLst>
          </a:prstGeom>
          <a:solidFill>
            <a:schemeClr val="bg1"/>
          </a:solidFill>
          <a:ln w="6350" cap="flat" cmpd="sng">
            <a:solidFill>
              <a:srgbClr val="505122"/>
            </a:solidFill>
            <a:prstDash val="solid"/>
            <a:round/>
          </a:ln>
          <a:effectLst>
            <a:outerShdw blurRad="127000" algn="ctr" rotWithShape="0">
              <a:srgbClr val="000000">
                <a:alpha val="19607"/>
              </a:srgbClr>
            </a:outerShdw>
          </a:effectLst>
        </p:spPr>
      </p:sp>
      <p:sp>
        <p:nvSpPr>
          <p:cNvPr id="266"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现实挑战</a:t>
            </a:r>
          </a:p>
        </p:txBody>
      </p:sp>
      <p:sp>
        <p:nvSpPr>
          <p:cNvPr id="267"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13</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grpSp>
        <p:nvGrpSpPr>
          <p:cNvPr id="271" name="Combination"/>
          <p:cNvGrpSpPr>
            <a:grpSpLocks/>
          </p:cNvGrpSpPr>
          <p:nvPr/>
        </p:nvGrpSpPr>
        <p:grpSpPr>
          <a:xfrm>
            <a:off x="6548912" y="3160768"/>
            <a:ext cx="153180" cy="1816048"/>
            <a:chOff x="6548912" y="3160768"/>
            <a:chExt cx="153180" cy="1816048"/>
          </a:xfrm>
        </p:grpSpPr>
        <p:sp>
          <p:nvSpPr>
            <p:cNvPr id="268" name="Oval"/>
            <p:cNvSpPr>
              <a:spLocks/>
            </p:cNvSpPr>
            <p:nvPr/>
          </p:nvSpPr>
          <p:spPr>
            <a:xfrm>
              <a:off x="6548912" y="3160768"/>
              <a:ext cx="153180" cy="153181"/>
            </a:xfrm>
            <a:prstGeom prst="ellipse">
              <a:avLst/>
            </a:prstGeom>
            <a:solidFill>
              <a:schemeClr val="bg1"/>
            </a:solidFill>
            <a:ln w="38100" cap="flat" cmpd="sng">
              <a:solidFill>
                <a:srgbClr val="EAB908"/>
              </a:solidFill>
              <a:prstDash val="solid"/>
              <a:round/>
            </a:ln>
          </p:spPr>
        </p:sp>
        <p:sp>
          <p:nvSpPr>
            <p:cNvPr id="269" name="Oval"/>
            <p:cNvSpPr>
              <a:spLocks/>
            </p:cNvSpPr>
            <p:nvPr/>
          </p:nvSpPr>
          <p:spPr>
            <a:xfrm>
              <a:off x="6548912" y="3992200"/>
              <a:ext cx="153180" cy="153181"/>
            </a:xfrm>
            <a:prstGeom prst="ellipse">
              <a:avLst/>
            </a:prstGeom>
            <a:solidFill>
              <a:schemeClr val="bg1"/>
            </a:solidFill>
            <a:ln w="38100" cap="flat" cmpd="sng">
              <a:solidFill>
                <a:srgbClr val="EAB908"/>
              </a:solidFill>
              <a:prstDash val="solid"/>
              <a:round/>
            </a:ln>
          </p:spPr>
        </p:sp>
        <p:sp>
          <p:nvSpPr>
            <p:cNvPr id="270" name="Oval"/>
            <p:cNvSpPr>
              <a:spLocks/>
            </p:cNvSpPr>
            <p:nvPr/>
          </p:nvSpPr>
          <p:spPr>
            <a:xfrm>
              <a:off x="6548912" y="4823635"/>
              <a:ext cx="153180" cy="153181"/>
            </a:xfrm>
            <a:prstGeom prst="ellipse">
              <a:avLst/>
            </a:prstGeom>
            <a:solidFill>
              <a:schemeClr val="bg1"/>
            </a:solidFill>
            <a:ln w="38100" cap="flat" cmpd="sng">
              <a:solidFill>
                <a:srgbClr val="EAB908"/>
              </a:solidFill>
              <a:prstDash val="solid"/>
              <a:round/>
            </a:ln>
          </p:spPr>
        </p:sp>
      </p:grpSp>
      <p:sp>
        <p:nvSpPr>
          <p:cNvPr id="272" name="Rounded rectangle"/>
          <p:cNvSpPr>
            <a:spLocks/>
          </p:cNvSpPr>
          <p:nvPr/>
        </p:nvSpPr>
        <p:spPr>
          <a:xfrm>
            <a:off x="7709836" y="2284408"/>
            <a:ext cx="2405360" cy="552034"/>
          </a:xfrm>
          <a:prstGeom prst="roundRect">
            <a:avLst>
              <a:gd name="adj" fmla="val 50000"/>
            </a:avLst>
          </a:prstGeom>
          <a:solidFill>
            <a:srgbClr val="EAB908"/>
          </a:solidFill>
          <a:ln w="12700" cap="flat" cmpd="sng">
            <a:noFill/>
            <a:prstDash val="solid"/>
            <a:round/>
          </a:ln>
        </p:spPr>
      </p:sp>
      <p:grpSp>
        <p:nvGrpSpPr>
          <p:cNvPr id="276" name="Combination"/>
          <p:cNvGrpSpPr>
            <a:grpSpLocks/>
          </p:cNvGrpSpPr>
          <p:nvPr/>
        </p:nvGrpSpPr>
        <p:grpSpPr>
          <a:xfrm>
            <a:off x="5537542" y="3164397"/>
            <a:ext cx="153180" cy="1816047"/>
            <a:chOff x="5537542" y="3164397"/>
            <a:chExt cx="153180" cy="1816047"/>
          </a:xfrm>
        </p:grpSpPr>
        <p:sp>
          <p:nvSpPr>
            <p:cNvPr id="273" name="Oval"/>
            <p:cNvSpPr>
              <a:spLocks/>
            </p:cNvSpPr>
            <p:nvPr/>
          </p:nvSpPr>
          <p:spPr>
            <a:xfrm>
              <a:off x="5537542" y="3164397"/>
              <a:ext cx="153180" cy="153181"/>
            </a:xfrm>
            <a:prstGeom prst="ellipse">
              <a:avLst/>
            </a:prstGeom>
            <a:solidFill>
              <a:schemeClr val="bg1"/>
            </a:solidFill>
            <a:ln w="38100" cap="flat" cmpd="sng">
              <a:solidFill>
                <a:srgbClr val="505122"/>
              </a:solidFill>
              <a:prstDash val="solid"/>
              <a:round/>
            </a:ln>
          </p:spPr>
        </p:sp>
        <p:sp>
          <p:nvSpPr>
            <p:cNvPr id="274" name="Oval"/>
            <p:cNvSpPr>
              <a:spLocks/>
            </p:cNvSpPr>
            <p:nvPr/>
          </p:nvSpPr>
          <p:spPr>
            <a:xfrm>
              <a:off x="5537542" y="3995830"/>
              <a:ext cx="153180" cy="153181"/>
            </a:xfrm>
            <a:prstGeom prst="ellipse">
              <a:avLst/>
            </a:prstGeom>
            <a:solidFill>
              <a:schemeClr val="bg1"/>
            </a:solidFill>
            <a:ln w="38100" cap="flat" cmpd="sng">
              <a:solidFill>
                <a:srgbClr val="505122"/>
              </a:solidFill>
              <a:prstDash val="solid"/>
              <a:round/>
            </a:ln>
          </p:spPr>
        </p:sp>
        <p:sp>
          <p:nvSpPr>
            <p:cNvPr id="275" name="Oval"/>
            <p:cNvSpPr>
              <a:spLocks/>
            </p:cNvSpPr>
            <p:nvPr/>
          </p:nvSpPr>
          <p:spPr>
            <a:xfrm>
              <a:off x="5537542" y="4827264"/>
              <a:ext cx="153180" cy="153181"/>
            </a:xfrm>
            <a:prstGeom prst="ellipse">
              <a:avLst/>
            </a:prstGeom>
            <a:solidFill>
              <a:schemeClr val="bg1"/>
            </a:solidFill>
            <a:ln w="38100" cap="flat" cmpd="sng">
              <a:solidFill>
                <a:srgbClr val="505122"/>
              </a:solidFill>
              <a:prstDash val="solid"/>
              <a:round/>
            </a:ln>
          </p:spPr>
        </p:sp>
      </p:grpSp>
      <p:sp>
        <p:nvSpPr>
          <p:cNvPr id="277" name="Rounded rectangle"/>
          <p:cNvSpPr>
            <a:spLocks/>
          </p:cNvSpPr>
          <p:nvPr/>
        </p:nvSpPr>
        <p:spPr>
          <a:xfrm>
            <a:off x="2076804" y="2281980"/>
            <a:ext cx="2415940" cy="552035"/>
          </a:xfrm>
          <a:prstGeom prst="roundRect">
            <a:avLst>
              <a:gd name="adj" fmla="val 50000"/>
            </a:avLst>
          </a:prstGeom>
          <a:solidFill>
            <a:schemeClr val="accent1"/>
          </a:solidFill>
          <a:ln w="12700" cap="flat" cmpd="sng">
            <a:noFill/>
            <a:prstDash val="solid"/>
            <a:round/>
          </a:ln>
        </p:spPr>
      </p:sp>
      <p:sp>
        <p:nvSpPr>
          <p:cNvPr id="278" name="曲线"/>
          <p:cNvSpPr>
            <a:spLocks/>
          </p:cNvSpPr>
          <p:nvPr/>
        </p:nvSpPr>
        <p:spPr>
          <a:xfrm>
            <a:off x="5419347" y="3154426"/>
            <a:ext cx="1356189" cy="497175"/>
          </a:xfrm>
          <a:custGeom>
            <a:avLst/>
            <a:gdLst>
              <a:gd name="T1" fmla="*/ 0 w 21600"/>
              <a:gd name="T2" fmla="*/ 0 h 21600"/>
              <a:gd name="T3" fmla="*/ 21600 w 21600"/>
              <a:gd name="T4" fmla="*/ 21600 h 21600"/>
            </a:gdLst>
            <a:ahLst/>
            <a:cxnLst/>
            <a:rect l="T1" t="T2" r="T3" b="T4"/>
            <a:pathLst>
              <a:path w="21600" h="21600">
                <a:moveTo>
                  <a:pt x="0" y="12799"/>
                </a:moveTo>
                <a:cubicBezTo>
                  <a:pt x="1949" y="4944"/>
                  <a:pt x="6298" y="0"/>
                  <a:pt x="11023" y="266"/>
                </a:cubicBezTo>
                <a:cubicBezTo>
                  <a:pt x="15749" y="533"/>
                  <a:pt x="19921" y="5960"/>
                  <a:pt x="21600" y="14021"/>
                </a:cubicBezTo>
              </a:path>
              <a:path w="21600" h="21600">
                <a:moveTo>
                  <a:pt x="0" y="12799"/>
                </a:moveTo>
                <a:cubicBezTo>
                  <a:pt x="1949" y="4944"/>
                  <a:pt x="6298" y="0"/>
                  <a:pt x="11023" y="266"/>
                </a:cubicBezTo>
                <a:cubicBezTo>
                  <a:pt x="15749" y="533"/>
                  <a:pt x="19921" y="5960"/>
                  <a:pt x="21600" y="14021"/>
                </a:cubicBezTo>
                <a:lnTo>
                  <a:pt x="10661" y="21600"/>
                </a:lnTo>
                <a:close/>
              </a:path>
            </a:pathLst>
          </a:custGeom>
          <a:noFill/>
          <a:ln w="25400" cap="flat" cmpd="sng">
            <a:solidFill>
              <a:srgbClr val="808080"/>
            </a:solidFill>
            <a:prstDash val="solid"/>
            <a:round/>
          </a:ln>
        </p:spPr>
      </p:sp>
      <p:sp>
        <p:nvSpPr>
          <p:cNvPr id="279" name="曲线"/>
          <p:cNvSpPr>
            <a:spLocks/>
          </p:cNvSpPr>
          <p:nvPr/>
        </p:nvSpPr>
        <p:spPr>
          <a:xfrm>
            <a:off x="5419347" y="3998377"/>
            <a:ext cx="1356189" cy="497174"/>
          </a:xfrm>
          <a:custGeom>
            <a:avLst/>
            <a:gdLst>
              <a:gd name="T1" fmla="*/ 0 w 21600"/>
              <a:gd name="T2" fmla="*/ 0 h 21600"/>
              <a:gd name="T3" fmla="*/ 21600 w 21600"/>
              <a:gd name="T4" fmla="*/ 21600 h 21600"/>
            </a:gdLst>
            <a:ahLst/>
            <a:cxnLst/>
            <a:rect l="T1" t="T2" r="T3" b="T4"/>
            <a:pathLst>
              <a:path w="21600" h="21600">
                <a:moveTo>
                  <a:pt x="0" y="12799"/>
                </a:moveTo>
                <a:cubicBezTo>
                  <a:pt x="1949" y="4944"/>
                  <a:pt x="6298" y="0"/>
                  <a:pt x="11023" y="266"/>
                </a:cubicBezTo>
                <a:cubicBezTo>
                  <a:pt x="15749" y="533"/>
                  <a:pt x="19921" y="5960"/>
                  <a:pt x="21600" y="14021"/>
                </a:cubicBezTo>
              </a:path>
              <a:path w="21600" h="21600">
                <a:moveTo>
                  <a:pt x="0" y="12799"/>
                </a:moveTo>
                <a:cubicBezTo>
                  <a:pt x="1949" y="4944"/>
                  <a:pt x="6298" y="0"/>
                  <a:pt x="11023" y="266"/>
                </a:cubicBezTo>
                <a:cubicBezTo>
                  <a:pt x="15749" y="533"/>
                  <a:pt x="19921" y="5960"/>
                  <a:pt x="21600" y="14021"/>
                </a:cubicBezTo>
                <a:lnTo>
                  <a:pt x="10661" y="21600"/>
                </a:lnTo>
                <a:close/>
              </a:path>
            </a:pathLst>
          </a:custGeom>
          <a:noFill/>
          <a:ln w="25400" cap="flat" cmpd="sng">
            <a:solidFill>
              <a:srgbClr val="808080"/>
            </a:solidFill>
            <a:prstDash val="solid"/>
            <a:round/>
          </a:ln>
        </p:spPr>
      </p:sp>
      <p:sp>
        <p:nvSpPr>
          <p:cNvPr id="280" name="曲线"/>
          <p:cNvSpPr>
            <a:spLocks/>
          </p:cNvSpPr>
          <p:nvPr/>
        </p:nvSpPr>
        <p:spPr>
          <a:xfrm>
            <a:off x="5419347" y="4825934"/>
            <a:ext cx="1356189" cy="497175"/>
          </a:xfrm>
          <a:custGeom>
            <a:avLst/>
            <a:gdLst>
              <a:gd name="T1" fmla="*/ 0 w 21600"/>
              <a:gd name="T2" fmla="*/ 0 h 21600"/>
              <a:gd name="T3" fmla="*/ 21600 w 21600"/>
              <a:gd name="T4" fmla="*/ 21600 h 21600"/>
            </a:gdLst>
            <a:ahLst/>
            <a:cxnLst/>
            <a:rect l="T1" t="T2" r="T3" b="T4"/>
            <a:pathLst>
              <a:path w="21600" h="21600">
                <a:moveTo>
                  <a:pt x="0" y="12799"/>
                </a:moveTo>
                <a:cubicBezTo>
                  <a:pt x="1949" y="4944"/>
                  <a:pt x="6298" y="0"/>
                  <a:pt x="11023" y="266"/>
                </a:cubicBezTo>
                <a:cubicBezTo>
                  <a:pt x="15749" y="533"/>
                  <a:pt x="19921" y="5960"/>
                  <a:pt x="21600" y="14021"/>
                </a:cubicBezTo>
              </a:path>
              <a:path w="21600" h="21600">
                <a:moveTo>
                  <a:pt x="0" y="12799"/>
                </a:moveTo>
                <a:cubicBezTo>
                  <a:pt x="1949" y="4944"/>
                  <a:pt x="6298" y="0"/>
                  <a:pt x="11023" y="266"/>
                </a:cubicBezTo>
                <a:cubicBezTo>
                  <a:pt x="15749" y="533"/>
                  <a:pt x="19921" y="5960"/>
                  <a:pt x="21600" y="14021"/>
                </a:cubicBezTo>
                <a:lnTo>
                  <a:pt x="10661" y="21600"/>
                </a:lnTo>
                <a:close/>
              </a:path>
            </a:pathLst>
          </a:custGeom>
          <a:noFill/>
          <a:ln w="25400" cap="flat" cmpd="sng">
            <a:solidFill>
              <a:srgbClr val="808080"/>
            </a:solidFill>
            <a:prstDash val="solid"/>
            <a:round/>
          </a:ln>
        </p:spPr>
      </p:sp>
      <p:sp>
        <p:nvSpPr>
          <p:cNvPr id="281" name="Rectangles"/>
          <p:cNvSpPr>
            <a:spLocks/>
          </p:cNvSpPr>
          <p:nvPr/>
        </p:nvSpPr>
        <p:spPr>
          <a:xfrm>
            <a:off x="1091255" y="3237359"/>
            <a:ext cx="4390316" cy="1891175"/>
          </a:xfrm>
          <a:prstGeom prst="rect">
            <a:avLst/>
          </a:prstGeom>
          <a:noFill/>
          <a:ln w="12700" cap="flat" cmpd="sng">
            <a:noFill/>
            <a:prstDash val="solid"/>
            <a:round/>
          </a:ln>
        </p:spPr>
        <p:txBody>
          <a:bodyPr vert="horz" wrap="square" lIns="0" tIns="45720" rIns="0" bIns="45720" anchor="t" anchorCtr="0">
            <a:prstTxWarp prst="textNoShape">
              <a:avLst/>
            </a:prstTxWarp>
          </a:bodyPr>
          <a:lstStyle/>
          <a:p>
            <a:pPr marL="285750" indent="-285750" algn="l" defTabSz="913638" eaLnBrk="0" latinLnBrk="0" hangingPunct="0">
              <a:lnSpc>
                <a:spcPct val="150000"/>
              </a:lnSpc>
              <a:spcBef>
                <a:spcPts val="0"/>
              </a:spcBef>
              <a:spcAft>
                <a:spcPts val="0"/>
              </a:spcAft>
              <a:buFont typeface="Arial" pitchFamily="34" charset="0"/>
              <a:buChar char="•"/>
            </a:pPr>
            <a:r>
              <a:rPr lang="en-US" altLang="zh-CN" sz="1800" b="0" i="0" u="none" strike="noStrike" kern="1200" cap="none" spc="0" baseline="0">
                <a:solidFill>
                  <a:schemeClr val="tx1"/>
                </a:solidFill>
                <a:latin typeface="Microsoft YaHei" charset="0"/>
                <a:ea typeface="Microsoft YaHei" charset="0"/>
                <a:cs typeface="Microsoft YaHei" charset="0"/>
              </a:rPr>
              <a:t>PUF响应会因温度波动、电压噪声和老化而发生漂移。</a:t>
            </a:r>
          </a:p>
          <a:p>
            <a:pPr marL="285750" indent="-285750" algn="l" defTabSz="913638" eaLnBrk="0" latinLnBrk="0" hangingPunct="0">
              <a:lnSpc>
                <a:spcPct val="150000"/>
              </a:lnSpc>
              <a:spcBef>
                <a:spcPts val="0"/>
              </a:spcBef>
              <a:spcAft>
                <a:spcPts val="0"/>
              </a:spcAft>
              <a:buFont typeface="Arial" pitchFamily="34" charset="0"/>
              <a:buChar char="•"/>
            </a:pPr>
            <a:r>
              <a:rPr lang="zh-CN" altLang="en-US" sz="1800" b="0" i="0" u="none" strike="noStrike" kern="1200" cap="none" spc="0" baseline="0">
                <a:solidFill>
                  <a:schemeClr val="tx1"/>
                </a:solidFill>
                <a:latin typeface="Microsoft YaHei" charset="0"/>
                <a:ea typeface="Microsoft YaHei" charset="0"/>
                <a:cs typeface="Microsoft YaHei" charset="0"/>
              </a:rPr>
              <a:t>响应漂移可能导致DHR裁决器产生“假阳性”，误判正常执行体为异常。</a:t>
            </a:r>
            <a:endParaRPr lang="en-US" altLang="zh-CN" sz="1800" b="0" i="0" u="none" strike="noStrike" kern="1200" cap="none" spc="0" baseline="0">
              <a:solidFill>
                <a:schemeClr val="tx1"/>
              </a:solidFill>
              <a:latin typeface="Microsoft YaHei" charset="0"/>
              <a:ea typeface="Microsoft YaHei" charset="0"/>
              <a:cs typeface="Microsoft YaHei" charset="0"/>
            </a:endParaRPr>
          </a:p>
          <a:p>
            <a:pPr marL="0" indent="0" algn="l" defTabSz="913638" eaLnBrk="0" latinLnBrk="0" hangingPunct="0">
              <a:lnSpc>
                <a:spcPct val="150000"/>
              </a:lnSpc>
              <a:spcBef>
                <a:spcPct val="0"/>
              </a:spcBef>
              <a:spcAft>
                <a:spcPct val="0"/>
              </a:spcAft>
              <a:buNone/>
            </a:pPr>
            <a:endParaRPr lang="zh-CN" altLang="en-US" sz="2000" b="0" i="0" u="none" strike="noStrike" kern="1200" cap="none" spc="0" baseline="0">
              <a:solidFill>
                <a:srgbClr val="000000"/>
              </a:solidFill>
              <a:latin typeface="Microsoft YaHei" charset="0"/>
              <a:ea typeface="Microsoft YaHei" charset="0"/>
              <a:cs typeface="Microsoft YaHei" charset="0"/>
              <a:sym typeface="Microsoft YaHei" charset="0"/>
            </a:endParaRPr>
          </a:p>
        </p:txBody>
      </p:sp>
      <p:sp>
        <p:nvSpPr>
          <p:cNvPr id="282" name="Rectangles"/>
          <p:cNvSpPr>
            <a:spLocks/>
          </p:cNvSpPr>
          <p:nvPr/>
        </p:nvSpPr>
        <p:spPr>
          <a:xfrm>
            <a:off x="6829779" y="3225711"/>
            <a:ext cx="4254650" cy="1737993"/>
          </a:xfrm>
          <a:prstGeom prst="rect">
            <a:avLst/>
          </a:prstGeom>
          <a:noFill/>
          <a:ln w="12700" cap="flat" cmpd="sng">
            <a:noFill/>
            <a:prstDash val="solid"/>
            <a:round/>
          </a:ln>
        </p:spPr>
        <p:txBody>
          <a:bodyPr vert="horz" wrap="square" lIns="0" tIns="45720" rIns="0" bIns="45720" anchor="t" anchorCtr="0">
            <a:prstTxWarp prst="textNoShape">
              <a:avLst/>
            </a:prstTxWarp>
          </a:bodyPr>
          <a:lstStyle/>
          <a:p>
            <a:pPr marL="285750" indent="-285750" algn="l" defTabSz="913638" eaLnBrk="0" latinLnBrk="0" hangingPunct="0">
              <a:lnSpc>
                <a:spcPct val="150000"/>
              </a:lnSpc>
              <a:spcBef>
                <a:spcPts val="0"/>
              </a:spcBef>
              <a:spcAft>
                <a:spcPts val="0"/>
              </a:spcAft>
              <a:buFont typeface="Arial" pitchFamily="34" charset="0"/>
              <a:buChar char="•"/>
            </a:pPr>
            <a:r>
              <a:rPr lang="zh-CN" altLang="en-US" sz="1800" b="0" i="0" u="none" strike="noStrike" kern="1200" cap="none" spc="0" baseline="0">
                <a:solidFill>
                  <a:schemeClr val="tx1"/>
                </a:solidFill>
                <a:latin typeface="Microsoft YaHei" charset="0"/>
                <a:ea typeface="Microsoft YaHei" charset="0"/>
                <a:cs typeface="Microsoft YaHei" charset="0"/>
              </a:rPr>
              <a:t>若裁决器本身被攻陷，整个内生安全架构的安全根基将动摇。</a:t>
            </a:r>
            <a:endParaRPr lang="en-US" altLang="zh-CN" sz="1800" b="0" i="0" u="none" strike="noStrike" kern="1200" cap="none" spc="0" baseline="0">
              <a:solidFill>
                <a:schemeClr val="tx1"/>
              </a:solidFill>
              <a:latin typeface="Microsoft YaHei" charset="0"/>
              <a:ea typeface="Microsoft YaHei" charset="0"/>
              <a:cs typeface="Microsoft YaHei" charset="0"/>
            </a:endParaRPr>
          </a:p>
          <a:p>
            <a:pPr marL="285750" indent="-285750" algn="l" defTabSz="913638" eaLnBrk="0" latinLnBrk="0" hangingPunct="0">
              <a:lnSpc>
                <a:spcPct val="150000"/>
              </a:lnSpc>
              <a:spcBef>
                <a:spcPts val="0"/>
              </a:spcBef>
              <a:spcAft>
                <a:spcPts val="0"/>
              </a:spcAft>
              <a:buFont typeface="Arial" pitchFamily="34" charset="0"/>
              <a:buChar char="•"/>
            </a:pPr>
            <a:r>
              <a:rPr lang="zh-CN" altLang="en-US" sz="1800" b="0" i="0" u="none" strike="noStrike" kern="1200" cap="none" spc="0" baseline="0">
                <a:solidFill>
                  <a:schemeClr val="tx1"/>
                </a:solidFill>
                <a:latin typeface="Microsoft YaHei" charset="0"/>
                <a:ea typeface="Microsoft YaHei" charset="0"/>
                <a:cs typeface="Microsoft YaHei" charset="0"/>
              </a:rPr>
              <a:t>脉冲电磁故障注入可改变PUF响应输出，攻击者可能借此操纵裁决逻辑</a:t>
            </a:r>
          </a:p>
        </p:txBody>
      </p:sp>
      <p:sp>
        <p:nvSpPr>
          <p:cNvPr id="283" name="Rectangles"/>
          <p:cNvSpPr>
            <a:spLocks/>
          </p:cNvSpPr>
          <p:nvPr/>
        </p:nvSpPr>
        <p:spPr>
          <a:xfrm>
            <a:off x="2414860" y="2210360"/>
            <a:ext cx="1679149" cy="722100"/>
          </a:xfrm>
          <a:prstGeom prst="rect">
            <a:avLst/>
          </a:prstGeom>
          <a:noFill/>
          <a:ln w="12700" cap="flat" cmpd="sng">
            <a:noFill/>
            <a:prstDash val="solid"/>
            <a:miter/>
          </a:ln>
        </p:spPr>
        <p:txBody>
          <a:bodyPr vert="horz" wrap="square" lIns="91425" tIns="91425" rIns="91425" bIns="91425" anchor="ctr" anchorCtr="0">
            <a:prstTxWarp prst="textNoShape">
              <a:avLst/>
            </a:prstTxWarp>
          </a:bodyPr>
          <a:lstStyle/>
          <a:p>
            <a:pPr marL="0" indent="0" algn="l" eaLnBrk="0" latinLnBrk="0" hangingPunct="0">
              <a:lnSpc>
                <a:spcPct val="90000"/>
              </a:lnSpc>
              <a:spcBef>
                <a:spcPts val="0"/>
              </a:spcBef>
              <a:spcAft>
                <a:spcPts val="0"/>
              </a:spcAft>
              <a:buNone/>
            </a:pPr>
            <a:r>
              <a:rPr lang="zh-CN" altLang="en-US" sz="2800" b="0" i="0" u="none" strike="noStrike" kern="1200" cap="none" spc="0" baseline="0">
                <a:solidFill>
                  <a:schemeClr val="bg1"/>
                </a:solidFill>
                <a:latin typeface="Helvetica" pitchFamily="2" charset="0"/>
                <a:ea typeface="微软雅黑" pitchFamily="34" charset="-122"/>
                <a:cs typeface="Microsoft YaHei" charset="0"/>
              </a:rPr>
              <a:t>实现层面</a:t>
            </a:r>
          </a:p>
        </p:txBody>
      </p:sp>
      <p:sp>
        <p:nvSpPr>
          <p:cNvPr id="284" name="Rectangles"/>
          <p:cNvSpPr>
            <a:spLocks/>
          </p:cNvSpPr>
          <p:nvPr/>
        </p:nvSpPr>
        <p:spPr>
          <a:xfrm>
            <a:off x="8144932" y="2210360"/>
            <a:ext cx="1679147" cy="722100"/>
          </a:xfrm>
          <a:prstGeom prst="rect">
            <a:avLst/>
          </a:prstGeom>
          <a:noFill/>
          <a:ln w="12700" cap="flat" cmpd="sng">
            <a:noFill/>
            <a:prstDash val="solid"/>
            <a:miter/>
          </a:ln>
        </p:spPr>
        <p:txBody>
          <a:bodyPr vert="horz" wrap="square" lIns="91425" tIns="91425" rIns="91425" bIns="91425" anchor="ctr" anchorCtr="0">
            <a:prstTxWarp prst="textNoShape">
              <a:avLst/>
            </a:prstTxWarp>
          </a:bodyPr>
          <a:lstStyle/>
          <a:p>
            <a:pPr marL="0" indent="0" algn="l" eaLnBrk="0" latinLnBrk="0" hangingPunct="0">
              <a:lnSpc>
                <a:spcPct val="90000"/>
              </a:lnSpc>
              <a:spcBef>
                <a:spcPts val="0"/>
              </a:spcBef>
              <a:spcAft>
                <a:spcPts val="0"/>
              </a:spcAft>
              <a:buNone/>
            </a:pPr>
            <a:r>
              <a:rPr lang="zh-CN" altLang="en-US" sz="2800" b="0" i="0" u="none" strike="noStrike" kern="1200" cap="none" spc="0" baseline="0">
                <a:solidFill>
                  <a:schemeClr val="bg1"/>
                </a:solidFill>
                <a:latin typeface="Helvetica" pitchFamily="2" charset="0"/>
                <a:ea typeface="微软雅黑" pitchFamily="34" charset="-122"/>
                <a:cs typeface="Microsoft YaHei" charset="0"/>
              </a:rPr>
              <a:t>攻击层面</a:t>
            </a:r>
          </a:p>
        </p:txBody>
      </p:sp>
    </p:spTree>
    <p:extLst>
      <p:ext uri="{BB962C8B-B14F-4D97-AF65-F5344CB8AC3E}">
        <p14:creationId xmlns:p14="http://schemas.microsoft.com/office/powerpoint/2010/main" val="1584922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9" name="Text box"/>
          <p:cNvSpPr>
            <a:spLocks noGrp="1"/>
          </p:cNvSpPr>
          <p:nvPr>
            <p:ph type="title"/>
          </p:nvPr>
        </p:nvSpPr>
        <p:spPr>
          <a:xfrm>
            <a:off x="1091255" y="237834"/>
            <a:ext cx="8168208" cy="790865"/>
          </a:xfrm>
          <a:prstGeom prst="rect">
            <a:avLst/>
          </a:prstGeom>
          <a:noFill/>
          <a:ln w="12700" cap="flat" cmpd="sng">
            <a:noFill/>
            <a:prstDash val="solid"/>
            <a:miter/>
          </a:ln>
        </p:spPr>
        <p:txBody>
          <a:bodyPr vert="horz" wrap="square" lIns="0" tIns="0" rIns="0" bIns="0" anchor="ctr" anchorCtr="0">
            <a:prstTxWarp prst="textNoShape">
              <a:avLst/>
            </a:prstTxWarp>
          </a:bodyPr>
          <a:lstStyle/>
          <a:p>
            <a:pPr marL="0" indent="0" algn="l">
              <a:lnSpc>
                <a:spcPct val="90000"/>
              </a:lnSpc>
              <a:spcBef>
                <a:spcPct val="0"/>
              </a:spcBef>
              <a:spcAft>
                <a:spcPts val="0"/>
              </a:spcAft>
              <a:buNone/>
            </a:pPr>
            <a:r>
              <a:rPr lang="zh-CN" altLang="en-US" sz="3600" b="0" i="0" u="none" strike="noStrike" kern="1200" cap="none" spc="0" baseline="0">
                <a:solidFill>
                  <a:schemeClr val="accent1"/>
                </a:solidFill>
                <a:latin typeface="微软雅黑" pitchFamily="34" charset="-122"/>
                <a:ea typeface="微软雅黑" pitchFamily="34" charset="-122"/>
                <a:cs typeface="Lucida Sans" charset="0"/>
                <a:sym typeface="Microsoft YaHei" charset="0"/>
              </a:rPr>
              <a:t>总结</a:t>
            </a:r>
          </a:p>
        </p:txBody>
      </p:sp>
      <p:sp>
        <p:nvSpPr>
          <p:cNvPr id="290" name="Rectangles"/>
          <p:cNvSpPr>
            <a:spLocks noGrp="1"/>
          </p:cNvSpPr>
          <p:nvPr>
            <p:ph type="sldNum" idx="12"/>
          </p:nvPr>
        </p:nvSpPr>
        <p:spPr>
          <a:xfrm>
            <a:off x="8746825" y="6356349"/>
            <a:ext cx="2743200" cy="365125"/>
          </a:xfrm>
          <a:prstGeom prst="rect">
            <a:avLst/>
          </a:prstGeom>
          <a:noFill/>
          <a:ln w="12700" cap="flat" cmpd="sng">
            <a:noFill/>
            <a:prstDash val="solid"/>
            <a:miter/>
          </a:ln>
        </p:spPr>
        <p:txBody>
          <a:bodyPr vert="horz" wrap="square" lIns="91440" tIns="45720" rIns="91440" bIns="45720" anchor="ctr" anchorCtr="0">
            <a:prstTxWarp prst="textNoShape">
              <a:avLst/>
            </a:prstTxWarp>
          </a:bodyPr>
          <a:lstStyle/>
          <a:p>
            <a:pPr marL="0" indent="0" algn="r">
              <a:lnSpc>
                <a:spcPct val="100000"/>
              </a:lnSpc>
              <a:spcBef>
                <a:spcPts val="0"/>
              </a:spcBef>
              <a:spcAft>
                <a:spcPts val="0"/>
              </a:spcAft>
              <a:buNone/>
            </a:pPr>
            <a:fld id="{CAD2D6BD-DE1B-4B5F-8B41-2702339687B9}" type="slidenum">
              <a:rPr lang="en-US" altLang="zh-CN" sz="1200" b="0" i="0" u="none" strike="noStrike" kern="1200" cap="none" spc="0" baseline="0">
                <a:solidFill>
                  <a:schemeClr val="tx1"/>
                </a:solidFill>
                <a:latin typeface="Microsoft YaHei" charset="0"/>
                <a:ea typeface="Microsoft YaHei" charset="0"/>
                <a:cs typeface="Microsoft YaHei" charset="0"/>
                <a:sym typeface="Microsoft YaHei" charset="0"/>
              </a:rPr>
              <a:t>14</a:t>
            </a:fld>
            <a:endParaRPr lang="zh-CN" altLang="en-US" sz="1200" b="0" i="0" u="none" strike="noStrike" kern="1200" cap="none" spc="0" baseline="0">
              <a:solidFill>
                <a:schemeClr val="tx1"/>
              </a:solidFill>
              <a:latin typeface="Microsoft YaHei" charset="0"/>
              <a:ea typeface="Microsoft YaHei" charset="0"/>
              <a:cs typeface="Microsoft YaHei" charset="0"/>
              <a:sym typeface="Microsoft YaHei" charset="0"/>
            </a:endParaRPr>
          </a:p>
        </p:txBody>
      </p:sp>
      <p:sp>
        <p:nvSpPr>
          <p:cNvPr id="291" name="曲线"/>
          <p:cNvSpPr>
            <a:spLocks/>
          </p:cNvSpPr>
          <p:nvPr/>
        </p:nvSpPr>
        <p:spPr>
          <a:xfrm>
            <a:off x="5270035" y="2067890"/>
            <a:ext cx="311779" cy="324000"/>
          </a:xfrm>
          <a:custGeom>
            <a:avLst/>
            <a:gdLst>
              <a:gd name="T1" fmla="*/ 0 w 21600"/>
              <a:gd name="T2" fmla="*/ 0 h 21600"/>
              <a:gd name="T3" fmla="*/ 21600 w 21600"/>
              <a:gd name="T4" fmla="*/ 21600 h 21600"/>
            </a:gdLst>
            <a:ahLst/>
            <a:cxnLst/>
            <a:rect l="T1" t="T2" r="T3" b="T4"/>
            <a:pathLst>
              <a:path w="21600" h="21600">
                <a:moveTo>
                  <a:pt x="10818" y="0"/>
                </a:moveTo>
                <a:lnTo>
                  <a:pt x="10818" y="0"/>
                </a:lnTo>
                <a:cubicBezTo>
                  <a:pt x="4840" y="0"/>
                  <a:pt x="0" y="4651"/>
                  <a:pt x="0" y="10394"/>
                </a:cubicBezTo>
                <a:cubicBezTo>
                  <a:pt x="0" y="14023"/>
                  <a:pt x="1943" y="17300"/>
                  <a:pt x="5097" y="19203"/>
                </a:cubicBezTo>
                <a:lnTo>
                  <a:pt x="4583" y="20119"/>
                </a:lnTo>
                <a:cubicBezTo>
                  <a:pt x="4399" y="20436"/>
                  <a:pt x="4399" y="20824"/>
                  <a:pt x="4583" y="21105"/>
                </a:cubicBezTo>
                <a:cubicBezTo>
                  <a:pt x="4767" y="21422"/>
                  <a:pt x="5097" y="21600"/>
                  <a:pt x="5464" y="21600"/>
                </a:cubicBezTo>
                <a:lnTo>
                  <a:pt x="14044" y="21600"/>
                </a:lnTo>
                <a:cubicBezTo>
                  <a:pt x="14412" y="21600"/>
                  <a:pt x="14778" y="21422"/>
                  <a:pt x="14962" y="21105"/>
                </a:cubicBezTo>
                <a:lnTo>
                  <a:pt x="15842" y="19556"/>
                </a:lnTo>
                <a:cubicBezTo>
                  <a:pt x="16941" y="19026"/>
                  <a:pt x="17895" y="18286"/>
                  <a:pt x="18739" y="17405"/>
                </a:cubicBezTo>
                <a:cubicBezTo>
                  <a:pt x="18921" y="17230"/>
                  <a:pt x="19032" y="16983"/>
                  <a:pt x="19032" y="16736"/>
                </a:cubicBezTo>
                <a:lnTo>
                  <a:pt x="19032" y="13636"/>
                </a:lnTo>
                <a:lnTo>
                  <a:pt x="20278" y="13636"/>
                </a:lnTo>
                <a:cubicBezTo>
                  <a:pt x="20756" y="13636"/>
                  <a:pt x="21195" y="13319"/>
                  <a:pt x="21306" y="12860"/>
                </a:cubicBezTo>
                <a:cubicBezTo>
                  <a:pt x="21526" y="12050"/>
                  <a:pt x="21600" y="11204"/>
                  <a:pt x="21600" y="10394"/>
                </a:cubicBezTo>
                <a:cubicBezTo>
                  <a:pt x="21600" y="4651"/>
                  <a:pt x="16759" y="0"/>
                  <a:pt x="10818" y="0"/>
                </a:cubicBezTo>
              </a:path>
              <a:path w="21600" h="21600">
                <a:moveTo>
                  <a:pt x="15365" y="10006"/>
                </a:moveTo>
                <a:lnTo>
                  <a:pt x="13934" y="10006"/>
                </a:lnTo>
                <a:cubicBezTo>
                  <a:pt x="13752" y="10923"/>
                  <a:pt x="13275" y="11733"/>
                  <a:pt x="12541" y="12296"/>
                </a:cubicBezTo>
                <a:lnTo>
                  <a:pt x="12541" y="12648"/>
                </a:lnTo>
                <a:cubicBezTo>
                  <a:pt x="12541" y="13177"/>
                  <a:pt x="12247" y="13636"/>
                  <a:pt x="11844" y="13883"/>
                </a:cubicBezTo>
                <a:lnTo>
                  <a:pt x="11844" y="15292"/>
                </a:lnTo>
                <a:cubicBezTo>
                  <a:pt x="11844" y="15715"/>
                  <a:pt x="11478" y="16032"/>
                  <a:pt x="11075" y="16032"/>
                </a:cubicBezTo>
                <a:lnTo>
                  <a:pt x="8581" y="16032"/>
                </a:lnTo>
                <a:cubicBezTo>
                  <a:pt x="8176" y="16032"/>
                  <a:pt x="7811" y="15715"/>
                  <a:pt x="7811" y="15292"/>
                </a:cubicBezTo>
                <a:lnTo>
                  <a:pt x="7811" y="13883"/>
                </a:lnTo>
                <a:cubicBezTo>
                  <a:pt x="7407" y="13636"/>
                  <a:pt x="7113" y="13177"/>
                  <a:pt x="7113" y="12648"/>
                </a:cubicBezTo>
                <a:lnTo>
                  <a:pt x="7113" y="12296"/>
                </a:lnTo>
                <a:cubicBezTo>
                  <a:pt x="6380" y="11733"/>
                  <a:pt x="5903" y="10923"/>
                  <a:pt x="5720" y="10006"/>
                </a:cubicBezTo>
                <a:lnTo>
                  <a:pt x="4290" y="10006"/>
                </a:lnTo>
                <a:cubicBezTo>
                  <a:pt x="3887" y="10006"/>
                  <a:pt x="3519" y="9689"/>
                  <a:pt x="3519" y="9266"/>
                </a:cubicBezTo>
                <a:cubicBezTo>
                  <a:pt x="3519" y="8879"/>
                  <a:pt x="3887" y="8527"/>
                  <a:pt x="4290" y="8527"/>
                </a:cubicBezTo>
                <a:lnTo>
                  <a:pt x="5720" y="8527"/>
                </a:lnTo>
                <a:cubicBezTo>
                  <a:pt x="5829" y="7962"/>
                  <a:pt x="6087" y="7470"/>
                  <a:pt x="6380" y="7012"/>
                </a:cubicBezTo>
                <a:lnTo>
                  <a:pt x="5389" y="6024"/>
                </a:lnTo>
                <a:cubicBezTo>
                  <a:pt x="5097" y="5743"/>
                  <a:pt x="5097" y="5285"/>
                  <a:pt x="5389" y="5003"/>
                </a:cubicBezTo>
                <a:cubicBezTo>
                  <a:pt x="5684" y="4720"/>
                  <a:pt x="6159" y="4720"/>
                  <a:pt x="6453" y="5003"/>
                </a:cubicBezTo>
                <a:lnTo>
                  <a:pt x="7480" y="5989"/>
                </a:lnTo>
                <a:cubicBezTo>
                  <a:pt x="7957" y="5672"/>
                  <a:pt x="8471" y="5460"/>
                  <a:pt x="9057" y="5354"/>
                </a:cubicBezTo>
                <a:lnTo>
                  <a:pt x="9057" y="3945"/>
                </a:lnTo>
                <a:cubicBezTo>
                  <a:pt x="9057" y="3558"/>
                  <a:pt x="9424" y="3241"/>
                  <a:pt x="9828" y="3241"/>
                </a:cubicBezTo>
                <a:cubicBezTo>
                  <a:pt x="10267" y="3241"/>
                  <a:pt x="10598" y="3558"/>
                  <a:pt x="10598" y="3945"/>
                </a:cubicBezTo>
                <a:lnTo>
                  <a:pt x="10598" y="5354"/>
                </a:lnTo>
                <a:cubicBezTo>
                  <a:pt x="11184" y="5460"/>
                  <a:pt x="11697" y="5672"/>
                  <a:pt x="12174" y="5989"/>
                </a:cubicBezTo>
                <a:lnTo>
                  <a:pt x="13202" y="5003"/>
                </a:lnTo>
                <a:cubicBezTo>
                  <a:pt x="13495" y="4720"/>
                  <a:pt x="13972" y="4720"/>
                  <a:pt x="14264" y="5003"/>
                </a:cubicBezTo>
                <a:cubicBezTo>
                  <a:pt x="14594" y="5285"/>
                  <a:pt x="14594" y="5743"/>
                  <a:pt x="14264" y="6024"/>
                </a:cubicBezTo>
                <a:lnTo>
                  <a:pt x="13275" y="7012"/>
                </a:lnTo>
                <a:cubicBezTo>
                  <a:pt x="13605" y="7470"/>
                  <a:pt x="13824" y="7962"/>
                  <a:pt x="13934" y="8527"/>
                </a:cubicBezTo>
                <a:lnTo>
                  <a:pt x="15365" y="8527"/>
                </a:lnTo>
                <a:cubicBezTo>
                  <a:pt x="15769" y="8527"/>
                  <a:pt x="16135" y="8879"/>
                  <a:pt x="16135" y="9266"/>
                </a:cubicBezTo>
                <a:cubicBezTo>
                  <a:pt x="16135" y="9689"/>
                  <a:pt x="15769" y="10006"/>
                  <a:pt x="15365" y="10006"/>
                </a:cubicBezTo>
              </a:path>
              <a:path w="21600" h="21600">
                <a:moveTo>
                  <a:pt x="12468" y="9266"/>
                </a:moveTo>
                <a:cubicBezTo>
                  <a:pt x="12468" y="10252"/>
                  <a:pt x="11881" y="11133"/>
                  <a:pt x="11038" y="11521"/>
                </a:cubicBezTo>
                <a:lnTo>
                  <a:pt x="11038" y="12648"/>
                </a:lnTo>
                <a:lnTo>
                  <a:pt x="8618" y="12648"/>
                </a:lnTo>
                <a:lnTo>
                  <a:pt x="8618" y="11521"/>
                </a:lnTo>
                <a:cubicBezTo>
                  <a:pt x="7773" y="11133"/>
                  <a:pt x="7187" y="10252"/>
                  <a:pt x="7187" y="9266"/>
                </a:cubicBezTo>
                <a:cubicBezTo>
                  <a:pt x="7187" y="7892"/>
                  <a:pt x="8361" y="6730"/>
                  <a:pt x="9828" y="6730"/>
                </a:cubicBezTo>
                <a:cubicBezTo>
                  <a:pt x="11294" y="6730"/>
                  <a:pt x="12468" y="7892"/>
                  <a:pt x="12468" y="9266"/>
                </a:cubicBezTo>
                <a:close/>
              </a:path>
            </a:pathLst>
          </a:custGeom>
          <a:solidFill>
            <a:schemeClr val="bg1"/>
          </a:solidFill>
          <a:ln cap="flat" cmpd="sng">
            <a:noFill/>
            <a:prstDash val="solid"/>
            <a:round/>
          </a:ln>
        </p:spPr>
      </p:sp>
      <p:sp>
        <p:nvSpPr>
          <p:cNvPr id="292" name="Rectangles"/>
          <p:cNvSpPr>
            <a:spLocks/>
          </p:cNvSpPr>
          <p:nvPr/>
        </p:nvSpPr>
        <p:spPr>
          <a:xfrm>
            <a:off x="1418120" y="1739002"/>
            <a:ext cx="9355755" cy="2807948"/>
          </a:xfrm>
          <a:prstGeom prst="rect">
            <a:avLst/>
          </a:prstGeom>
          <a:noFill/>
          <a:ln w="12700" cap="flat" cmpd="sng">
            <a:noFill/>
            <a:prstDash val="solid"/>
            <a:miter/>
          </a:ln>
        </p:spPr>
        <p:txBody>
          <a:bodyPr vert="horz" wrap="square" lIns="91440" tIns="45720" rIns="91440" bIns="45720" anchor="t" anchorCtr="0">
            <a:prstTxWarp prst="textNoShape">
              <a:avLst/>
            </a:prstTxWarp>
            <a:spAutoFit/>
          </a:bodyPr>
          <a:lstStyle/>
          <a:p>
            <a:pPr marL="0" indent="266700" algn="l">
              <a:lnSpc>
                <a:spcPct val="150000"/>
              </a:lnSpc>
              <a:spcBef>
                <a:spcPts val="0"/>
              </a:spcBef>
              <a:spcAft>
                <a:spcPts val="0"/>
              </a:spcAft>
              <a:buNone/>
            </a:pPr>
            <a:r>
              <a:rPr lang="en-US" altLang="zh-CN" sz="2000" b="0" i="0" u="none" strike="noStrike" kern="100" cap="none" spc="0" baseline="0">
                <a:solidFill>
                  <a:schemeClr val="tx1"/>
                </a:solidFill>
                <a:latin typeface="Microsoft YaHei" charset="0"/>
                <a:ea typeface="Microsoft YaHei" charset="0"/>
                <a:cs typeface="Times New Roman" pitchFamily="18" charset="0"/>
              </a:rPr>
              <a:t>PUF</a:t>
            </a:r>
            <a:r>
              <a:rPr lang="zh-CN" altLang="en-US" sz="2000" b="0" i="0" u="none" strike="noStrike" kern="100" cap="none" spc="0" baseline="0">
                <a:solidFill>
                  <a:schemeClr val="tx1"/>
                </a:solidFill>
                <a:latin typeface="Microsoft YaHei" charset="0"/>
                <a:ea typeface="Microsoft YaHei" charset="0"/>
                <a:cs typeface="Times New Roman" pitchFamily="18" charset="0"/>
              </a:rPr>
              <a:t>以其不可克隆、不可预测和物理绑定性，具备成为内生安全芯片硬件信任锚点的潜力；内生安全的</a:t>
            </a:r>
            <a:r>
              <a:rPr lang="en-US" altLang="zh-CN" sz="2000" b="0" i="0" u="none" strike="noStrike" kern="100" cap="none" spc="0" baseline="0">
                <a:solidFill>
                  <a:schemeClr val="tx1"/>
                </a:solidFill>
                <a:latin typeface="Microsoft YaHei" charset="0"/>
                <a:ea typeface="Microsoft YaHei" charset="0"/>
                <a:cs typeface="Times New Roman" pitchFamily="18" charset="0"/>
              </a:rPr>
              <a:t>DHR</a:t>
            </a:r>
            <a:r>
              <a:rPr lang="zh-CN" altLang="en-US" sz="2000" b="0" i="0" u="none" strike="noStrike" kern="100" cap="none" spc="0" baseline="0">
                <a:solidFill>
                  <a:schemeClr val="tx1"/>
                </a:solidFill>
                <a:latin typeface="Microsoft YaHei" charset="0"/>
                <a:ea typeface="Microsoft YaHei" charset="0"/>
                <a:cs typeface="Times New Roman" pitchFamily="18" charset="0"/>
              </a:rPr>
              <a:t>架构则为</a:t>
            </a:r>
            <a:r>
              <a:rPr lang="en-US" altLang="zh-CN" sz="2000" b="0" i="0" u="none" strike="noStrike" kern="100" cap="none" spc="0" baseline="0">
                <a:solidFill>
                  <a:schemeClr val="tx1"/>
                </a:solidFill>
                <a:latin typeface="Microsoft YaHei" charset="0"/>
                <a:ea typeface="Microsoft YaHei" charset="0"/>
                <a:cs typeface="Times New Roman" pitchFamily="18" charset="0"/>
              </a:rPr>
              <a:t>PUF</a:t>
            </a:r>
            <a:r>
              <a:rPr lang="zh-CN" altLang="en-US" sz="2000" b="0" i="0" u="none" strike="noStrike" kern="100" cap="none" spc="0" baseline="0">
                <a:solidFill>
                  <a:schemeClr val="tx1"/>
                </a:solidFill>
                <a:latin typeface="Microsoft YaHei" charset="0"/>
                <a:ea typeface="Microsoft YaHei" charset="0"/>
                <a:cs typeface="Times New Roman" pitchFamily="18" charset="0"/>
              </a:rPr>
              <a:t>的安全困境提供了新的解决思路</a:t>
            </a:r>
            <a:r>
              <a:rPr lang="en-US" altLang="zh-CN" sz="2000" b="0" i="0" u="none" strike="noStrike" kern="100" cap="none" spc="0" baseline="0">
                <a:solidFill>
                  <a:schemeClr val="tx1"/>
                </a:solidFill>
                <a:latin typeface="Microsoft YaHei" charset="0"/>
                <a:ea typeface="Microsoft YaHei" charset="0"/>
                <a:cs typeface="Times New Roman" pitchFamily="18" charset="0"/>
              </a:rPr>
              <a:t>——</a:t>
            </a:r>
            <a:r>
              <a:rPr lang="zh-CN" altLang="en-US" sz="2000" b="0" i="0" u="none" strike="noStrike" kern="100" cap="none" spc="0" baseline="0">
                <a:solidFill>
                  <a:schemeClr val="tx1"/>
                </a:solidFill>
                <a:latin typeface="Microsoft YaHei" charset="0"/>
                <a:ea typeface="Microsoft YaHei" charset="0"/>
                <a:cs typeface="Times New Roman" pitchFamily="18" charset="0"/>
              </a:rPr>
              <a:t>尽管</a:t>
            </a:r>
            <a:r>
              <a:rPr lang="en-US" altLang="zh-CN" sz="2000" b="0" i="0" u="none" strike="noStrike" kern="100" cap="none" spc="0" baseline="0">
                <a:solidFill>
                  <a:schemeClr val="tx1"/>
                </a:solidFill>
                <a:latin typeface="Microsoft YaHei" charset="0"/>
                <a:ea typeface="Microsoft YaHei" charset="0"/>
                <a:cs typeface="Times New Roman" pitchFamily="18" charset="0"/>
              </a:rPr>
              <a:t>DHR</a:t>
            </a:r>
            <a:r>
              <a:rPr lang="zh-CN" altLang="en-US" sz="2000" b="0" i="0" u="none" strike="noStrike" kern="100" cap="none" spc="0" baseline="0">
                <a:solidFill>
                  <a:schemeClr val="tx1"/>
                </a:solidFill>
                <a:latin typeface="Microsoft YaHei" charset="0"/>
                <a:ea typeface="Microsoft YaHei" charset="0"/>
                <a:cs typeface="Times New Roman" pitchFamily="18" charset="0"/>
              </a:rPr>
              <a:t>能否防御</a:t>
            </a:r>
            <a:r>
              <a:rPr lang="en-US" altLang="zh-CN" sz="2000" b="0" i="0" u="none" strike="noStrike" kern="100" cap="none" spc="0" baseline="0">
                <a:solidFill>
                  <a:schemeClr val="tx1"/>
                </a:solidFill>
                <a:latin typeface="Microsoft YaHei" charset="0"/>
                <a:ea typeface="Microsoft YaHei" charset="0"/>
                <a:cs typeface="Times New Roman" pitchFamily="18" charset="0"/>
              </a:rPr>
              <a:t>PUF</a:t>
            </a:r>
            <a:r>
              <a:rPr lang="zh-CN" altLang="en-US" sz="2000" b="0" i="0" u="none" strike="noStrike" kern="100" cap="none" spc="0" baseline="0">
                <a:solidFill>
                  <a:schemeClr val="tx1"/>
                </a:solidFill>
                <a:latin typeface="Microsoft YaHei" charset="0"/>
                <a:ea typeface="Microsoft YaHei" charset="0"/>
                <a:cs typeface="Times New Roman" pitchFamily="18" charset="0"/>
              </a:rPr>
              <a:t>建模攻击仍有待验证，但多异构组合和裁决机制在理论上构成有效补充。</a:t>
            </a:r>
            <a:endParaRPr lang="en-US" altLang="zh-CN" sz="2000" b="0" i="0" u="none" strike="noStrike" kern="100" cap="none" spc="0" baseline="0">
              <a:solidFill>
                <a:schemeClr val="tx1"/>
              </a:solidFill>
              <a:latin typeface="Microsoft YaHei" charset="0"/>
              <a:ea typeface="Microsoft YaHei" charset="0"/>
              <a:cs typeface="Times New Roman" pitchFamily="18" charset="0"/>
            </a:endParaRPr>
          </a:p>
          <a:p>
            <a:pPr marL="0" indent="266700" algn="l">
              <a:lnSpc>
                <a:spcPct val="150000"/>
              </a:lnSpc>
              <a:spcBef>
                <a:spcPts val="0"/>
              </a:spcBef>
              <a:spcAft>
                <a:spcPts val="0"/>
              </a:spcAft>
              <a:buNone/>
            </a:pPr>
            <a:r>
              <a:rPr lang="zh-CN" altLang="en-US" sz="2000" b="0" i="0" u="none" strike="noStrike" kern="100" cap="none" spc="0" baseline="0">
                <a:solidFill>
                  <a:schemeClr val="tx1"/>
                </a:solidFill>
                <a:latin typeface="Microsoft YaHei" charset="0"/>
                <a:ea typeface="Microsoft YaHei" charset="0"/>
                <a:cs typeface="Times New Roman" pitchFamily="18" charset="0"/>
              </a:rPr>
              <a:t>如果两者在芯片领域协作，也许能带来更为深刻的变化：安全不再是一个可以事后添加的功能模块，而是从最底层的物理结构就开始生长的一种内在属性。</a:t>
            </a:r>
            <a:endParaRPr lang="zh-CN" altLang="en-US" sz="1400" b="0" i="0" u="none" strike="noStrike" kern="100" cap="none" spc="0" baseline="0">
              <a:solidFill>
                <a:schemeClr val="tx1"/>
              </a:solidFill>
              <a:latin typeface="Microsoft YaHei" charset="0"/>
              <a:ea typeface="Microsoft YaHei" charset="0"/>
              <a:cs typeface="Times New Roman" pitchFamily="18" charset="0"/>
            </a:endParaRPr>
          </a:p>
        </p:txBody>
      </p:sp>
    </p:spTree>
    <p:extLst>
      <p:ext uri="{BB962C8B-B14F-4D97-AF65-F5344CB8AC3E}">
        <p14:creationId xmlns:p14="http://schemas.microsoft.com/office/powerpoint/2010/main" val="435719563"/>
      </p:ext>
    </p:extLst>
  </p:cSld>
  <p:clrMapOvr>
    <a:masterClrMapping/>
  </p:clrMapOvr>
</p:sld>
</file>

<file path=ppt/theme/theme1.xml><?xml version="1.0" encoding="utf-8"?>
<a:theme xmlns:a="http://schemas.openxmlformats.org/drawingml/2006/main" name="Office 主题​​">
  <a:themeElements>
    <a:clrScheme name="Office 主题​​">
      <a:dk1>
        <a:srgbClr val="000000"/>
      </a:dk1>
      <a:lt1>
        <a:srgbClr val="FFFFFF"/>
      </a:lt1>
      <a:dk2>
        <a:srgbClr val="44546A"/>
      </a:dk2>
      <a:lt2>
        <a:srgbClr val="E7E6E6"/>
      </a:lt2>
      <a:accent1>
        <a:srgbClr val="505122"/>
      </a:accent1>
      <a:accent2>
        <a:srgbClr val="FDCA04"/>
      </a:accent2>
      <a:accent3>
        <a:srgbClr val="00529D"/>
      </a:accent3>
      <a:accent4>
        <a:srgbClr val="B01417"/>
      </a:accent4>
      <a:accent5>
        <a:srgbClr val="7F7611"/>
      </a:accent5>
      <a:accent6>
        <a:srgbClr val="5D6B70"/>
      </a:accent6>
      <a:hlink>
        <a:srgbClr val="868A8C"/>
      </a:hlink>
      <a:folHlink>
        <a:srgbClr val="C2C6C8"/>
      </a:folHlink>
    </a:clrScheme>
    <a:fontScheme name="Office 主题​​">
      <a:majorFont>
        <a:latin typeface=""/>
        <a:ea typeface=""/>
        <a:cs typeface=""/>
      </a:majorFont>
      <a:minorFont>
        <a:latin typeface=""/>
        <a:ea typeface=""/>
        <a:cs typeface=""/>
      </a:minorFont>
    </a:fontScheme>
    <a:fmtScheme name="Office 主题​​">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2.xml><?xml version="1.0" encoding="utf-8"?>
<a:theme xmlns:a="http://schemas.openxmlformats.org/drawingml/2006/main" name="1_OfficePLUS">
  <a:themeElements>
    <a:clrScheme name="1_OfficePLUS">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1_OfficePLUS">
      <a:majorFont>
        <a:latin typeface=""/>
        <a:ea typeface=""/>
        <a:cs typeface=""/>
      </a:majorFont>
      <a:minorFont>
        <a:latin typeface=""/>
        <a:ea typeface=""/>
        <a:cs typeface=""/>
      </a:minorFont>
    </a:fontScheme>
    <a:fmtScheme name="1_OfficePLUS">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ppt/theme/theme3.xml><?xml version="1.0" encoding="utf-8"?>
<a:theme xmlns:a="http://schemas.openxmlformats.org/drawingml/2006/main" name="notesMaster1">
  <a:themeElements>
    <a:clrScheme name="notesMaster1">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Normal.eit</Template>
  <TotalTime>1</TotalTime>
  <Words>1710</Words>
  <Application>Microsoft Office PowerPoint</Application>
  <PresentationFormat>宽屏</PresentationFormat>
  <Paragraphs>168</Paragraphs>
  <Slides>14</Slides>
  <Notes>14</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14</vt:i4>
      </vt:variant>
    </vt:vector>
  </HeadingPairs>
  <TitlesOfParts>
    <vt:vector size="27" baseType="lpstr">
      <vt:lpstr>Droid Sans</vt:lpstr>
      <vt:lpstr>Noto Sans SC</vt:lpstr>
      <vt:lpstr>等线</vt:lpstr>
      <vt:lpstr>等线 Light</vt:lpstr>
      <vt:lpstr>宋体</vt:lpstr>
      <vt:lpstr>Microsoft YaHei</vt:lpstr>
      <vt:lpstr>Microsoft YaHei</vt:lpstr>
      <vt:lpstr>Arial</vt:lpstr>
      <vt:lpstr>Century Gothic</vt:lpstr>
      <vt:lpstr>Helvetica</vt:lpstr>
      <vt:lpstr>Montserrat</vt:lpstr>
      <vt:lpstr>Office 主题​​</vt:lpstr>
      <vt:lpstr>1_OfficePLUS</vt:lpstr>
      <vt:lpstr>PowerPoint 演示文稿</vt:lpstr>
      <vt:lpstr>PUF的基本思想</vt:lpstr>
      <vt:lpstr>PUF的工作原理</vt:lpstr>
      <vt:lpstr>第一部分：可重构PUF</vt:lpstr>
      <vt:lpstr>可重构PUF的技术路线</vt:lpstr>
      <vt:lpstr>可重构PUF的问题</vt:lpstr>
      <vt:lpstr>可重构PUF的未来发展趋势</vt:lpstr>
      <vt:lpstr>PUF的核心安全属性</vt:lpstr>
      <vt:lpstr>动态冗余异构DHR</vt:lpstr>
      <vt:lpstr>ESC0830：全球首款异构多核拟态MCU芯片</vt:lpstr>
      <vt:lpstr>PUF的“内生属性”</vt:lpstr>
      <vt:lpstr>PUF与内生安全的双向协同可能性</vt:lpstr>
      <vt:lpstr>现实挑战</vt:lpstr>
      <vt:lpstr>总结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zizhuo wang</cp:lastModifiedBy>
  <cp:revision>1</cp:revision>
  <dcterms:created xsi:type="dcterms:W3CDTF">2026-06-09T08:47:36Z</dcterms:created>
  <dcterms:modified xsi:type="dcterms:W3CDTF">2026-06-09T01:50:33Z</dcterms:modified>
</cp:coreProperties>
</file>